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15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9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73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17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7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7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8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6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7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0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4F1A-A9CD-4DD7-85E7-3871BE27C49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843FE-F7C2-4ECD-BD07-6735CCDC7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3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karol-w-b95b45174/" TargetMode="External"/><Relationship Id="rId2" Type="http://schemas.openxmlformats.org/officeDocument/2006/relationships/hyperlink" Target="mailto:engineer.wka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engineerwka-creator/Docu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icutech.pl/wp-content/uploads/2025/04/testowanie_produktow_elektronicznych-1024x585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885" y="871137"/>
            <a:ext cx="9753600" cy="507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rostokąt 3"/>
          <p:cNvSpPr/>
          <p:nvPr/>
        </p:nvSpPr>
        <p:spPr>
          <a:xfrm>
            <a:off x="1066800" y="262278"/>
            <a:ext cx="9801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i="0" dirty="0" smtClean="0">
                <a:solidFill>
                  <a:srgbClr val="1A4277"/>
                </a:solidFill>
                <a:effectLst/>
                <a:latin typeface="Plus Jakarta Sans"/>
              </a:rPr>
              <a:t>Testowanie produktów elektronicznych i oprogramowania: metody, normy i technologie</a:t>
            </a:r>
            <a:endParaRPr lang="pl-PL" b="1" i="0" dirty="0">
              <a:solidFill>
                <a:srgbClr val="1A4277"/>
              </a:solidFill>
              <a:effectLst/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81474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2356338"/>
            <a:ext cx="10515600" cy="38206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sz="1200" b="1" dirty="0" smtClean="0"/>
              <a:t>Cele </a:t>
            </a:r>
            <a:r>
              <a:rPr lang="pl-PL" sz="1200" b="1" dirty="0"/>
              <a:t>i </a:t>
            </a:r>
            <a:r>
              <a:rPr lang="pl-PL" sz="1200" b="1" dirty="0" smtClean="0"/>
              <a:t>Etapy </a:t>
            </a:r>
            <a:r>
              <a:rPr lang="pl-PL" sz="1200" b="1" dirty="0"/>
              <a:t>testowania produktów </a:t>
            </a:r>
            <a:r>
              <a:rPr lang="pl-PL" sz="1200" b="1" dirty="0" smtClean="0"/>
              <a:t>elektronicznych.</a:t>
            </a:r>
          </a:p>
          <a:p>
            <a:pPr marL="0" indent="0">
              <a:buNone/>
            </a:pPr>
            <a:r>
              <a:rPr lang="pl-PL" sz="1200" b="1" dirty="0" smtClean="0"/>
              <a:t>Celem testowania jest wykrycie jak największej ilości usterek, na jak najwcześniejszym etapie w warunkach maksymalnie zbliżonych do rzeczywistych.</a:t>
            </a:r>
          </a:p>
          <a:p>
            <a:pPr fontAlgn="base"/>
            <a:r>
              <a:rPr lang="pl-PL" sz="1200" b="1" dirty="0"/>
              <a:t>Testy jednostkowe</a:t>
            </a:r>
            <a:r>
              <a:rPr lang="pl-PL" sz="1200" dirty="0"/>
              <a:t> – pozwalają wykryć błędy na poziomie pojedynczych komponentów, zanim trafią one do dalszego montażu.</a:t>
            </a:r>
          </a:p>
          <a:p>
            <a:pPr fontAlgn="base"/>
            <a:r>
              <a:rPr lang="pl-PL" sz="1200" b="1" dirty="0"/>
              <a:t>Testy funkcjonalne i automatyczne</a:t>
            </a:r>
            <a:r>
              <a:rPr lang="pl-PL" sz="1200" dirty="0"/>
              <a:t> – umożliwiają szybką i precyzyjną kontrolę działania całych modułów i systemów.</a:t>
            </a:r>
          </a:p>
          <a:p>
            <a:pPr fontAlgn="base"/>
            <a:r>
              <a:rPr lang="pl-PL" sz="1200" b="1" dirty="0"/>
              <a:t>Inspekcja optyczna</a:t>
            </a:r>
            <a:r>
              <a:rPr lang="pl-PL" sz="1200" dirty="0"/>
              <a:t> – z chirurgiczną precyzją ocenia jakość montażu i wykrywa nawet najmniejsze niedociągnięcia.</a:t>
            </a:r>
          </a:p>
          <a:p>
            <a:pPr marL="0" indent="0">
              <a:buNone/>
            </a:pPr>
            <a:r>
              <a:rPr lang="pl-PL" sz="1200" dirty="0"/>
              <a:t>Przykładowe </a:t>
            </a:r>
            <a:r>
              <a:rPr lang="pl-PL" sz="1200" dirty="0" smtClean="0"/>
              <a:t>testy:</a:t>
            </a:r>
            <a:endParaRPr lang="pl-PL" sz="1200" dirty="0"/>
          </a:p>
          <a:p>
            <a:pPr fontAlgn="base"/>
            <a:r>
              <a:rPr lang="pl-PL" sz="1200" b="1" dirty="0"/>
              <a:t>Testy cyklu termicznego</a:t>
            </a:r>
            <a:r>
              <a:rPr lang="pl-PL" sz="1200" dirty="0"/>
              <a:t> – sprawdzają odporność urządzenia na zmienne temperatury,</a:t>
            </a:r>
          </a:p>
          <a:p>
            <a:pPr fontAlgn="base"/>
            <a:r>
              <a:rPr lang="pl-PL" sz="1200" b="1" dirty="0"/>
              <a:t>Testy wibracyjne</a:t>
            </a:r>
            <a:r>
              <a:rPr lang="pl-PL" sz="1200" dirty="0"/>
              <a:t> – oceniają wytrzymałość na drgania i wstrząsy,</a:t>
            </a:r>
          </a:p>
          <a:p>
            <a:pPr fontAlgn="base"/>
            <a:r>
              <a:rPr lang="pl-PL" sz="1200" b="1" dirty="0"/>
              <a:t>Testy środowiskowe</a:t>
            </a:r>
            <a:r>
              <a:rPr lang="pl-PL" sz="1200" dirty="0"/>
              <a:t> – symulują ekstremalne warunki użytkowania,</a:t>
            </a:r>
          </a:p>
          <a:p>
            <a:pPr fontAlgn="base"/>
            <a:r>
              <a:rPr lang="pl-PL" sz="1200" b="1" dirty="0"/>
              <a:t>Testy długoterminowe</a:t>
            </a:r>
            <a:r>
              <a:rPr lang="pl-PL" sz="1200" dirty="0"/>
              <a:t> – badają trwałość komponentów w czasie.</a:t>
            </a:r>
          </a:p>
          <a:p>
            <a:pPr marL="0" indent="0">
              <a:buNone/>
            </a:pPr>
            <a:r>
              <a:rPr lang="pl-PL" sz="1300" dirty="0" smtClean="0"/>
              <a:t>Do </a:t>
            </a:r>
            <a:r>
              <a:rPr lang="pl-PL" sz="1300" dirty="0"/>
              <a:t>najczęściej stosowanych </a:t>
            </a:r>
            <a:r>
              <a:rPr lang="pl-PL" sz="1300" dirty="0" smtClean="0"/>
              <a:t>testów </a:t>
            </a:r>
            <a:r>
              <a:rPr lang="pl-PL" sz="1300" dirty="0"/>
              <a:t>należą:</a:t>
            </a:r>
          </a:p>
          <a:p>
            <a:pPr fontAlgn="base"/>
            <a:r>
              <a:rPr lang="pl-PL" sz="1300" b="1" dirty="0"/>
              <a:t>Testy jednostkowe</a:t>
            </a:r>
            <a:endParaRPr lang="pl-PL" sz="1300" dirty="0"/>
          </a:p>
          <a:p>
            <a:pPr fontAlgn="base"/>
            <a:r>
              <a:rPr lang="pl-PL" sz="1300" b="1" dirty="0"/>
              <a:t>Testy funkcjonalne</a:t>
            </a:r>
            <a:endParaRPr lang="pl-PL" sz="1300" dirty="0"/>
          </a:p>
          <a:p>
            <a:pPr fontAlgn="base"/>
            <a:r>
              <a:rPr lang="pl-PL" sz="1300" b="1" dirty="0"/>
              <a:t>Testy środowiskowe</a:t>
            </a:r>
            <a:endParaRPr lang="pl-PL" sz="1300" dirty="0"/>
          </a:p>
          <a:p>
            <a:pPr fontAlgn="base"/>
            <a:r>
              <a:rPr lang="pl-PL" sz="1300" b="1" dirty="0"/>
              <a:t>Testy automatyczne</a:t>
            </a:r>
            <a:endParaRPr lang="pl-PL" sz="1300" dirty="0"/>
          </a:p>
          <a:p>
            <a:pPr marL="0" indent="0">
              <a:buNone/>
            </a:pPr>
            <a:endParaRPr lang="pl-PL" sz="1200" b="1" dirty="0"/>
          </a:p>
        </p:txBody>
      </p:sp>
      <p:sp>
        <p:nvSpPr>
          <p:cNvPr id="4" name="pole tekstowe 3"/>
          <p:cNvSpPr txBox="1"/>
          <p:nvPr/>
        </p:nvSpPr>
        <p:spPr>
          <a:xfrm>
            <a:off x="838201" y="668215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i="1" dirty="0" smtClean="0"/>
              <a:t>Odpowiednio zaplanowane testy umożliwiają szybkie wykrycie nieprawidłowości, co przekłada się na:</a:t>
            </a:r>
            <a:br>
              <a:rPr lang="pl-PL" sz="1200" b="1" i="1" dirty="0" smtClean="0"/>
            </a:br>
            <a:r>
              <a:rPr lang="pl-PL" sz="1200" b="1" i="1" dirty="0" smtClean="0"/>
              <a:t/>
            </a:r>
            <a:br>
              <a:rPr lang="pl-PL" sz="1200" b="1" i="1" dirty="0" smtClean="0"/>
            </a:br>
            <a:r>
              <a:rPr lang="pl-PL" sz="1200" b="1" i="1" dirty="0" smtClean="0"/>
              <a:t>* zmniejszenie liczby reklamacji,</a:t>
            </a:r>
            <a:br>
              <a:rPr lang="pl-PL" sz="1200" b="1" i="1" dirty="0" smtClean="0"/>
            </a:br>
            <a:r>
              <a:rPr lang="pl-PL" sz="1200" b="1" i="1" dirty="0" smtClean="0"/>
              <a:t>* ograniczenie przestojów produkcyjnych,</a:t>
            </a:r>
            <a:br>
              <a:rPr lang="pl-PL" sz="1200" b="1" i="1" dirty="0" smtClean="0"/>
            </a:br>
            <a:r>
              <a:rPr lang="pl-PL" sz="1200" b="1" i="1" dirty="0" smtClean="0"/>
              <a:t>* zwiększenie efektywności procesów,</a:t>
            </a:r>
            <a:br>
              <a:rPr lang="pl-PL" sz="1200" b="1" i="1" dirty="0" smtClean="0"/>
            </a:br>
            <a:r>
              <a:rPr lang="pl-PL" sz="1200" b="1" i="1" dirty="0" smtClean="0"/>
              <a:t>* spokój i pewność po stronie naprawiającego.</a:t>
            </a: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b="1" i="1" dirty="0">
                <a:solidFill>
                  <a:schemeClr val="accent5">
                    <a:lumMod val="75000"/>
                  </a:schemeClr>
                </a:solidFill>
              </a:rPr>
              <a:t>T</a:t>
            </a:r>
            <a:r>
              <a:rPr lang="pl-PL" sz="1200" b="1" i="1" dirty="0" smtClean="0">
                <a:solidFill>
                  <a:schemeClr val="accent5">
                    <a:lumMod val="75000"/>
                  </a:schemeClr>
                </a:solidFill>
              </a:rPr>
              <a:t>estowanie staje się nie tylko formą zabezpieczenia, ale również fundamentem zaufania do marki. To nie koszt – to inwestycja, która przynosi długofalowe korzyści.</a:t>
            </a:r>
            <a:br>
              <a:rPr lang="pl-PL" sz="1200" b="1" i="1" dirty="0" smtClean="0">
                <a:solidFill>
                  <a:schemeClr val="accent5">
                    <a:lumMod val="75000"/>
                  </a:schemeClr>
                </a:solidFill>
              </a:rPr>
            </a:br>
            <a:endParaRPr lang="en-US" sz="1200" i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40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2"/>
          <p:cNvSpPr>
            <a:spLocks noGrp="1"/>
          </p:cNvSpPr>
          <p:nvPr>
            <p:ph idx="1"/>
          </p:nvPr>
        </p:nvSpPr>
        <p:spPr>
          <a:xfrm>
            <a:off x="838200" y="237393"/>
            <a:ext cx="10515600" cy="6312876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l-PL" sz="1200" b="1" dirty="0"/>
              <a:t>Testy </a:t>
            </a:r>
            <a:r>
              <a:rPr lang="pl-PL" sz="1200" b="1" dirty="0" smtClean="0"/>
              <a:t>jednostkowe</a:t>
            </a:r>
            <a:r>
              <a:rPr lang="pl-PL" sz="1200" dirty="0"/>
              <a:t> to pierwszy etap selekcji jakościowej. Pozwalają wykryć usterki w pojedynczych </a:t>
            </a:r>
            <a:r>
              <a:rPr lang="pl-PL" sz="1200" dirty="0" smtClean="0"/>
              <a:t>elementach.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1200" b="1" dirty="0"/>
              <a:t>Testy funkcjonalne (FCT)</a:t>
            </a:r>
            <a:r>
              <a:rPr lang="pl-PL" sz="1200" dirty="0"/>
              <a:t> sprawdzają, czy całe urządzenie działa zgodnie z założeniami projektowymi. Obejmują zarówno testy sprzętowe, jak i kontrolę oprogramowania</a:t>
            </a:r>
            <a:r>
              <a:rPr lang="pl-PL" sz="1200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1200" b="1" dirty="0"/>
              <a:t>Testy in-</a:t>
            </a:r>
            <a:r>
              <a:rPr lang="pl-PL" sz="1200" b="1" dirty="0" err="1"/>
              <a:t>circuit</a:t>
            </a:r>
            <a:r>
              <a:rPr lang="pl-PL" sz="1200" b="1" dirty="0"/>
              <a:t> (ICT)</a:t>
            </a:r>
            <a:r>
              <a:rPr lang="pl-PL" sz="1200" dirty="0"/>
              <a:t> umożliwiają sprawdzenie poprawności montażu i działania elementów na płytce PCB. Wychwytują m.in. zimne luty, zwarcia czy błędne wartości komponentów. Alternatywą dla ICT jest </a:t>
            </a:r>
            <a:r>
              <a:rPr lang="pl-PL" sz="1200" b="1" dirty="0" err="1"/>
              <a:t>FlyingProbe</a:t>
            </a:r>
            <a:r>
              <a:rPr lang="pl-PL" sz="1200" dirty="0"/>
              <a:t> — elastyczna i bardziej ekonomiczna metoda, szczególnie przy krótkich </a:t>
            </a:r>
            <a:r>
              <a:rPr lang="pl-PL" sz="1200" dirty="0" smtClean="0"/>
              <a:t>seriach.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1200" b="1" dirty="0" smtClean="0"/>
              <a:t>Testy automatyczne</a:t>
            </a:r>
            <a:r>
              <a:rPr lang="pl-PL" sz="1200" dirty="0" smtClean="0"/>
              <a:t> umożliwiają </a:t>
            </a:r>
            <a:r>
              <a:rPr lang="pl-PL" sz="1200" dirty="0"/>
              <a:t>łączenie testów funkcjonalnych z </a:t>
            </a:r>
            <a:r>
              <a:rPr lang="pl-PL" sz="1200" dirty="0" smtClean="0"/>
              <a:t>diagnostycznymi. Automatyzacja testów jest implementowana dla każdego urządzenia lub rodziny urządzeń i jest uruchamiana wielokrotnie bez obsługi operatora.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b="1" dirty="0"/>
              <a:t>Testy </a:t>
            </a:r>
            <a:r>
              <a:rPr lang="en-US" sz="1200" b="1" dirty="0" err="1" smtClean="0"/>
              <a:t>środowiskowe</a:t>
            </a:r>
            <a:r>
              <a:rPr lang="pl-PL" sz="1200" b="1" dirty="0" smtClean="0"/>
              <a:t> </a:t>
            </a:r>
            <a:r>
              <a:rPr lang="pl-PL" sz="1200" dirty="0"/>
              <a:t>sprawdzają, jak urządzenia radzą sobie w ekstremalnych warunkach, takich </a:t>
            </a:r>
            <a:r>
              <a:rPr lang="pl-PL" sz="1200" dirty="0" smtClean="0"/>
              <a:t>jak podwyższona Wilgotność, Skrajne temperatury, nadmierny Kurz (zabrudzenia). Tutaj możemy się również oprzeć na wskazanym przez producenta stopniu ochrony IP urządzenia w celach testowych. Testy można wykonywać w komorach klimatycznych.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b="1" dirty="0"/>
              <a:t>Testy </a:t>
            </a:r>
            <a:r>
              <a:rPr lang="en-US" sz="1200" b="1" dirty="0" err="1" smtClean="0"/>
              <a:t>wytrzymałościowe</a:t>
            </a:r>
            <a:r>
              <a:rPr lang="pl-PL" sz="1200" b="1" dirty="0" smtClean="0"/>
              <a:t> </a:t>
            </a:r>
            <a:r>
              <a:rPr lang="pl-PL" sz="1200" dirty="0"/>
              <a:t>oceniają, jak urządzenie znosi długotrwałe użytkowanie i zmienne </a:t>
            </a:r>
            <a:r>
              <a:rPr lang="pl-PL" sz="1200" dirty="0" smtClean="0"/>
              <a:t>warunki, </a:t>
            </a:r>
            <a:r>
              <a:rPr lang="pl-PL" sz="1200" dirty="0"/>
              <a:t>o</a:t>
            </a:r>
            <a:r>
              <a:rPr lang="pl-PL" sz="1200" dirty="0" smtClean="0"/>
              <a:t>bejmują: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sz="1200" b="1" dirty="0" smtClean="0"/>
              <a:t>Testy </a:t>
            </a:r>
            <a:r>
              <a:rPr lang="pl-PL" sz="1200" b="1" dirty="0"/>
              <a:t>wibracyjne</a:t>
            </a:r>
            <a:r>
              <a:rPr lang="pl-PL" sz="1200" dirty="0"/>
              <a:t> — symulują drgania, np. podczas transportu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l-PL" sz="1200" b="1" dirty="0"/>
              <a:t>Testy cyklu termicznego</a:t>
            </a:r>
            <a:r>
              <a:rPr lang="pl-PL" sz="1200" dirty="0"/>
              <a:t> — sprawdzają reakcję na gwałtowne zmiany temperatury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l-PL" sz="1200" b="1" dirty="0"/>
              <a:t>Przyspieszone testy żywotności</a:t>
            </a:r>
            <a:r>
              <a:rPr lang="pl-PL" sz="1200" dirty="0"/>
              <a:t> — pozwalają przewidzieć trwałość </a:t>
            </a:r>
            <a:r>
              <a:rPr lang="pl-PL" sz="1200" dirty="0" smtClean="0"/>
              <a:t>urządzenia</a:t>
            </a:r>
            <a:endParaRPr lang="pl-PL" sz="1200" dirty="0"/>
          </a:p>
          <a:p>
            <a:pPr fontAlgn="base">
              <a:buFont typeface="Wingdings" panose="05000000000000000000" pitchFamily="2" charset="2"/>
              <a:buChar char="v"/>
            </a:pPr>
            <a:r>
              <a:rPr lang="pl-PL" sz="1200" b="1" dirty="0"/>
              <a:t>Testy optyczne (AOI)</a:t>
            </a:r>
            <a:r>
              <a:rPr lang="pl-PL" sz="1200" dirty="0"/>
              <a:t> i </a:t>
            </a:r>
            <a:r>
              <a:rPr lang="pl-PL" sz="1200" b="1" dirty="0"/>
              <a:t>rentgenowskie (X-</a:t>
            </a:r>
            <a:r>
              <a:rPr lang="pl-PL" sz="1200" b="1" dirty="0" err="1"/>
              <a:t>ray</a:t>
            </a:r>
            <a:r>
              <a:rPr lang="pl-PL" sz="1200" b="1" dirty="0"/>
              <a:t>)</a:t>
            </a:r>
            <a:r>
              <a:rPr lang="pl-PL" sz="1200" dirty="0"/>
              <a:t> to zaawansowane techniki inspekcji, które wykrywają nawet najmniejsze defekty montażowe.</a:t>
            </a:r>
            <a:endParaRPr lang="pl-PL" sz="1200" b="1" dirty="0" smtClean="0"/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l-PL" sz="1200" b="1" dirty="0" smtClean="0"/>
              <a:t>AOI</a:t>
            </a:r>
            <a:r>
              <a:rPr lang="pl-PL" sz="1200" dirty="0"/>
              <a:t> — wykorzystuje kamery i algorytmy do identyfikacji błędów, takich jak przesunięcia komponentów czy zimne </a:t>
            </a:r>
            <a:r>
              <a:rPr lang="pl-PL" sz="1200" dirty="0" smtClean="0"/>
              <a:t>luty.</a:t>
            </a:r>
            <a:endParaRPr lang="pl-PL" sz="1200" dirty="0"/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pl-PL" sz="1200" b="1" dirty="0"/>
              <a:t>X-</a:t>
            </a:r>
            <a:r>
              <a:rPr lang="pl-PL" sz="1200" b="1" dirty="0" err="1"/>
              <a:t>ray</a:t>
            </a:r>
            <a:r>
              <a:rPr lang="pl-PL" sz="1200" dirty="0"/>
              <a:t> — umożliwia analizę ukrytych połączeń, np. pod obudowami </a:t>
            </a:r>
            <a:r>
              <a:rPr lang="pl-PL" sz="1200" dirty="0" smtClean="0"/>
              <a:t>BGA.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1200" b="1" dirty="0" smtClean="0"/>
              <a:t>Testy parametrów elektrycznych</a:t>
            </a:r>
            <a:r>
              <a:rPr lang="pl-PL" sz="1200" dirty="0" smtClean="0"/>
              <a:t> to precyzyjna analiza zgodności z wymaganiami\oczekiwaniami. Mierzymy podstawowe parametry jak Napięcia, Prądy, Rezystancje, Pojemności. (</a:t>
            </a:r>
            <a:r>
              <a:rPr lang="pl-PL" sz="1200" dirty="0"/>
              <a:t>Przykład: zbyt wysoka rezystancja może świadczyć o uszkodzeniu ścieżki na </a:t>
            </a:r>
            <a:r>
              <a:rPr lang="pl-PL" sz="1200" dirty="0" smtClean="0"/>
              <a:t>PCB).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200" b="1" dirty="0"/>
              <a:t>Testy </a:t>
            </a:r>
            <a:r>
              <a:rPr lang="en-US" sz="1200" b="1" dirty="0" err="1"/>
              <a:t>funkcjonalności</a:t>
            </a:r>
            <a:r>
              <a:rPr lang="en-US" sz="1200" b="1" dirty="0"/>
              <a:t> </a:t>
            </a:r>
            <a:r>
              <a:rPr lang="en-US" sz="1200" b="1" dirty="0" err="1"/>
              <a:t>oprogramowania</a:t>
            </a:r>
            <a:r>
              <a:rPr lang="en-US" sz="1200" b="1" dirty="0"/>
              <a:t> </a:t>
            </a:r>
            <a:r>
              <a:rPr lang="en-US" sz="1200" b="1" dirty="0" err="1" smtClean="0"/>
              <a:t>wbudowanego</a:t>
            </a:r>
            <a:r>
              <a:rPr lang="pl-PL" sz="1200" b="1" dirty="0"/>
              <a:t> </a:t>
            </a:r>
            <a:r>
              <a:rPr lang="pl-PL" sz="1200" dirty="0"/>
              <a:t> </a:t>
            </a:r>
            <a:r>
              <a:rPr lang="pl-PL" sz="1200" dirty="0" smtClean="0"/>
              <a:t>- Tutaj odsyłam do ISTQB, ponieważ to zależy </a:t>
            </a:r>
            <a:r>
              <a:rPr lang="pl-PL" sz="1200" dirty="0" smtClean="0">
                <a:sym typeface="Wingdings" panose="05000000000000000000" pitchFamily="2" charset="2"/>
              </a:rPr>
              <a:t>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 smtClean="0">
                <a:sym typeface="Wingdings" panose="05000000000000000000" pitchFamily="2" charset="2"/>
              </a:rPr>
              <a:t>Czarnoskrzynkowe (zewnętrzne) – testujemy funkcjonalność. Vs Białoskrzynkowe (wewnętrzne) – testujemy kod, logikę, architekturę oprogramowania.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 smtClean="0">
                <a:sym typeface="Wingdings" panose="05000000000000000000" pitchFamily="2" charset="2"/>
              </a:rPr>
              <a:t>Poziomu testów – jednostkowe, modułowe, systemowe, integracji modułów, integracji systemów lub akceptacyjne.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 smtClean="0">
                <a:sym typeface="Wingdings" panose="05000000000000000000" pitchFamily="2" charset="2"/>
              </a:rPr>
              <a:t>Typu testów – Funkcjonalne lub\i </a:t>
            </a:r>
            <a:r>
              <a:rPr lang="pl-PL" sz="1200" dirty="0">
                <a:sym typeface="Wingdings" panose="05000000000000000000" pitchFamily="2" charset="2"/>
              </a:rPr>
              <a:t>N</a:t>
            </a:r>
            <a:r>
              <a:rPr lang="pl-PL" sz="1200" dirty="0" smtClean="0">
                <a:sym typeface="Wingdings" panose="05000000000000000000" pitchFamily="2" charset="2"/>
              </a:rPr>
              <a:t>iefunkcjonalne.</a:t>
            </a:r>
          </a:p>
          <a:p>
            <a:pPr marL="457200" lvl="1" indent="0">
              <a:buNone/>
            </a:pPr>
            <a:r>
              <a:rPr lang="pl-PL" sz="1200" dirty="0" smtClean="0">
                <a:sym typeface="Wingdings" panose="05000000000000000000" pitchFamily="2" charset="2"/>
              </a:rPr>
              <a:t>Ważnymi czynnikami są również Pokrycie testów oraz Niezależność Testowania.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 smtClean="0">
                <a:sym typeface="Wingdings" panose="05000000000000000000" pitchFamily="2" charset="2"/>
              </a:rPr>
              <a:t>Pokrycie testów – Zależy od metody jaką wybraliśmy do testów i jest to wskaźnik mierzący jaki zakres testów został przeprowadzony. </a:t>
            </a:r>
            <a:r>
              <a:rPr lang="pl-PL" sz="1200" dirty="0">
                <a:sym typeface="Wingdings" panose="05000000000000000000" pitchFamily="2" charset="2"/>
              </a:rPr>
              <a:t>T</a:t>
            </a:r>
            <a:r>
              <a:rPr lang="pl-PL" sz="1200" dirty="0" smtClean="0">
                <a:sym typeface="Wingdings" panose="05000000000000000000" pitchFamily="2" charset="2"/>
              </a:rPr>
              <a:t>o bardzo ważny czynnik (nie gwarantuje jakości testów), lecz wpływa na strategię oraz może np. dać informację, że wybraliśmy złą metodę testów, ponieważ pokrycie jest zbyt niskie.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 smtClean="0">
                <a:sym typeface="Wingdings" panose="05000000000000000000" pitchFamily="2" charset="2"/>
              </a:rPr>
              <a:t>Niezależność Testowania - Zespół testujący powinien być wydzielony, czyli poza obszarem procesu produkcji lub naprawy urządzeń. Główną korzyścią wynikającą z niezależności testowania jest wykrycie innego rodzaju awarii, ze względu na różne doświadczenia techniczne, inny punkt widzenia oraz błędy poznawcze.</a:t>
            </a:r>
            <a:endParaRPr lang="pl-PL" sz="1200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pl-PL" sz="1200" b="1" dirty="0" smtClean="0">
                <a:sym typeface="Wingdings" panose="05000000000000000000" pitchFamily="2" charset="2"/>
              </a:rPr>
              <a:t>To oraz wiele innych elementów składa się na Strategię Testów.</a:t>
            </a:r>
            <a:endParaRPr lang="pl-PL" sz="1200" b="1" dirty="0" smtClean="0"/>
          </a:p>
        </p:txBody>
      </p:sp>
    </p:spTree>
    <p:extLst>
      <p:ext uri="{BB962C8B-B14F-4D97-AF65-F5344CB8AC3E}">
        <p14:creationId xmlns:p14="http://schemas.microsoft.com/office/powerpoint/2010/main" val="24081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1383323"/>
            <a:ext cx="10515600" cy="387447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pl-PL" sz="1200" b="1" dirty="0"/>
              <a:t>Adaptery testowe typu </a:t>
            </a:r>
            <a:r>
              <a:rPr lang="pl-PL" sz="1200" b="1" dirty="0" smtClean="0"/>
              <a:t>JTAG oraz </a:t>
            </a:r>
            <a:r>
              <a:rPr lang="pl-PL" sz="1200" b="1" dirty="0" err="1" smtClean="0"/>
              <a:t>bed</a:t>
            </a:r>
            <a:r>
              <a:rPr lang="pl-PL" sz="1200" b="1" dirty="0" smtClean="0"/>
              <a:t> </a:t>
            </a:r>
            <a:r>
              <a:rPr lang="pl-PL" sz="1200" b="1" dirty="0"/>
              <a:t>of </a:t>
            </a:r>
            <a:r>
              <a:rPr lang="pl-PL" sz="1200" b="1" dirty="0" err="1" smtClean="0"/>
              <a:t>nails</a:t>
            </a:r>
            <a:r>
              <a:rPr lang="pl-PL" sz="1200" dirty="0"/>
              <a:t> to niepozorne, ale niezwykle istotne narzędzia w testach in-</a:t>
            </a:r>
            <a:r>
              <a:rPr lang="pl-PL" sz="1200" dirty="0" err="1"/>
              <a:t>circuit</a:t>
            </a:r>
            <a:r>
              <a:rPr lang="pl-PL" sz="1200" dirty="0"/>
              <a:t> (ICT). Umożliwiają </a:t>
            </a:r>
            <a:r>
              <a:rPr lang="pl-PL" sz="1200" b="1" dirty="0"/>
              <a:t>bezpośrednie połączenie z płytkami </a:t>
            </a:r>
            <a:r>
              <a:rPr lang="pl-PL" sz="1200" b="1" dirty="0" smtClean="0"/>
              <a:t>PCB</a:t>
            </a:r>
            <a:r>
              <a:rPr lang="pl-PL" sz="1200" dirty="0"/>
              <a:t> i przesyłanie sygnałów testowych do konkretnych komponentów, co pozwala na szybkie wykrycie </a:t>
            </a:r>
            <a:r>
              <a:rPr lang="pl-PL" sz="1200" dirty="0" smtClean="0"/>
              <a:t>błędów.</a:t>
            </a:r>
          </a:p>
          <a:p>
            <a:pPr fontAlgn="base">
              <a:buFont typeface="Wingdings" panose="05000000000000000000" pitchFamily="2" charset="2"/>
              <a:buChar char="ü"/>
            </a:pPr>
            <a:r>
              <a:rPr lang="pl-PL" sz="1200" b="1" dirty="0"/>
              <a:t>Testy Środowiskowe (</a:t>
            </a:r>
            <a:r>
              <a:rPr lang="pl-PL" sz="1200" b="1" dirty="0" err="1"/>
              <a:t>Environmental</a:t>
            </a:r>
            <a:r>
              <a:rPr lang="pl-PL" sz="1200" b="1" dirty="0"/>
              <a:t> </a:t>
            </a:r>
            <a:r>
              <a:rPr lang="pl-PL" sz="1200" b="1" dirty="0" err="1"/>
              <a:t>Testing</a:t>
            </a:r>
            <a:r>
              <a:rPr lang="pl-PL" sz="1200" b="1" dirty="0" smtClean="0"/>
              <a:t>):</a:t>
            </a:r>
            <a:r>
              <a:rPr lang="pl-PL" sz="1200" dirty="0" smtClean="0"/>
              <a:t>Przeprowadzane </a:t>
            </a:r>
            <a:r>
              <a:rPr lang="pl-PL" sz="1200" dirty="0"/>
              <a:t>zazwyczaj na próbkach (</a:t>
            </a:r>
            <a:r>
              <a:rPr lang="pl-PL" sz="1200" dirty="0" err="1"/>
              <a:t>samplach</a:t>
            </a:r>
            <a:r>
              <a:rPr lang="pl-PL" sz="1200" dirty="0"/>
              <a:t>) produktu na etapie rozwoju lub kwalifikacji, mają na celu sprawdzenie odporności urządzenia na specyficzne warunki środowiskowe, w jakich może ono pracować. Obejmują one między innymi:</a:t>
            </a:r>
          </a:p>
          <a:p>
            <a:pPr lvl="1" fontAlgn="base"/>
            <a:r>
              <a:rPr lang="pl-PL" sz="1000" b="1" dirty="0"/>
              <a:t>Testy temperaturowe:</a:t>
            </a:r>
            <a:r>
              <a:rPr lang="pl-PL" sz="1000" dirty="0"/>
              <a:t> Sprawdzanie działania w szerokim zakresie temperatur, zarówno stałych (np. praca w -20°C lub +70°C), jak i cyklicznie zmiennych. Wykorzystuje się do tego </a:t>
            </a:r>
            <a:r>
              <a:rPr lang="pl-PL" sz="1000" b="1" dirty="0"/>
              <a:t>komory klimatyczne lub termiczne</a:t>
            </a:r>
            <a:r>
              <a:rPr lang="pl-PL" sz="1000" dirty="0"/>
              <a:t>.</a:t>
            </a:r>
          </a:p>
          <a:p>
            <a:pPr lvl="1" fontAlgn="base"/>
            <a:r>
              <a:rPr lang="pl-PL" sz="1000" b="1" dirty="0"/>
              <a:t>Testy szoku termicznego:</a:t>
            </a:r>
            <a:r>
              <a:rPr lang="pl-PL" sz="1000" dirty="0"/>
              <a:t> Badanie odporności na gwałtowne zmiany temperatury, np. przy użyciu specjalnych </a:t>
            </a:r>
            <a:r>
              <a:rPr lang="pl-PL" sz="1000" b="1" dirty="0"/>
              <a:t>komór z mechanizmem szybkiego transferu</a:t>
            </a:r>
            <a:r>
              <a:rPr lang="pl-PL" sz="1000" dirty="0"/>
              <a:t> (tzw. „windą”) między strefą gorącą a zimną.</a:t>
            </a:r>
          </a:p>
          <a:p>
            <a:pPr lvl="1" fontAlgn="base"/>
            <a:r>
              <a:rPr lang="pl-PL" sz="1000" b="1" dirty="0"/>
              <a:t>Testy wilgotnościowe:</a:t>
            </a:r>
            <a:r>
              <a:rPr lang="pl-PL" sz="1000" dirty="0"/>
              <a:t> Weryfikacja odporności na działanie wilgoci.</a:t>
            </a:r>
          </a:p>
          <a:p>
            <a:pPr lvl="1" fontAlgn="base"/>
            <a:r>
              <a:rPr lang="pl-PL" sz="1000" b="1" dirty="0"/>
              <a:t>Testy szczelności (IP – </a:t>
            </a:r>
            <a:r>
              <a:rPr lang="pl-PL" sz="1000" b="1" dirty="0" err="1"/>
              <a:t>Ingress</a:t>
            </a:r>
            <a:r>
              <a:rPr lang="pl-PL" sz="1000" b="1" dirty="0"/>
              <a:t> </a:t>
            </a:r>
            <a:r>
              <a:rPr lang="pl-PL" sz="1000" b="1" dirty="0" err="1"/>
              <a:t>Protection</a:t>
            </a:r>
            <a:r>
              <a:rPr lang="pl-PL" sz="1000" b="1" dirty="0"/>
              <a:t>):</a:t>
            </a:r>
            <a:r>
              <a:rPr lang="pl-PL" sz="1000" dirty="0"/>
              <a:t> Sprawdzanie odporności obudowy na wnikanie pyłu i wody zgodnie z normami </a:t>
            </a:r>
            <a:r>
              <a:rPr lang="pl-PL" sz="1000" dirty="0" err="1"/>
              <a:t>IPxx</a:t>
            </a:r>
            <a:r>
              <a:rPr lang="pl-PL" sz="10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l-PL" sz="1200" b="1" dirty="0"/>
              <a:t>Walidacja w Warunkach Rzeczywistych (Field </a:t>
            </a:r>
            <a:r>
              <a:rPr lang="pl-PL" sz="1200" b="1" dirty="0" err="1"/>
              <a:t>Testing</a:t>
            </a:r>
            <a:r>
              <a:rPr lang="pl-PL" sz="1200" b="1" dirty="0"/>
              <a:t> / Beta </a:t>
            </a:r>
            <a:r>
              <a:rPr lang="pl-PL" sz="1200" b="1" dirty="0" err="1"/>
              <a:t>Testing</a:t>
            </a:r>
            <a:r>
              <a:rPr lang="pl-PL" sz="1200" b="1" dirty="0"/>
              <a:t>):</a:t>
            </a:r>
            <a:endParaRPr lang="pl-PL" sz="1200" dirty="0"/>
          </a:p>
          <a:p>
            <a:pPr lvl="1" fontAlgn="base"/>
            <a:r>
              <a:rPr lang="pl-PL" sz="1000" dirty="0"/>
              <a:t>Instalację próbną u klienta (jeśli to </a:t>
            </a:r>
            <a:r>
              <a:rPr lang="pl-PL" sz="1000" dirty="0" smtClean="0"/>
              <a:t>możliwe SAT).</a:t>
            </a:r>
            <a:endParaRPr lang="pl-PL" sz="1000" dirty="0"/>
          </a:p>
          <a:p>
            <a:pPr lvl="1" fontAlgn="base"/>
            <a:r>
              <a:rPr lang="pl-PL" sz="1000" dirty="0"/>
              <a:t>Testy przeprowadzane przez użytkowników końcowych </a:t>
            </a:r>
            <a:r>
              <a:rPr lang="pl-PL" sz="1000" dirty="0" smtClean="0"/>
              <a:t>(</a:t>
            </a:r>
            <a:r>
              <a:rPr lang="pl-PL" sz="1000" dirty="0" smtClean="0"/>
              <a:t>Beta </a:t>
            </a:r>
            <a:r>
              <a:rPr lang="pl-PL" sz="1000" dirty="0" smtClean="0"/>
              <a:t>Testy).</a:t>
            </a:r>
            <a:endParaRPr lang="pl-PL" sz="1000" dirty="0"/>
          </a:p>
          <a:p>
            <a:pPr lvl="1" fontAlgn="base"/>
            <a:r>
              <a:rPr lang="pl-PL" sz="1000" dirty="0"/>
              <a:t>Długoterminowe testy w symulowanym, ale bardziej złożonym środowisku niż pojedyncza komora klimatyczna</a:t>
            </a:r>
            <a:r>
              <a:rPr lang="pl-PL" sz="1000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l-PL" sz="1200" b="1" dirty="0"/>
              <a:t> Systemy automatycznego testowania i ich integracja z </a:t>
            </a:r>
            <a:r>
              <a:rPr lang="pl-PL" sz="1200" b="1" dirty="0" err="1"/>
              <a:t>traceability</a:t>
            </a:r>
            <a:endParaRPr lang="pl-PL" sz="1200" dirty="0"/>
          </a:p>
          <a:p>
            <a:pPr marL="0" indent="0">
              <a:buNone/>
            </a:pPr>
            <a:r>
              <a:rPr lang="pl-PL" sz="1200" b="1" dirty="0" smtClean="0"/>
              <a:t>        </a:t>
            </a:r>
            <a:r>
              <a:rPr lang="pl-PL" sz="1200" dirty="0" smtClean="0"/>
              <a:t>Systemy </a:t>
            </a:r>
            <a:r>
              <a:rPr lang="pl-PL" sz="1200" dirty="0"/>
              <a:t>automatycznego testowania </a:t>
            </a:r>
            <a:r>
              <a:rPr lang="pl-PL" sz="1200" dirty="0" smtClean="0"/>
              <a:t>zapewniają</a:t>
            </a:r>
            <a:r>
              <a:rPr lang="pl-PL" sz="1200" dirty="0"/>
              <a:t> </a:t>
            </a:r>
            <a:r>
              <a:rPr lang="pl-PL" sz="1200" b="1" dirty="0"/>
              <a:t>szybkość, powtarzalność i niezawodność</a:t>
            </a:r>
            <a:r>
              <a:rPr lang="pl-PL" sz="1200" dirty="0"/>
              <a:t> testów. </a:t>
            </a:r>
            <a:r>
              <a:rPr lang="pl-PL" sz="1200" dirty="0" smtClean="0"/>
              <a:t>Ich integracja z systemami</a:t>
            </a:r>
            <a:r>
              <a:rPr lang="pl-PL" sz="1200" dirty="0"/>
              <a:t> </a:t>
            </a:r>
            <a:r>
              <a:rPr lang="pl-PL" sz="1200" b="1" dirty="0" err="1"/>
              <a:t>traceability</a:t>
            </a:r>
            <a:r>
              <a:rPr lang="pl-PL" sz="1200" dirty="0"/>
              <a:t> — czyli śledzenia </a:t>
            </a:r>
            <a:r>
              <a:rPr lang="pl-PL" sz="1200" dirty="0" smtClean="0"/>
              <a:t>historii  testów </a:t>
            </a:r>
            <a:r>
              <a:rPr lang="pl-PL" sz="1200" dirty="0"/>
              <a:t>daje pełną kontrolę nad jakością na każdym etapie procesu</a:t>
            </a:r>
            <a:r>
              <a:rPr lang="pl-PL" sz="1200" dirty="0" smtClean="0"/>
              <a:t>.</a:t>
            </a:r>
            <a:endParaRPr lang="pl-PL" sz="1200" dirty="0"/>
          </a:p>
        </p:txBody>
      </p:sp>
      <p:sp>
        <p:nvSpPr>
          <p:cNvPr id="4" name="pole tekstowe 3"/>
          <p:cNvSpPr txBox="1"/>
          <p:nvPr/>
        </p:nvSpPr>
        <p:spPr>
          <a:xfrm>
            <a:off x="838200" y="956902"/>
            <a:ext cx="4666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b="1" dirty="0">
                <a:solidFill>
                  <a:schemeClr val="accent5">
                    <a:lumMod val="75000"/>
                  </a:schemeClr>
                </a:solidFill>
                <a:latin typeface="Plus Jakarta Sans"/>
              </a:rPr>
              <a:t>Systemy i technologie wspierające testowanie</a:t>
            </a:r>
          </a:p>
        </p:txBody>
      </p:sp>
    </p:spTree>
    <p:extLst>
      <p:ext uri="{BB962C8B-B14F-4D97-AF65-F5344CB8AC3E}">
        <p14:creationId xmlns:p14="http://schemas.microsoft.com/office/powerpoint/2010/main" val="2250603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2673351"/>
            <a:ext cx="10515600" cy="271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sz="1200" b="1" dirty="0" smtClean="0"/>
              <a:t>Norma ISO 26262</a:t>
            </a:r>
          </a:p>
          <a:p>
            <a:pPr marL="0" indent="0">
              <a:buNone/>
            </a:pPr>
            <a:r>
              <a:rPr lang="pl-PL" sz="1200" dirty="0"/>
              <a:t>Przedmiotem normy ISO 26262 jest bezpieczeństwo funkcjonalne</a:t>
            </a:r>
            <a:r>
              <a:rPr lang="pl-PL" sz="1200" dirty="0" smtClean="0"/>
              <a:t>. </a:t>
            </a:r>
            <a:r>
              <a:rPr lang="pl-PL" sz="1200" dirty="0"/>
              <a:t>Główna koncepcja polega na tym, by awaria któregokolwiek z komponentów nie powodowała zagrożenia dla osób znajdujących się wewnątrz lub na zewnątrz pojazdu</a:t>
            </a:r>
            <a:r>
              <a:rPr lang="pl-PL" sz="1200" dirty="0" smtClean="0"/>
              <a:t>. Tak dotyczy to sektora Automotive, przy czym z powodzeniem wg mnie można stosować zakres Testów w urządzeniach przemysłowych.</a:t>
            </a:r>
          </a:p>
          <a:p>
            <a:r>
              <a:rPr lang="en-US" sz="1000" dirty="0" smtClean="0"/>
              <a:t>Management </a:t>
            </a:r>
            <a:r>
              <a:rPr lang="en-US" sz="1000" dirty="0"/>
              <a:t>of functional </a:t>
            </a:r>
            <a:r>
              <a:rPr lang="en-US" sz="1000" dirty="0" smtClean="0"/>
              <a:t>safety</a:t>
            </a:r>
            <a:r>
              <a:rPr lang="pl-PL" sz="1000" dirty="0"/>
              <a:t> </a:t>
            </a:r>
            <a:r>
              <a:rPr lang="pl-PL" sz="1000" dirty="0" smtClean="0"/>
              <a:t>-</a:t>
            </a:r>
            <a:r>
              <a:rPr lang="en-US" sz="1000" dirty="0" smtClean="0"/>
              <a:t> </a:t>
            </a:r>
            <a:r>
              <a:rPr lang="en-US" sz="1000" dirty="0" err="1"/>
              <a:t>dotyka</a:t>
            </a:r>
            <a:r>
              <a:rPr lang="en-US" sz="1000" dirty="0"/>
              <a:t> </a:t>
            </a:r>
            <a:r>
              <a:rPr lang="en-US" sz="1000" dirty="0" err="1"/>
              <a:t>aspektu</a:t>
            </a:r>
            <a:r>
              <a:rPr lang="en-US" sz="1000" dirty="0"/>
              <a:t> </a:t>
            </a:r>
            <a:r>
              <a:rPr lang="en-US" sz="1000" dirty="0" err="1"/>
              <a:t>zarządzania</a:t>
            </a:r>
            <a:r>
              <a:rPr lang="en-US" sz="1000" dirty="0"/>
              <a:t> </a:t>
            </a:r>
            <a:r>
              <a:rPr lang="en-US" sz="1000" dirty="0" err="1"/>
              <a:t>bezpieczeństwem</a:t>
            </a:r>
            <a:r>
              <a:rPr lang="en-US" sz="1000" dirty="0"/>
              <a:t> </a:t>
            </a:r>
            <a:r>
              <a:rPr lang="en-US" sz="1000" dirty="0" err="1"/>
              <a:t>software’u</a:t>
            </a:r>
            <a:r>
              <a:rPr lang="en-US" sz="1000" dirty="0"/>
              <a:t> </a:t>
            </a:r>
            <a:r>
              <a:rPr lang="en-US" sz="1000" dirty="0" err="1"/>
              <a:t>i</a:t>
            </a:r>
            <a:r>
              <a:rPr lang="en-US" sz="1000" dirty="0"/>
              <a:t> </a:t>
            </a:r>
            <a:r>
              <a:rPr lang="en-US" sz="1000" dirty="0" err="1" smtClean="0"/>
              <a:t>hardware’u</a:t>
            </a:r>
            <a:r>
              <a:rPr lang="pl-PL" sz="1000" dirty="0" smtClean="0"/>
              <a:t>.</a:t>
            </a:r>
            <a:endParaRPr lang="en-US" sz="1000" dirty="0"/>
          </a:p>
          <a:p>
            <a:r>
              <a:rPr lang="en-US" sz="1000" dirty="0" smtClean="0"/>
              <a:t>Concept phase</a:t>
            </a:r>
            <a:r>
              <a:rPr lang="pl-PL" sz="1000" dirty="0"/>
              <a:t> </a:t>
            </a:r>
            <a:r>
              <a:rPr lang="pl-PL" sz="1000" dirty="0" smtClean="0"/>
              <a:t>-</a:t>
            </a:r>
            <a:r>
              <a:rPr lang="en-US" sz="1000" dirty="0" smtClean="0"/>
              <a:t> </a:t>
            </a:r>
            <a:r>
              <a:rPr lang="en-US" sz="1000" dirty="0" err="1"/>
              <a:t>może</a:t>
            </a:r>
            <a:r>
              <a:rPr lang="en-US" sz="1000" dirty="0"/>
              <a:t> </a:t>
            </a:r>
            <a:r>
              <a:rPr lang="en-US" sz="1000" dirty="0" err="1"/>
              <a:t>mieć</a:t>
            </a:r>
            <a:r>
              <a:rPr lang="en-US" sz="1000" dirty="0"/>
              <a:t> </a:t>
            </a:r>
            <a:r>
              <a:rPr lang="en-US" sz="1000" dirty="0" err="1"/>
              <a:t>swoje</a:t>
            </a:r>
            <a:r>
              <a:rPr lang="en-US" sz="1000" dirty="0"/>
              <a:t> </a:t>
            </a:r>
            <a:r>
              <a:rPr lang="en-US" sz="1000" dirty="0" err="1"/>
              <a:t>inklinacje</a:t>
            </a:r>
            <a:r>
              <a:rPr lang="en-US" sz="1000" dirty="0"/>
              <a:t> </a:t>
            </a:r>
            <a:r>
              <a:rPr lang="en-US" sz="1000" dirty="0" err="1"/>
              <a:t>testerskie</a:t>
            </a:r>
            <a:r>
              <a:rPr lang="en-US" sz="1000" dirty="0"/>
              <a:t> w </a:t>
            </a:r>
            <a:r>
              <a:rPr lang="en-US" sz="1000" dirty="0" err="1"/>
              <a:t>przypadku</a:t>
            </a:r>
            <a:r>
              <a:rPr lang="en-US" sz="1000" dirty="0"/>
              <a:t> </a:t>
            </a:r>
            <a:r>
              <a:rPr lang="en-US" sz="1000" dirty="0" err="1"/>
              <a:t>wczesnych</a:t>
            </a:r>
            <a:r>
              <a:rPr lang="en-US" sz="1000" dirty="0"/>
              <a:t> </a:t>
            </a:r>
            <a:r>
              <a:rPr lang="en-US" sz="1000" dirty="0" err="1"/>
              <a:t>przeglądów</a:t>
            </a:r>
            <a:r>
              <a:rPr lang="en-US" sz="1000" dirty="0"/>
              <a:t> </a:t>
            </a:r>
            <a:r>
              <a:rPr lang="en-US" sz="1000" dirty="0" err="1"/>
              <a:t>i</a:t>
            </a:r>
            <a:r>
              <a:rPr lang="en-US" sz="1000" dirty="0"/>
              <a:t> </a:t>
            </a:r>
            <a:r>
              <a:rPr lang="en-US" sz="1000" dirty="0" err="1"/>
              <a:t>strategii</a:t>
            </a:r>
            <a:r>
              <a:rPr lang="en-US" sz="1000" dirty="0"/>
              <a:t> </a:t>
            </a:r>
            <a:r>
              <a:rPr lang="en-US" sz="1000" dirty="0" err="1"/>
              <a:t>testowania</a:t>
            </a:r>
            <a:r>
              <a:rPr lang="en-US" sz="1000" dirty="0"/>
              <a:t> </a:t>
            </a:r>
            <a:r>
              <a:rPr lang="en-US" sz="1000" dirty="0" err="1"/>
              <a:t>opartej</a:t>
            </a:r>
            <a:r>
              <a:rPr lang="en-US" sz="1000" dirty="0"/>
              <a:t> </a:t>
            </a:r>
            <a:r>
              <a:rPr lang="en-US" sz="1000" dirty="0" err="1"/>
              <a:t>na</a:t>
            </a:r>
            <a:r>
              <a:rPr lang="en-US" sz="1000" dirty="0"/>
              <a:t> </a:t>
            </a:r>
            <a:r>
              <a:rPr lang="en-US" sz="1000" dirty="0" err="1" smtClean="0"/>
              <a:t>ryzyku</a:t>
            </a:r>
            <a:r>
              <a:rPr lang="pl-PL" sz="1000" dirty="0" smtClean="0"/>
              <a:t>.</a:t>
            </a:r>
            <a:endParaRPr lang="en-US" sz="1000" dirty="0"/>
          </a:p>
          <a:p>
            <a:r>
              <a:rPr lang="en-US" sz="1000" dirty="0" smtClean="0"/>
              <a:t>Product </a:t>
            </a:r>
            <a:r>
              <a:rPr lang="en-US" sz="1000" dirty="0"/>
              <a:t>development at the system </a:t>
            </a:r>
            <a:r>
              <a:rPr lang="en-US" sz="1000" dirty="0" smtClean="0"/>
              <a:t>level</a:t>
            </a:r>
            <a:r>
              <a:rPr lang="pl-PL" sz="1000" dirty="0" smtClean="0"/>
              <a:t> -</a:t>
            </a:r>
            <a:r>
              <a:rPr lang="en-US" sz="1000" dirty="0" smtClean="0"/>
              <a:t> </a:t>
            </a:r>
            <a:r>
              <a:rPr lang="en-US" sz="1000" dirty="0" err="1"/>
              <a:t>wchodzi</a:t>
            </a:r>
            <a:r>
              <a:rPr lang="en-US" sz="1000" dirty="0"/>
              <a:t> w </a:t>
            </a:r>
            <a:r>
              <a:rPr lang="en-US" sz="1000" dirty="0" err="1"/>
              <a:t>skład</a:t>
            </a:r>
            <a:r>
              <a:rPr lang="en-US" sz="1000" dirty="0"/>
              <a:t> </a:t>
            </a:r>
            <a:r>
              <a:rPr lang="en-US" sz="1000" dirty="0" err="1"/>
              <a:t>tzw</a:t>
            </a:r>
            <a:r>
              <a:rPr lang="en-US" sz="1000" dirty="0"/>
              <a:t>. </a:t>
            </a:r>
            <a:r>
              <a:rPr lang="en-US" sz="1000" dirty="0" err="1"/>
              <a:t>dużego</a:t>
            </a:r>
            <a:r>
              <a:rPr lang="en-US" sz="1000" dirty="0"/>
              <a:t> V, z </a:t>
            </a:r>
            <a:r>
              <a:rPr lang="en-US" sz="1000" dirty="0" err="1"/>
              <a:t>uwzględnieniem</a:t>
            </a:r>
            <a:r>
              <a:rPr lang="en-US" sz="1000" dirty="0"/>
              <a:t> </a:t>
            </a:r>
            <a:r>
              <a:rPr lang="en-US" sz="1000" dirty="0" err="1"/>
              <a:t>definiowania</a:t>
            </a:r>
            <a:r>
              <a:rPr lang="en-US" sz="1000" dirty="0"/>
              <a:t> </a:t>
            </a:r>
            <a:r>
              <a:rPr lang="en-US" sz="1000" dirty="0" err="1"/>
              <a:t>całego</a:t>
            </a:r>
            <a:r>
              <a:rPr lang="en-US" sz="1000" dirty="0"/>
              <a:t> </a:t>
            </a:r>
            <a:r>
              <a:rPr lang="en-US" sz="1000" dirty="0" err="1"/>
              <a:t>systemu</a:t>
            </a:r>
            <a:r>
              <a:rPr lang="en-US" sz="1000" dirty="0"/>
              <a:t>, z </a:t>
            </a:r>
            <a:r>
              <a:rPr lang="en-US" sz="1000" dirty="0" err="1"/>
              <a:t>wieloma</a:t>
            </a:r>
            <a:r>
              <a:rPr lang="en-US" sz="1000" dirty="0"/>
              <a:t> </a:t>
            </a:r>
            <a:r>
              <a:rPr lang="en-US" sz="1000" dirty="0" err="1"/>
              <a:t>czynnościami</a:t>
            </a:r>
            <a:r>
              <a:rPr lang="en-US" sz="1000" dirty="0"/>
              <a:t> </a:t>
            </a:r>
            <a:r>
              <a:rPr lang="en-US" sz="1000" dirty="0" err="1"/>
              <a:t>kontroli</a:t>
            </a:r>
            <a:r>
              <a:rPr lang="en-US" sz="1000" dirty="0"/>
              <a:t> </a:t>
            </a:r>
            <a:r>
              <a:rPr lang="en-US" sz="1000" dirty="0" err="1"/>
              <a:t>jakości</a:t>
            </a:r>
            <a:r>
              <a:rPr lang="en-US" sz="1000" dirty="0"/>
              <a:t>,</a:t>
            </a:r>
          </a:p>
          <a:p>
            <a:r>
              <a:rPr lang="en-US" sz="1000" dirty="0" smtClean="0"/>
              <a:t>Product </a:t>
            </a:r>
            <a:r>
              <a:rPr lang="en-US" sz="1000" dirty="0"/>
              <a:t>development at the hardware </a:t>
            </a:r>
            <a:r>
              <a:rPr lang="en-US" sz="1000" dirty="0" smtClean="0"/>
              <a:t>level</a:t>
            </a:r>
            <a:r>
              <a:rPr lang="pl-PL" sz="1000" dirty="0" smtClean="0"/>
              <a:t> -</a:t>
            </a:r>
            <a:r>
              <a:rPr lang="en-US" sz="1000" dirty="0" smtClean="0"/>
              <a:t> </a:t>
            </a:r>
            <a:r>
              <a:rPr lang="en-US" sz="1000" dirty="0" err="1"/>
              <a:t>tzw</a:t>
            </a:r>
            <a:r>
              <a:rPr lang="en-US" sz="1000" dirty="0"/>
              <a:t>. </a:t>
            </a:r>
            <a:r>
              <a:rPr lang="en-US" sz="1000" dirty="0" err="1"/>
              <a:t>małe</a:t>
            </a:r>
            <a:r>
              <a:rPr lang="en-US" sz="1000" dirty="0"/>
              <a:t> </a:t>
            </a:r>
            <a:r>
              <a:rPr lang="en-US" sz="1000" dirty="0" err="1"/>
              <a:t>modele</a:t>
            </a:r>
            <a:r>
              <a:rPr lang="en-US" sz="1000" dirty="0"/>
              <a:t> V z </a:t>
            </a:r>
            <a:r>
              <a:rPr lang="en-US" sz="1000" dirty="0" err="1"/>
              <a:t>mikro</a:t>
            </a:r>
            <a:r>
              <a:rPr lang="en-US" sz="1000" dirty="0"/>
              <a:t> V, </a:t>
            </a:r>
            <a:r>
              <a:rPr lang="en-US" sz="1000" dirty="0" err="1"/>
              <a:t>definiowane</a:t>
            </a:r>
            <a:r>
              <a:rPr lang="en-US" sz="1000" dirty="0"/>
              <a:t> </a:t>
            </a:r>
            <a:r>
              <a:rPr lang="en-US" sz="1000" dirty="0" err="1"/>
              <a:t>jako</a:t>
            </a:r>
            <a:r>
              <a:rPr lang="en-US" sz="1000" dirty="0"/>
              <a:t> </a:t>
            </a:r>
            <a:r>
              <a:rPr lang="en-US" sz="1000" dirty="0" err="1"/>
              <a:t>tworzenie</a:t>
            </a:r>
            <a:r>
              <a:rPr lang="en-US" sz="1000" dirty="0"/>
              <a:t> </a:t>
            </a:r>
            <a:r>
              <a:rPr lang="en-US" sz="1000" dirty="0" err="1"/>
              <a:t>i</a:t>
            </a:r>
            <a:r>
              <a:rPr lang="en-US" sz="1000" dirty="0"/>
              <a:t> </a:t>
            </a:r>
            <a:r>
              <a:rPr lang="en-US" sz="1000" dirty="0" err="1"/>
              <a:t>testowanie</a:t>
            </a:r>
            <a:r>
              <a:rPr lang="en-US" sz="1000" dirty="0"/>
              <a:t> </a:t>
            </a:r>
            <a:r>
              <a:rPr lang="en-US" sz="1000" dirty="0" err="1"/>
              <a:t>architektury</a:t>
            </a:r>
            <a:r>
              <a:rPr lang="en-US" sz="1000" dirty="0"/>
              <a:t> </a:t>
            </a:r>
            <a:r>
              <a:rPr lang="en-US" sz="1000" dirty="0" err="1" smtClean="0"/>
              <a:t>rozwiązania</a:t>
            </a:r>
            <a:r>
              <a:rPr lang="pl-PL" sz="1000" dirty="0" smtClean="0"/>
              <a:t>.</a:t>
            </a:r>
            <a:endParaRPr lang="en-US" sz="1000" dirty="0"/>
          </a:p>
          <a:p>
            <a:r>
              <a:rPr lang="en-US" sz="1000" dirty="0" smtClean="0"/>
              <a:t>Product </a:t>
            </a:r>
            <a:r>
              <a:rPr lang="en-US" sz="1000" dirty="0"/>
              <a:t>development at the software </a:t>
            </a:r>
            <a:r>
              <a:rPr lang="en-US" sz="1000" dirty="0" smtClean="0"/>
              <a:t>level</a:t>
            </a:r>
            <a:r>
              <a:rPr lang="pl-PL" sz="1000" dirty="0" smtClean="0"/>
              <a:t> -</a:t>
            </a:r>
            <a:r>
              <a:rPr lang="en-US" sz="1000" dirty="0" smtClean="0"/>
              <a:t> </a:t>
            </a:r>
            <a:r>
              <a:rPr lang="en-US" sz="1000" dirty="0" err="1"/>
              <a:t>podobnie</a:t>
            </a:r>
            <a:r>
              <a:rPr lang="en-US" sz="1000" dirty="0"/>
              <a:t> </a:t>
            </a:r>
            <a:r>
              <a:rPr lang="en-US" sz="1000" dirty="0" err="1"/>
              <a:t>jak</a:t>
            </a:r>
            <a:r>
              <a:rPr lang="en-US" sz="1000" dirty="0"/>
              <a:t> </a:t>
            </a:r>
            <a:r>
              <a:rPr lang="en-US" sz="1000" dirty="0" err="1"/>
              <a:t>dla</a:t>
            </a:r>
            <a:r>
              <a:rPr lang="en-US" sz="1000" dirty="0"/>
              <a:t> hardware z </a:t>
            </a:r>
            <a:r>
              <a:rPr lang="en-US" sz="1000" dirty="0" err="1"/>
              <a:t>zakresem</a:t>
            </a:r>
            <a:r>
              <a:rPr lang="en-US" sz="1000" dirty="0"/>
              <a:t> </a:t>
            </a:r>
            <a:r>
              <a:rPr lang="en-US" sz="1000" dirty="0" err="1"/>
              <a:t>testów</a:t>
            </a:r>
            <a:r>
              <a:rPr lang="en-US" sz="1000" dirty="0"/>
              <a:t> od </a:t>
            </a:r>
            <a:r>
              <a:rPr lang="en-US" sz="1000" dirty="0" err="1"/>
              <a:t>jednostkowych</a:t>
            </a:r>
            <a:r>
              <a:rPr lang="en-US" sz="1000" dirty="0"/>
              <a:t> </a:t>
            </a:r>
            <a:r>
              <a:rPr lang="en-US" sz="1000" dirty="0" err="1"/>
              <a:t>po</a:t>
            </a:r>
            <a:r>
              <a:rPr lang="en-US" sz="1000" dirty="0"/>
              <a:t> </a:t>
            </a:r>
            <a:r>
              <a:rPr lang="en-US" sz="1000" dirty="0" err="1" smtClean="0"/>
              <a:t>integracyjne</a:t>
            </a:r>
            <a:r>
              <a:rPr lang="pl-PL" sz="1000" dirty="0" smtClean="0"/>
              <a:t>.</a:t>
            </a:r>
            <a:endParaRPr lang="en-US" sz="1000" dirty="0"/>
          </a:p>
          <a:p>
            <a:r>
              <a:rPr lang="en-US" sz="1000" dirty="0" smtClean="0"/>
              <a:t>Production </a:t>
            </a:r>
            <a:r>
              <a:rPr lang="en-US" sz="1000" dirty="0"/>
              <a:t>and operation – z </a:t>
            </a:r>
            <a:r>
              <a:rPr lang="en-US" sz="1000" dirty="0" err="1"/>
              <a:t>testowaniem</a:t>
            </a:r>
            <a:r>
              <a:rPr lang="en-US" sz="1000" dirty="0"/>
              <a:t> w DevOps,</a:t>
            </a:r>
          </a:p>
          <a:p>
            <a:endParaRPr lang="en-US" sz="1200" dirty="0"/>
          </a:p>
        </p:txBody>
      </p:sp>
      <p:sp>
        <p:nvSpPr>
          <p:cNvPr id="5" name="Prostokąt 4"/>
          <p:cNvSpPr/>
          <p:nvPr/>
        </p:nvSpPr>
        <p:spPr>
          <a:xfrm>
            <a:off x="838200" y="491609"/>
            <a:ext cx="38614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l-PL" sz="14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Plus Jakarta Sans"/>
              </a:rPr>
              <a:t>Testy zgodności z normami i certyfikacjami</a:t>
            </a:r>
            <a:endParaRPr lang="pl-PL" sz="1400" b="1" i="0" dirty="0">
              <a:solidFill>
                <a:schemeClr val="accent5">
                  <a:lumMod val="75000"/>
                </a:schemeClr>
              </a:solidFill>
              <a:effectLst/>
              <a:latin typeface="Plus Jakarta Sans"/>
            </a:endParaRPr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895350" y="897549"/>
            <a:ext cx="10515600" cy="1845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1200" b="1" dirty="0" smtClean="0"/>
              <a:t>Standard IPC-A-610 </a:t>
            </a:r>
          </a:p>
          <a:p>
            <a:pPr marL="0" indent="0">
              <a:buNone/>
            </a:pPr>
            <a:r>
              <a:rPr lang="pl-PL" sz="1200" dirty="0" smtClean="0"/>
              <a:t>Standard </a:t>
            </a:r>
            <a:r>
              <a:rPr lang="pl-PL" sz="1200" dirty="0"/>
              <a:t>IPC określa kryteria oceny wizualnej dla zespołów </a:t>
            </a:r>
            <a:r>
              <a:rPr lang="pl-PL" sz="1200" dirty="0" smtClean="0"/>
              <a:t>elektronicznych. Zespoły </a:t>
            </a:r>
            <a:r>
              <a:rPr lang="pl-PL" sz="1200" dirty="0"/>
              <a:t>elektroniczne to płytki PCB z przylutowanymi komponentami. </a:t>
            </a:r>
            <a:endParaRPr lang="pl-PL" sz="1200" dirty="0" smtClean="0"/>
          </a:p>
          <a:p>
            <a:pPr marL="0" indent="0">
              <a:buNone/>
            </a:pPr>
            <a:r>
              <a:rPr lang="pl-PL" sz="1200" dirty="0" smtClean="0"/>
              <a:t>Kryteria </a:t>
            </a:r>
            <a:r>
              <a:rPr lang="pl-PL" sz="1200" dirty="0"/>
              <a:t>oceny zawierają stany </a:t>
            </a:r>
            <a:r>
              <a:rPr lang="pl-PL" sz="1200" dirty="0" smtClean="0"/>
              <a:t>dopuszczenia</a:t>
            </a:r>
            <a:r>
              <a:rPr lang="pl-PL" sz="1200" dirty="0"/>
              <a:t> (dopuszczalny, wskaźnik procesu, wada), które odnoszą się do różnych przypadków (stanów), jakie mogą zostać zauważone podczas inspekcji zmontowanej elektroniki. Warto </a:t>
            </a:r>
            <a:r>
              <a:rPr lang="pl-PL" sz="1200" dirty="0" smtClean="0"/>
              <a:t>wspomnieć, że: </a:t>
            </a:r>
          </a:p>
          <a:p>
            <a:pPr lvl="1"/>
            <a:r>
              <a:rPr lang="pl-PL" sz="800" dirty="0" smtClean="0"/>
              <a:t>W roku 2020, </a:t>
            </a:r>
            <a:r>
              <a:rPr lang="pl-PL" sz="800" dirty="0"/>
              <a:t>w wersji H wprowadzono istotną zmianę - </a:t>
            </a:r>
            <a:r>
              <a:rPr lang="pl-PL" sz="800" dirty="0" smtClean="0"/>
              <a:t>usunięto stan docelowy.</a:t>
            </a:r>
          </a:p>
          <a:p>
            <a:pPr lvl="1"/>
            <a:r>
              <a:rPr lang="pl-PL" sz="800" dirty="0" smtClean="0"/>
              <a:t>Autoryzowany szkoleniami w PL zajmuje się RENEX.</a:t>
            </a:r>
          </a:p>
          <a:p>
            <a:pPr lvl="1"/>
            <a:r>
              <a:rPr lang="pl-PL" sz="800" dirty="0" smtClean="0"/>
              <a:t>Można zakupić licencję elektroniczną normy IPC-A-610.</a:t>
            </a:r>
            <a:endParaRPr lang="pl-PL" sz="800" dirty="0"/>
          </a:p>
          <a:p>
            <a:pPr marL="0" indent="0">
              <a:buNone/>
            </a:pP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409244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495300"/>
            <a:ext cx="10515600" cy="56816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 err="1"/>
              <a:t>Zastosowania</a:t>
            </a:r>
            <a:r>
              <a:rPr lang="en-US" sz="1200" b="1" dirty="0"/>
              <a:t> </a:t>
            </a:r>
            <a:r>
              <a:rPr lang="en-US" sz="1200" b="1" dirty="0" err="1"/>
              <a:t>branżowe</a:t>
            </a:r>
            <a:r>
              <a:rPr lang="en-US" sz="1200" b="1" dirty="0"/>
              <a:t> </a:t>
            </a:r>
            <a:r>
              <a:rPr lang="en-US" sz="1200" b="1" dirty="0" err="1"/>
              <a:t>testowania</a:t>
            </a:r>
            <a:r>
              <a:rPr lang="en-US" sz="1200" b="1" dirty="0"/>
              <a:t> </a:t>
            </a:r>
            <a:r>
              <a:rPr lang="en-US" sz="1200" b="1" dirty="0" err="1"/>
              <a:t>elektroniki</a:t>
            </a:r>
            <a:endParaRPr lang="en-US" sz="12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pl-PL" sz="1200" b="1" dirty="0"/>
              <a:t>Testowanie elektroniki morskiej i kolejowej</a:t>
            </a:r>
            <a:endParaRPr lang="pl-PL" sz="1200" dirty="0"/>
          </a:p>
          <a:p>
            <a:pPr marL="0" indent="0">
              <a:buNone/>
            </a:pPr>
            <a:r>
              <a:rPr lang="pl-PL" sz="1200" dirty="0"/>
              <a:t>W sektorze morskim urządzenia elektroniczne muszą sprostać </a:t>
            </a:r>
            <a:r>
              <a:rPr lang="pl-PL" sz="1200" b="1" dirty="0"/>
              <a:t>ekstremalnym warunkom środowiskowym</a:t>
            </a:r>
            <a:r>
              <a:rPr lang="pl-PL" sz="1200" dirty="0"/>
              <a:t>, takim jak:</a:t>
            </a:r>
          </a:p>
          <a:p>
            <a:pPr fontAlgn="base"/>
            <a:r>
              <a:rPr lang="pl-PL" sz="1200" dirty="0"/>
              <a:t>Wysoka wilgotność i zasolenie powietrza,</a:t>
            </a:r>
          </a:p>
          <a:p>
            <a:pPr fontAlgn="base"/>
            <a:r>
              <a:rPr lang="pl-PL" sz="1200" dirty="0"/>
              <a:t>Skrajne wahania temperatur,</a:t>
            </a:r>
          </a:p>
          <a:p>
            <a:pPr fontAlgn="base"/>
            <a:r>
              <a:rPr lang="pl-PL" sz="1200" dirty="0"/>
              <a:t>Silne zakłócenia elektromagnetyczne,</a:t>
            </a:r>
          </a:p>
          <a:p>
            <a:pPr fontAlgn="base"/>
            <a:r>
              <a:rPr lang="pl-PL" sz="1200" dirty="0"/>
              <a:t>Zmiany ciśnienia atmosferycznego.</a:t>
            </a:r>
          </a:p>
          <a:p>
            <a:pPr marL="0" indent="0">
              <a:buNone/>
            </a:pPr>
            <a:r>
              <a:rPr lang="pl-PL" sz="1200" dirty="0"/>
              <a:t>Przykładem są systemy nawigacyjne na statkach, które muszą działać niezawodnie nawet podczas sztormu. Dlatego testy obejmują </a:t>
            </a:r>
            <a:r>
              <a:rPr lang="pl-PL" sz="1200" b="1" dirty="0"/>
              <a:t>symulacje środowiskowe</a:t>
            </a:r>
            <a:r>
              <a:rPr lang="pl-PL" sz="1200" dirty="0"/>
              <a:t>, które sprawdzają odporność urządzeń na korozję, zakłócenia i inne czynniki zewnętrzne. Tylko wtedy można mieć pewność, że sprzęt nie zawiedzie na otwartym morzu</a:t>
            </a:r>
            <a:r>
              <a:rPr lang="pl-PL" sz="1200" dirty="0" smtClean="0"/>
              <a:t>.</a:t>
            </a:r>
          </a:p>
          <a:p>
            <a:pPr marL="0" indent="0">
              <a:buNone/>
            </a:pPr>
            <a:endParaRPr lang="pl-PL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pl-PL" sz="1200" b="1" dirty="0" smtClean="0"/>
              <a:t>Testowanie</a:t>
            </a:r>
            <a:r>
              <a:rPr lang="pl-PL" sz="1200" b="1" dirty="0"/>
              <a:t> elektroniki </a:t>
            </a:r>
            <a:r>
              <a:rPr lang="pl-PL" sz="1200" b="1" dirty="0" smtClean="0"/>
              <a:t>kolejowej</a:t>
            </a:r>
            <a:r>
              <a:rPr lang="pl-PL" sz="1200" dirty="0" smtClean="0"/>
              <a:t>, </a:t>
            </a:r>
            <a:r>
              <a:rPr lang="pl-PL" sz="1200" b="1" dirty="0" smtClean="0"/>
              <a:t>tramwajowej oraz autobusowej.</a:t>
            </a:r>
            <a:endParaRPr lang="pl-PL" sz="1200" dirty="0" smtClean="0"/>
          </a:p>
          <a:p>
            <a:pPr marL="0" indent="0">
              <a:buNone/>
            </a:pPr>
            <a:r>
              <a:rPr lang="pl-PL" sz="1200" dirty="0" smtClean="0"/>
              <a:t>Testy mogą opierać się o normy, które należy spełniać w tych sektorach, czyli EN45545 – kolej i tramwaje oraz ECE R118 – autobusy. Kluczowa jest odporność na:</a:t>
            </a:r>
            <a:endParaRPr lang="pl-PL" sz="1200" dirty="0"/>
          </a:p>
          <a:p>
            <a:pPr fontAlgn="base"/>
            <a:r>
              <a:rPr lang="pl-PL" sz="1200" dirty="0"/>
              <a:t>Wibracje i wstrząsy,</a:t>
            </a:r>
          </a:p>
          <a:p>
            <a:pPr fontAlgn="base"/>
            <a:r>
              <a:rPr lang="pl-PL" sz="1200" dirty="0"/>
              <a:t>Zmienne warunki atmosferyczne,</a:t>
            </a:r>
          </a:p>
          <a:p>
            <a:pPr fontAlgn="base"/>
            <a:r>
              <a:rPr lang="pl-PL" sz="1200" dirty="0"/>
              <a:t>Intensywną eksploatację,</a:t>
            </a:r>
          </a:p>
          <a:p>
            <a:pPr fontAlgn="base"/>
            <a:r>
              <a:rPr lang="pl-PL" sz="1200" dirty="0"/>
              <a:t>Obciążenia mechaniczne i elektryczne.</a:t>
            </a:r>
          </a:p>
          <a:p>
            <a:pPr marL="0" indent="0">
              <a:buNone/>
            </a:pPr>
            <a:r>
              <a:rPr lang="pl-PL" sz="1200" dirty="0"/>
              <a:t>Systemy sterowania ruchem kolejowym muszą działać perfekcyjnie niezależnie od pogody, pory dnia czy natężenia ruchu. Dlatego testy obejmują m.in. </a:t>
            </a:r>
            <a:r>
              <a:rPr lang="pl-PL" sz="1200" b="1" dirty="0"/>
              <a:t>badania </a:t>
            </a:r>
            <a:r>
              <a:rPr lang="pl-PL" sz="1200" dirty="0"/>
              <a:t>wytrzymałości mechanicznej oraz testy długoterminowej niezawodności. Celem jest zapewnienie bezpieczeństwa pasażerów i ciągłości działania infrastruktury</a:t>
            </a:r>
            <a:r>
              <a:rPr lang="pl-PL" sz="1200" dirty="0" smtClean="0"/>
              <a:t>.</a:t>
            </a:r>
          </a:p>
          <a:p>
            <a:pPr marL="0" indent="0">
              <a:buNone/>
            </a:pPr>
            <a:endParaRPr lang="pl-PL" sz="1200" dirty="0"/>
          </a:p>
          <a:p>
            <a:pPr marL="0" indent="0" algn="r">
              <a:buNone/>
            </a:pPr>
            <a:r>
              <a:rPr lang="pl-PL" sz="1000" i="1" dirty="0" smtClean="0"/>
              <a:t>Karol Wiśniewski – Tester Elektroniki i Oprogramowania Wbudowanego w sektorze Kolejowym, Tramwajowym i Autobusowym.</a:t>
            </a:r>
            <a:endParaRPr lang="pl-PL" sz="1000" i="1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0461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200" y="638175"/>
            <a:ext cx="10515600" cy="553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400" b="1" dirty="0">
                <a:solidFill>
                  <a:schemeClr val="accent5">
                    <a:lumMod val="75000"/>
                  </a:schemeClr>
                </a:solidFill>
              </a:rPr>
              <a:t>FAQ: Testowanie produktów elektronicznych</a:t>
            </a:r>
          </a:p>
          <a:p>
            <a:r>
              <a:rPr lang="pl-PL" sz="1200" b="1" dirty="0"/>
              <a:t>Dlaczego testowanie produktów elektronicznych jest tak ważne?</a:t>
            </a:r>
            <a:r>
              <a:rPr lang="pl-PL" sz="1200" dirty="0"/>
              <a:t/>
            </a:r>
            <a:br>
              <a:rPr lang="pl-PL" sz="1200" dirty="0"/>
            </a:br>
            <a:r>
              <a:rPr lang="pl-PL" sz="1200" dirty="0"/>
              <a:t>Testowanie produktów elektronicznych to kluczowy etap zapewniający jakość, bezpieczeństwo i niezawodność urządzeń. Pozwala wykryć usterki, poprawić wydajność, zoptymalizować działanie oraz zapewnić zgodność z normami i oczekiwaniami użytkowników</a:t>
            </a:r>
          </a:p>
          <a:p>
            <a:r>
              <a:rPr lang="pl-PL" sz="1200" b="1" dirty="0"/>
              <a:t>Jakie są główne rodzaje testów stosowanych w elektronice?</a:t>
            </a: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dirty="0"/>
              <a:t>Wśród najważniejszych metod testowania wyróżnia się testy jednostkowe (kontrola pojedynczych komponentów), testy funkcjonalne (sprawdzenie działania całego urządzenia), testy in-</a:t>
            </a:r>
            <a:r>
              <a:rPr lang="pl-PL" sz="1200" dirty="0" err="1"/>
              <a:t>circuit</a:t>
            </a:r>
            <a:r>
              <a:rPr lang="pl-PL" sz="1200" dirty="0"/>
              <a:t> (ICT), testy </a:t>
            </a:r>
            <a:r>
              <a:rPr lang="pl-PL" sz="1200" dirty="0" err="1"/>
              <a:t>FlyingProbe</a:t>
            </a:r>
            <a:r>
              <a:rPr lang="pl-PL" sz="1200" dirty="0"/>
              <a:t>, testy automatyczne, środowiskowe, wytrzymałościowe (np. wibracyjne, cyklu termicznego), optyczne (AOI), rentgenowskie (X-</a:t>
            </a:r>
            <a:r>
              <a:rPr lang="pl-PL" sz="1200" dirty="0" err="1"/>
              <a:t>ray</a:t>
            </a:r>
            <a:r>
              <a:rPr lang="pl-PL" sz="1200" dirty="0"/>
              <a:t>), testy czystości jonowej, testy powłok </a:t>
            </a:r>
            <a:r>
              <a:rPr lang="pl-PL" sz="1200" dirty="0" smtClean="0"/>
              <a:t>lakierniczych </a:t>
            </a:r>
            <a:r>
              <a:rPr lang="pl-PL" sz="1200" dirty="0"/>
              <a:t>(CCI), testy parametrów elektrycznych oraz testy oprogramowania wbudowanego</a:t>
            </a:r>
            <a:r>
              <a:rPr lang="pl-PL" sz="1200" dirty="0" smtClean="0"/>
              <a:t>.</a:t>
            </a:r>
          </a:p>
          <a:p>
            <a:r>
              <a:rPr lang="pl-PL" sz="1200" b="1" dirty="0"/>
              <a:t>Jakie normy i certyfikaty mają znaczenie w testowaniu elektroniki?</a:t>
            </a: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dirty="0"/>
              <a:t>Kluczowe są normy i certyfikaty takie jak CE, FCC, UKCA, </a:t>
            </a:r>
            <a:r>
              <a:rPr lang="pl-PL" sz="1200" dirty="0" err="1"/>
              <a:t>RoHS</a:t>
            </a:r>
            <a:r>
              <a:rPr lang="pl-PL" sz="1200" dirty="0"/>
              <a:t> oraz IPC-A-610</a:t>
            </a:r>
            <a:r>
              <a:rPr lang="pl-PL" sz="1200" dirty="0" smtClean="0"/>
              <a:t>, oraz te </a:t>
            </a:r>
            <a:r>
              <a:rPr lang="pl-PL" sz="1200" dirty="0"/>
              <a:t>które definiują wymagania dotyczące jakości, bezpieczeństwa, kompatybilności elektromagnetycznej i ograniczenia substancji niebezpiecznych</a:t>
            </a:r>
            <a:r>
              <a:rPr lang="pl-PL" sz="1200" dirty="0" smtClean="0"/>
              <a:t>.</a:t>
            </a:r>
          </a:p>
          <a:p>
            <a:r>
              <a:rPr lang="pl-PL" sz="1200" b="1" dirty="0"/>
              <a:t>Czym są testy środowiskowe i dlaczego są istotne?</a:t>
            </a: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dirty="0"/>
              <a:t>Testy środowiskowe sprawdzają odporność urządzeń na ekstremalne warunki, takie jak wilgoć, skrajne temperatury, kurz czy wibracje. Są szczególnie ważne dla elektroniki pracującej w trudnych warunkach, np. w branży morskiej, kolejowej czy </a:t>
            </a:r>
            <a:r>
              <a:rPr lang="pl-PL" sz="1200" dirty="0" smtClean="0"/>
              <a:t>medycznej oraz szeroko rozumianej branży przemysłowej.</a:t>
            </a:r>
          </a:p>
          <a:p>
            <a:r>
              <a:rPr lang="pl-PL" sz="1200" b="1" dirty="0"/>
              <a:t>Jak wygląda proces testowania </a:t>
            </a:r>
            <a:r>
              <a:rPr lang="pl-PL" sz="1200" b="1" dirty="0" smtClean="0"/>
              <a:t>?</a:t>
            </a:r>
            <a:r>
              <a:rPr lang="pl-PL" sz="1200" dirty="0" smtClean="0"/>
              <a:t/>
            </a:r>
            <a:br>
              <a:rPr lang="pl-PL" sz="1200" dirty="0" smtClean="0"/>
            </a:br>
            <a:r>
              <a:rPr lang="pl-PL" sz="1200" dirty="0"/>
              <a:t>Proces testowania </a:t>
            </a:r>
            <a:r>
              <a:rPr lang="pl-PL" sz="1200" dirty="0" smtClean="0"/>
              <a:t>obejmuje zapoznanie się z wymaganiami, funkcjonalnością, harmonogramem i strategią testów. W celu dobrania strategii należy zapoznać się z typami testów, poziomem testów, metodami testów oraz pokryciem testów i przygotować procedury testowe. Następnie przeprowadzamy testy, zgłaszamy wyniki testów w programie lub na platformie.</a:t>
            </a:r>
          </a:p>
          <a:p>
            <a:r>
              <a:rPr lang="pl-PL" sz="1300" b="1" dirty="0"/>
              <a:t>Jakie są wyzwania i trendy w testowaniu </a:t>
            </a:r>
            <a:r>
              <a:rPr lang="pl-PL" sz="1300" b="1" dirty="0" smtClean="0"/>
              <a:t>elektroniki i oprogramowania?</a:t>
            </a:r>
            <a:r>
              <a:rPr lang="pl-PL" sz="1300" dirty="0" smtClean="0"/>
              <a:t/>
            </a:r>
            <a:br>
              <a:rPr lang="pl-PL" sz="1300" dirty="0" smtClean="0"/>
            </a:br>
            <a:r>
              <a:rPr lang="pl-PL" sz="1300" dirty="0"/>
              <a:t>Najważniejsze trendy to rosnąca automatyzacja, wykorzystanie sztucznej inteligencji i uczenia maszynowego do predykcyjnego wykrywania usterek, integracja testowania z całym cyklem życia produktu oraz elastyczność i skalowalność systemów testowych. Przyszłość testowania to większa precyzja, inteligencja systemów i zdolność do przewidywania problemów </a:t>
            </a:r>
            <a:r>
              <a:rPr lang="pl-PL" sz="1300" dirty="0" smtClean="0"/>
              <a:t>zanim </a:t>
            </a:r>
            <a:r>
              <a:rPr lang="pl-PL" sz="1300" dirty="0"/>
              <a:t>się pojawią</a:t>
            </a:r>
            <a:r>
              <a:rPr lang="pl-PL" sz="1300" dirty="0" smtClean="0"/>
              <a:t>.</a:t>
            </a:r>
          </a:p>
          <a:p>
            <a:r>
              <a:rPr lang="pl-PL" sz="1300" b="1" dirty="0"/>
              <a:t>Dlaczego </a:t>
            </a:r>
            <a:r>
              <a:rPr lang="pl-PL" sz="1300" b="1" dirty="0" err="1"/>
              <a:t>traceability</a:t>
            </a:r>
            <a:r>
              <a:rPr lang="pl-PL" sz="1300" b="1" dirty="0"/>
              <a:t> jest ważne w testowaniu </a:t>
            </a:r>
            <a:r>
              <a:rPr lang="pl-PL" sz="1300" b="1" dirty="0" smtClean="0"/>
              <a:t>elektroniki i oprogramowania?</a:t>
            </a:r>
            <a:r>
              <a:rPr lang="pl-PL" sz="1300" dirty="0" smtClean="0"/>
              <a:t/>
            </a:r>
            <a:br>
              <a:rPr lang="pl-PL" sz="1300" dirty="0" smtClean="0"/>
            </a:br>
            <a:r>
              <a:rPr lang="pl-PL" sz="1300" dirty="0" err="1"/>
              <a:t>Traceability</a:t>
            </a:r>
            <a:r>
              <a:rPr lang="pl-PL" sz="1300" dirty="0"/>
              <a:t>, czyli możliwość </a:t>
            </a:r>
            <a:r>
              <a:rPr lang="pl-PL" sz="1300" dirty="0" smtClean="0"/>
              <a:t>śledzenia testów, </a:t>
            </a:r>
            <a:r>
              <a:rPr lang="pl-PL" sz="1300" dirty="0"/>
              <a:t>komponentów i </a:t>
            </a:r>
            <a:r>
              <a:rPr lang="pl-PL" sz="1300" dirty="0" smtClean="0"/>
              <a:t>procesów, </a:t>
            </a:r>
            <a:r>
              <a:rPr lang="pl-PL" sz="1300" dirty="0"/>
              <a:t>pozwala na szybkie zidentyfikowanie źródła problemu, ograniczenie skali ewentualnych </a:t>
            </a:r>
            <a:r>
              <a:rPr lang="pl-PL" sz="1300" dirty="0" smtClean="0"/>
              <a:t>napraw, kosztów i spełnienie wymagania </a:t>
            </a:r>
            <a:r>
              <a:rPr lang="pl-PL" sz="1300" b="1" dirty="0" smtClean="0"/>
              <a:t>Testowania, które mówi aby wykrywać usterki na jak najwcześniejszym etapie.</a:t>
            </a:r>
            <a:endParaRPr lang="en-US" sz="1300" b="1" dirty="0"/>
          </a:p>
        </p:txBody>
      </p:sp>
      <p:sp>
        <p:nvSpPr>
          <p:cNvPr id="4" name="pole tekstowe 3"/>
          <p:cNvSpPr txBox="1"/>
          <p:nvPr/>
        </p:nvSpPr>
        <p:spPr>
          <a:xfrm>
            <a:off x="1136885" y="6296025"/>
            <a:ext cx="98549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dirty="0" smtClean="0"/>
              <a:t>Karol Wiśniewski      </a:t>
            </a:r>
            <a:r>
              <a:rPr lang="en-US" sz="1200" dirty="0"/>
              <a:t>795 738 </a:t>
            </a:r>
            <a:r>
              <a:rPr lang="en-US" sz="1200" dirty="0" smtClean="0"/>
              <a:t>507</a:t>
            </a:r>
            <a:r>
              <a:rPr lang="pl-PL" sz="1200" dirty="0"/>
              <a:t> </a:t>
            </a:r>
            <a:r>
              <a:rPr lang="pl-PL" sz="1200" dirty="0" smtClean="0"/>
              <a:t>        </a:t>
            </a:r>
            <a:r>
              <a:rPr lang="en-US" sz="1200" dirty="0" smtClean="0">
                <a:hlinkClick r:id="rId2"/>
              </a:rPr>
              <a:t>engineer.wka@gmail.com</a:t>
            </a:r>
            <a:r>
              <a:rPr lang="pl-PL" sz="1200" dirty="0"/>
              <a:t> </a:t>
            </a:r>
            <a:r>
              <a:rPr lang="pl-PL" sz="1200" dirty="0" smtClean="0"/>
              <a:t>             </a:t>
            </a:r>
            <a:r>
              <a:rPr lang="en-US" sz="1200" i="1" u="sng" dirty="0" smtClean="0">
                <a:hlinkClick r:id="rId3"/>
              </a:rPr>
              <a:t>LinkedIn</a:t>
            </a:r>
            <a:r>
              <a:rPr lang="pl-PL" sz="1200" dirty="0" smtClean="0"/>
              <a:t>                </a:t>
            </a:r>
            <a:r>
              <a:rPr lang="pl-PL" sz="1200" u="sng" dirty="0" err="1" smtClean="0">
                <a:hlinkClick r:id="rId4"/>
              </a:rPr>
              <a:t>Github</a:t>
            </a:r>
            <a:r>
              <a:rPr lang="pl-PL" sz="1200" dirty="0"/>
              <a:t>	</a:t>
            </a:r>
            <a:r>
              <a:rPr lang="pl-PL" sz="1200" dirty="0" smtClean="0"/>
              <a:t>   Poland</a:t>
            </a:r>
            <a:r>
              <a:rPr lang="pl-PL" sz="1200" u="sng" dirty="0" smtClean="0"/>
              <a:t>         </a:t>
            </a:r>
            <a:endParaRPr lang="en-US" sz="120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98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124</Words>
  <Application>Microsoft Office PowerPoint</Application>
  <PresentationFormat>Panoramiczny</PresentationFormat>
  <Paragraphs>93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Plus Jakarta Sans</vt:lpstr>
      <vt:lpstr>Wingdings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Karol Wiśniewski</dc:creator>
  <cp:lastModifiedBy>Karol Wiśniewski</cp:lastModifiedBy>
  <cp:revision>46</cp:revision>
  <dcterms:created xsi:type="dcterms:W3CDTF">2026-01-06T12:05:20Z</dcterms:created>
  <dcterms:modified xsi:type="dcterms:W3CDTF">2026-01-06T17:06:56Z</dcterms:modified>
</cp:coreProperties>
</file>