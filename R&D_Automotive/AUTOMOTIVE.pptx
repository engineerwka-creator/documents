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5" r:id="rId3"/>
    <p:sldId id="276" r:id="rId4"/>
    <p:sldId id="277" r:id="rId5"/>
    <p:sldId id="268" r:id="rId6"/>
    <p:sldId id="278" r:id="rId7"/>
    <p:sldId id="271" r:id="rId8"/>
    <p:sldId id="272" r:id="rId9"/>
    <p:sldId id="273" r:id="rId10"/>
    <p:sldId id="274" r:id="rId11"/>
    <p:sldId id="269" r:id="rId12"/>
    <p:sldId id="266" r:id="rId13"/>
    <p:sldId id="264" r:id="rId14"/>
    <p:sldId id="267" r:id="rId15"/>
    <p:sldId id="263" r:id="rId16"/>
    <p:sldId id="265" r:id="rId17"/>
    <p:sldId id="260" r:id="rId18"/>
    <p:sldId id="261" r:id="rId19"/>
    <p:sldId id="256" r:id="rId20"/>
    <p:sldId id="257" r:id="rId21"/>
    <p:sldId id="258" r:id="rId22"/>
    <p:sldId id="259" r:id="rId23"/>
    <p:sldId id="26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7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49337" y="27253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598160"/>
              </p:ext>
            </p:extLst>
          </p:nvPr>
        </p:nvGraphicFramePr>
        <p:xfrm>
          <a:off x="411479" y="776816"/>
          <a:ext cx="1132713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59457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np. System musi wykrywać poślizg i stabilizować tor jazdy.</a:t>
                      </a: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ESP ECU komunikuje się z Engine ECU po CAN.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594572">
                <a:tc>
                  <a:txBody>
                    <a:bodyPr/>
                    <a:lstStyle/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Implementacja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kalibracja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49337" y="272534"/>
            <a:ext cx="232217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308161"/>
              </p:ext>
            </p:extLst>
          </p:nvPr>
        </p:nvGraphicFramePr>
        <p:xfrm>
          <a:off x="411479" y="776816"/>
          <a:ext cx="1132713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59457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algorytmy</a:t>
                      </a: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komunikacja CAN/LIN</a:t>
                      </a:r>
                      <a:endParaRPr lang="pl-PL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594572">
                <a:tc>
                  <a:txBody>
                    <a:bodyPr/>
                    <a:lstStyle/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  <a:endParaRPr lang="pl-PL" b="1" dirty="0"/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endParaRPr lang="pl-PL" b="1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756820"/>
              </p:ext>
            </p:extLst>
          </p:nvPr>
        </p:nvGraphicFramePr>
        <p:xfrm>
          <a:off x="501802" y="719666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230249"/>
              </p:ext>
            </p:extLst>
          </p:nvPr>
        </p:nvGraphicFramePr>
        <p:xfrm>
          <a:off x="501802" y="3518622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50327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Chodzi nie o to, czy system działa, tylko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czy zachowa się bezpiecznie, gdy przestanie działać poprawnie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816294"/>
              </p:ext>
            </p:extLst>
          </p:nvPr>
        </p:nvGraphicFramePr>
        <p:xfrm>
          <a:off x="325674" y="3713387"/>
          <a:ext cx="1122332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(HARA)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Z tego powstaje </a:t>
                      </a:r>
                      <a:r>
                        <a:rPr lang="pl-PL" b="1" dirty="0" smtClean="0"/>
                        <a:t>ASIL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106969"/>
              </p:ext>
            </p:extLst>
          </p:nvPr>
        </p:nvGraphicFramePr>
        <p:xfrm>
          <a:off x="657922" y="474341"/>
          <a:ext cx="1102855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872243078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27668236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</a:t>
                      </a:r>
                    </a:p>
                    <a:p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b="1" dirty="0" smtClean="0"/>
                        <a:t>ASIL A</a:t>
                      </a:r>
                      <a:r>
                        <a:rPr lang="pl-PL" dirty="0" smtClean="0"/>
                        <a:t> – najniższy</a:t>
                      </a:r>
                    </a:p>
                    <a:p>
                      <a:r>
                        <a:rPr lang="pl-PL" b="1" dirty="0" smtClean="0"/>
                        <a:t>ASIL B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ASIL C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ASIL D</a:t>
                      </a:r>
                      <a:r>
                        <a:rPr lang="pl-PL" dirty="0" smtClean="0"/>
                        <a:t> – najwyższy (np. hamulce, układ kierowniczy)</a:t>
                      </a:r>
                    </a:p>
                    <a:p>
                      <a:r>
                        <a:rPr lang="pl-PL" b="1" dirty="0" smtClean="0"/>
                        <a:t>QM</a:t>
                      </a:r>
                      <a:r>
                        <a:rPr lang="pl-PL" dirty="0" smtClean="0"/>
                        <a:t> – poza zakresem ISO 26262 (brak wymagań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Im wyższy ASIL:</a:t>
                      </a:r>
                    </a:p>
                    <a:p>
                      <a:r>
                        <a:rPr lang="pl-PL" dirty="0" smtClean="0"/>
                        <a:t>tym </a:t>
                      </a:r>
                      <a:r>
                        <a:rPr lang="pl-PL" b="1" dirty="0" smtClean="0"/>
                        <a:t>więcej wymagań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więcej testów</a:t>
                      </a:r>
                    </a:p>
                    <a:p>
                      <a:r>
                        <a:rPr lang="pl-PL" dirty="0" smtClean="0"/>
                        <a:t>więcej formalizmu</a:t>
                      </a:r>
                    </a:p>
                    <a:p>
                      <a:r>
                        <a:rPr lang="pl-PL" dirty="0" smtClean="0"/>
                        <a:t>większa redundancja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4611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1800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</a:t>
            </a:r>
            <a:r>
              <a:rPr lang="pl-PL" sz="1800" b="1" smtClean="0"/>
              <a:t>zakres ADAS</a:t>
            </a:r>
            <a:endParaRPr lang="pl-PL" sz="1800" b="1" dirty="0" smtClean="0"/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682083" y="743957"/>
            <a:ext cx="10515600" cy="4351338"/>
          </a:xfrm>
        </p:spPr>
        <p:txBody>
          <a:bodyPr>
            <a:normAutofit/>
          </a:bodyPr>
          <a:lstStyle/>
          <a:p>
            <a:r>
              <a:rPr lang="pl-PL" sz="1800" b="1" dirty="0" smtClean="0"/>
              <a:t>Wady / ograniczenia</a:t>
            </a:r>
          </a:p>
          <a:p>
            <a:r>
              <a:rPr lang="pl-PL" sz="1800" dirty="0" smtClean="0"/>
              <a:t>Systemy ADAS nie zastępują kierowcy – wymagają ciągłej uwagi i gotowości do przejęcia kontroli.</a:t>
            </a:r>
          </a:p>
          <a:p>
            <a:r>
              <a:rPr lang="pl-PL" sz="1800" dirty="0" smtClean="0"/>
              <a:t>Wymagana jest kalibracja czujników (po kolizji, wymianie szyby, naprawie) – nieprawidłowo działające systemy mogą być mniej skuteczne lub powodować fałszywe alarmy.</a:t>
            </a:r>
          </a:p>
          <a:p>
            <a:r>
              <a:rPr lang="pl-PL" sz="1800" dirty="0" smtClean="0"/>
              <a:t>Czasem systemy mogą być mniej skuteczne w ekstremalnych warunkach pogodowych lub gdy czujniki są zabrudzone/zakryte.</a:t>
            </a:r>
          </a:p>
          <a:p>
            <a:r>
              <a:rPr lang="pl-PL" sz="1800" dirty="0" smtClean="0"/>
              <a:t>Koszty naprawy i utrzymania mogą być wyższe w pojazdach z zaawansowanymi funkcjami ADAS.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UDS </a:t>
            </a:r>
            <a:r>
              <a:rPr lang="en-US" dirty="0"/>
              <a:t>Unified Diagnostic Services</a:t>
            </a:r>
            <a:r>
              <a:rPr lang="pl-PL" dirty="0" smtClean="0"/>
              <a:t> </a:t>
            </a:r>
            <a:r>
              <a:rPr lang="pl-PL" dirty="0"/>
              <a:t>to protokół diagnostyczny, którym tester diagnostyczny </a:t>
            </a:r>
            <a:r>
              <a:rPr lang="pl-PL" dirty="0" smtClean="0"/>
              <a:t>(OBD)komunikuje </a:t>
            </a:r>
            <a:r>
              <a:rPr lang="pl-PL" dirty="0"/>
              <a:t>się z </a:t>
            </a:r>
            <a:r>
              <a:rPr lang="pl-PL" dirty="0" smtClean="0"/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190983"/>
              </p:ext>
            </p:extLst>
          </p:nvPr>
        </p:nvGraphicFramePr>
        <p:xfrm>
          <a:off x="572428" y="3469545"/>
          <a:ext cx="109616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VIN</a:t>
                      </a:r>
                    </a:p>
                    <a:p>
                      <a:r>
                        <a:rPr lang="pl-PL" dirty="0" smtClean="0"/>
                        <a:t>wersja software</a:t>
                      </a:r>
                    </a:p>
                    <a:p>
                      <a:r>
                        <a:rPr lang="pl-PL" dirty="0" smtClean="0"/>
                        <a:t>napięcie</a:t>
                      </a:r>
                    </a:p>
                    <a:p>
                      <a:r>
                        <a:rPr lang="pl-PL" dirty="0" smtClean="0"/>
                        <a:t>temperatury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odczytać DTC</a:t>
                      </a:r>
                    </a:p>
                    <a:p>
                      <a:r>
                        <a:rPr lang="pl-PL" dirty="0" smtClean="0"/>
                        <a:t>odczytać status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kodowania</a:t>
            </a:r>
            <a:r>
              <a:rPr lang="pl-PL" b="1" dirty="0" smtClean="0"/>
              <a:t>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1800" b="1" dirty="0" smtClean="0"/>
              <a:t>CAN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u="sng" dirty="0" smtClean="0">
                <a:solidFill>
                  <a:srgbClr val="7030A0"/>
                </a:solidFill>
              </a:rPr>
              <a:t>CAN 2.0</a:t>
            </a:r>
            <a:r>
              <a:rPr lang="pl-PL" dirty="0"/>
              <a:t> </a:t>
            </a:r>
            <a:r>
              <a:rPr lang="pl-PL" dirty="0" smtClean="0"/>
              <a:t>jest </a:t>
            </a:r>
            <a:r>
              <a:rPr lang="pl-PL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dirty="0" err="1"/>
              <a:t>kbit</a:t>
            </a:r>
            <a:r>
              <a:rPr lang="pl-PL" dirty="0"/>
              <a:t>/s do 1 </a:t>
            </a:r>
            <a:r>
              <a:rPr lang="pl-PL" dirty="0" err="1"/>
              <a:t>Mbit</a:t>
            </a:r>
            <a:r>
              <a:rPr lang="pl-PL" dirty="0"/>
              <a:t>/s.</a:t>
            </a:r>
            <a:endParaRPr lang="en-US" dirty="0"/>
          </a:p>
          <a:p>
            <a:r>
              <a:rPr lang="pl-PL" dirty="0"/>
              <a:t> </a:t>
            </a:r>
            <a:endParaRPr lang="en-US" dirty="0"/>
          </a:p>
          <a:p>
            <a:r>
              <a:rPr lang="pl-PL" i="1" u="sng" dirty="0" smtClean="0">
                <a:solidFill>
                  <a:srgbClr val="FFC000"/>
                </a:solidFill>
              </a:rPr>
              <a:t>CAN </a:t>
            </a:r>
            <a:r>
              <a:rPr lang="pl-PL" i="1" u="sng" dirty="0">
                <a:solidFill>
                  <a:srgbClr val="FFC000"/>
                </a:solidFill>
              </a:rPr>
              <a:t>FD (</a:t>
            </a:r>
            <a:r>
              <a:rPr lang="pl-PL" i="1" u="sng" dirty="0" err="1">
                <a:solidFill>
                  <a:srgbClr val="FFC000"/>
                </a:solidFill>
              </a:rPr>
              <a:t>Flexible</a:t>
            </a:r>
            <a:r>
              <a:rPr lang="pl-PL" i="1" u="sng" dirty="0">
                <a:solidFill>
                  <a:srgbClr val="FFC000"/>
                </a:solidFill>
              </a:rPr>
              <a:t> Data-</a:t>
            </a:r>
            <a:r>
              <a:rPr lang="pl-PL" i="1" u="sng" dirty="0" err="1">
                <a:solidFill>
                  <a:srgbClr val="FFC000"/>
                </a:solidFill>
              </a:rPr>
              <a:t>Rate</a:t>
            </a:r>
            <a:r>
              <a:rPr lang="pl-PL" i="1" u="sng" dirty="0" smtClean="0">
                <a:solidFill>
                  <a:srgbClr val="FFC000"/>
                </a:solidFill>
              </a:rPr>
              <a:t>)</a:t>
            </a:r>
            <a:r>
              <a:rPr lang="pl-PL" dirty="0" smtClean="0"/>
              <a:t>, jest </a:t>
            </a:r>
            <a:r>
              <a:rPr lang="pl-PL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dirty="0"/>
          </a:p>
          <a:p>
            <a:r>
              <a:rPr lang="pl-PL" dirty="0"/>
              <a:t> </a:t>
            </a:r>
            <a:endParaRPr lang="en-US" dirty="0"/>
          </a:p>
          <a:p>
            <a:r>
              <a:rPr lang="pl-PL" dirty="0" err="1" smtClean="0">
                <a:solidFill>
                  <a:srgbClr val="0070C0"/>
                </a:solidFill>
              </a:rPr>
              <a:t>CANopen</a:t>
            </a:r>
            <a:r>
              <a:rPr lang="pl-PL" dirty="0"/>
              <a:t> </a:t>
            </a:r>
            <a:r>
              <a:rPr lang="pl-PL" dirty="0" smtClean="0"/>
              <a:t>jest </a:t>
            </a:r>
            <a:r>
              <a:rPr lang="pl-PL" dirty="0"/>
              <a:t>t</a:t>
            </a:r>
            <a:r>
              <a:rPr lang="pl-PL" dirty="0" smtClean="0"/>
              <a:t>o </a:t>
            </a:r>
            <a:r>
              <a:rPr lang="pl-PL" dirty="0"/>
              <a:t>protokół warstwy aplikacyjnej oparty na standardzie CAN, stosowany głównie w przemyśle, w tym w sterowaniu maszynami i urządzeniami. </a:t>
            </a:r>
            <a:r>
              <a:rPr lang="pl-PL" dirty="0" err="1"/>
              <a:t>CANopen</a:t>
            </a:r>
            <a:r>
              <a:rPr lang="pl-PL" dirty="0"/>
              <a:t> definiuje zestaw standardowych wiadomości i usług, które umożliwiają komunikację między różnymi urządzeniami w sieci CAN.</a:t>
            </a:r>
            <a:endParaRPr lang="en-US" dirty="0"/>
          </a:p>
          <a:p>
            <a:r>
              <a:rPr lang="pl-PL" dirty="0"/>
              <a:t> </a:t>
            </a:r>
            <a:endParaRPr lang="en-US" dirty="0"/>
          </a:p>
          <a:p>
            <a:r>
              <a:rPr lang="pl-PL" dirty="0" err="1" smtClean="0">
                <a:solidFill>
                  <a:srgbClr val="00B050"/>
                </a:solidFill>
              </a:rPr>
              <a:t>DeviceNet</a:t>
            </a:r>
            <a:r>
              <a:rPr lang="pl-PL" dirty="0" smtClean="0"/>
              <a:t> jest </a:t>
            </a:r>
            <a:r>
              <a:rPr lang="pl-PL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dirty="0"/>
          </a:p>
          <a:p>
            <a:r>
              <a:rPr lang="pl-PL" dirty="0"/>
              <a:t> </a:t>
            </a:r>
            <a:endParaRPr lang="en-US" dirty="0"/>
          </a:p>
          <a:p>
            <a:r>
              <a:rPr lang="pl-PL" dirty="0" smtClean="0">
                <a:solidFill>
                  <a:srgbClr val="FF0000"/>
                </a:solidFill>
              </a:rPr>
              <a:t>J1939</a:t>
            </a:r>
            <a:r>
              <a:rPr lang="pl-PL" dirty="0"/>
              <a:t> </a:t>
            </a:r>
            <a:r>
              <a:rPr lang="pl-PL" dirty="0" smtClean="0"/>
              <a:t>jest to </a:t>
            </a:r>
            <a:r>
              <a:rPr lang="pl-PL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dirty="0" smtClean="0"/>
              <a:t>.</a:t>
            </a:r>
            <a:endParaRPr lang="en-US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315935"/>
              </p:ext>
            </p:extLst>
          </p:nvPr>
        </p:nvGraphicFramePr>
        <p:xfrm>
          <a:off x="938561" y="662619"/>
          <a:ext cx="10515600" cy="3474720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dirty="0" err="1"/>
                        <a:t>Cecha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EtherNet</a:t>
                      </a:r>
                      <a:r>
                        <a:rPr lang="en-US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Profibus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 err="1"/>
                        <a:t>Warstwa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 1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Wysoka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Średnia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Minimalna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Minimalna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Fizyczna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Starsze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linie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1877</Words>
  <Application>Microsoft Office PowerPoint</Application>
  <PresentationFormat>Panoramiczny</PresentationFormat>
  <Paragraphs>389</Paragraphs>
  <Slides>23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CAN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53</cp:revision>
  <dcterms:created xsi:type="dcterms:W3CDTF">2025-10-22T10:22:32Z</dcterms:created>
  <dcterms:modified xsi:type="dcterms:W3CDTF">2026-02-04T16:25:22Z</dcterms:modified>
</cp:coreProperties>
</file>