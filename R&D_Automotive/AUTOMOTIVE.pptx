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83" r:id="rId2"/>
    <p:sldId id="270" r:id="rId3"/>
    <p:sldId id="276" r:id="rId4"/>
    <p:sldId id="275" r:id="rId5"/>
    <p:sldId id="277" r:id="rId6"/>
    <p:sldId id="281" r:id="rId7"/>
    <p:sldId id="268" r:id="rId8"/>
    <p:sldId id="282" r:id="rId9"/>
    <p:sldId id="278" r:id="rId10"/>
    <p:sldId id="279" r:id="rId11"/>
    <p:sldId id="271" r:id="rId12"/>
    <p:sldId id="272" r:id="rId13"/>
    <p:sldId id="273" r:id="rId14"/>
    <p:sldId id="280" r:id="rId15"/>
    <p:sldId id="274" r:id="rId16"/>
    <p:sldId id="269" r:id="rId17"/>
    <p:sldId id="266" r:id="rId18"/>
    <p:sldId id="264" r:id="rId19"/>
    <p:sldId id="267" r:id="rId20"/>
    <p:sldId id="263" r:id="rId21"/>
    <p:sldId id="265" r:id="rId22"/>
    <p:sldId id="260" r:id="rId23"/>
    <p:sldId id="261" r:id="rId24"/>
    <p:sldId id="256" r:id="rId25"/>
    <p:sldId id="257" r:id="rId26"/>
    <p:sldId id="258" r:id="rId27"/>
    <p:sldId id="259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Styl pośredni 4 — Ak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Styl pośredni 4 — Ak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 pośredni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7CE84F3-28C3-443E-9E96-99CF82512B78}" styleName="Styl ciemny 1 — Ak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Styl pośredni 4 — Ak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Styl pośredni 4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Styl pośredni 3 — Ak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441" autoAdjust="0"/>
  </p:normalViewPr>
  <p:slideViewPr>
    <p:cSldViewPr snapToGrid="0">
      <p:cViewPr varScale="1">
        <p:scale>
          <a:sx n="91" d="100"/>
          <a:sy n="91" d="100"/>
        </p:scale>
        <p:origin x="5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193A8-9921-413C-B497-C8E23C4C867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6B1EE-22A8-4E05-940A-4F10EB69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6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engineerwka-creator/Python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hyperlink" Target="mailto:Engineer.wka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2.jpeg"/><Relationship Id="rId10" Type="http://schemas.openxmlformats.org/officeDocument/2006/relationships/image" Target="../media/image6.jpeg"/><Relationship Id="rId4" Type="http://schemas.openxmlformats.org/officeDocument/2006/relationships/hyperlink" Target="https://www.linkedin.com/in/karol-w-b95b45174/" TargetMode="External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99697" y="6198367"/>
            <a:ext cx="11792606" cy="381109"/>
          </a:xfrm>
        </p:spPr>
        <p:txBody>
          <a:bodyPr>
            <a:normAutofit/>
          </a:bodyPr>
          <a:lstStyle/>
          <a:p>
            <a:r>
              <a:rPr lang="pl-PL" sz="1200" b="1" dirty="0" smtClean="0"/>
              <a:t>		</a:t>
            </a:r>
            <a:r>
              <a:rPr lang="pl-PL" sz="1200" b="1" dirty="0">
                <a:hlinkClick r:id="rId2"/>
              </a:rPr>
              <a:t> Engineer.wka@gmail.com </a:t>
            </a:r>
            <a:r>
              <a:rPr lang="pl-PL" sz="1200" b="1" dirty="0" smtClean="0"/>
              <a:t>		+48 795 738 507	</a:t>
            </a:r>
            <a:r>
              <a:rPr lang="pl-PL" sz="1200" b="1" dirty="0" err="1" smtClean="0"/>
              <a:t>Linkedin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Github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Python</a:t>
            </a:r>
            <a:endParaRPr lang="en-US" sz="1200" b="1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80386"/>
          </a:xfrm>
          <a:prstGeom prst="rect">
            <a:avLst/>
          </a:prstGeom>
        </p:spPr>
      </p:pic>
      <p:pic>
        <p:nvPicPr>
          <p:cNvPr id="3076" name="Picture 4" descr="Linkedin amerikanisches Geschäftslogo. Social-Media-Symbol. schwarzes  Piktogramm. Vektor-Illustration isoliert auf weißem Hintergrund 3692704  Vektor Kunst bei Vecteezy">
            <a:hlinkClick r:id="rId4"/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97" y="6210038"/>
            <a:ext cx="300868" cy="30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iktogramy telefon – wektory. Pobierz wysokiej jakości darmowe wektory z  Freepik | Freepik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677" y="6256272"/>
            <a:ext cx="269874" cy="269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GitHub Logo: valor, história, PN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2784" y="6221627"/>
            <a:ext cx="535329" cy="301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Python data analysis library Icons, Logos, Symbols – Free Download PNG, SVG">
            <a:hlinkClick r:id="rId8"/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719" y="6235252"/>
            <a:ext cx="325812" cy="32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Email symbol Zdjęcia - darmowe pobieranie na Freepik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75" y="6274805"/>
            <a:ext cx="355855" cy="199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6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004053"/>
              </p:ext>
            </p:extLst>
          </p:nvPr>
        </p:nvGraphicFramePr>
        <p:xfrm>
          <a:off x="433781" y="588789"/>
          <a:ext cx="11327130" cy="3523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1632974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System musi wykrywać poślizg i stabilizować tor jazdy</a:t>
                      </a: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ESP ECU komunikuje się z Engine ECU po CAN.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189081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Implementacja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kalibracja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  <p:sp>
        <p:nvSpPr>
          <p:cNvPr id="6" name="Prostokąt 5"/>
          <p:cNvSpPr/>
          <p:nvPr/>
        </p:nvSpPr>
        <p:spPr>
          <a:xfrm>
            <a:off x="460130" y="16102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sp>
        <p:nvSpPr>
          <p:cNvPr id="7" name="Prostokąt 6"/>
          <p:cNvSpPr/>
          <p:nvPr/>
        </p:nvSpPr>
        <p:spPr>
          <a:xfrm>
            <a:off x="9403394" y="4197756"/>
            <a:ext cx="2322174" cy="369332"/>
          </a:xfrm>
          <a:prstGeom prst="rect">
            <a:avLst/>
          </a:prstGeom>
          <a:solidFill>
            <a:schemeClr val="accent6"/>
          </a:soli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11024"/>
              </p:ext>
            </p:extLst>
          </p:nvPr>
        </p:nvGraphicFramePr>
        <p:xfrm>
          <a:off x="422631" y="4644888"/>
          <a:ext cx="11327128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31782">
                  <a:extLst>
                    <a:ext uri="{9D8B030D-6E8A-4147-A177-3AD203B41FA5}">
                      <a16:colId xmlns:a16="http://schemas.microsoft.com/office/drawing/2014/main" val="3902080005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305720427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009427091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440921494"/>
                    </a:ext>
                  </a:extLst>
                </a:gridCol>
              </a:tblGrid>
              <a:tr h="1878568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algorytmy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komunikacja CAN/LIN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685941"/>
              </p:ext>
            </p:extLst>
          </p:nvPr>
        </p:nvGraphicFramePr>
        <p:xfrm>
          <a:off x="1313793" y="251297"/>
          <a:ext cx="9438290" cy="28501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71914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471914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2850153">
                <a:tc>
                  <a:txBody>
                    <a:bodyPr/>
                    <a:lstStyle/>
                    <a:p>
                      <a:r>
                        <a:rPr lang="en-US" dirty="0" smtClean="0"/>
                        <a:t>Verification (</a:t>
                      </a:r>
                      <a:r>
                        <a:rPr lang="en-US" dirty="0" err="1" smtClean="0"/>
                        <a:t>lewa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strona</a:t>
                      </a:r>
                      <a:r>
                        <a:rPr lang="en-US" dirty="0" smtClean="0"/>
                        <a:t> V →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środkowa</a:t>
                      </a:r>
                      <a:r>
                        <a:rPr lang="en-US" dirty="0" smtClean="0"/>
                        <a:t>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code review</a:t>
                      </a:r>
                    </a:p>
                    <a:p>
                      <a:r>
                        <a:rPr lang="en-US" dirty="0" smtClean="0"/>
                        <a:t>static analysis</a:t>
                      </a:r>
                    </a:p>
                    <a:p>
                      <a:r>
                        <a:rPr lang="en-US" dirty="0" smtClean="0"/>
                        <a:t>unit test</a:t>
                      </a:r>
                    </a:p>
                    <a:p>
                      <a:r>
                        <a:rPr lang="en-US" dirty="0" smtClean="0"/>
                        <a:t>integration test</a:t>
                      </a:r>
                    </a:p>
                    <a:p>
                      <a:r>
                        <a:rPr lang="en-US" dirty="0" smtClean="0"/>
                        <a:t>requirement-based test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wymaganiem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Validation (</a:t>
                      </a:r>
                      <a:r>
                        <a:rPr lang="en-US" dirty="0" err="1" smtClean="0"/>
                        <a:t>góra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V)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vehicle test</a:t>
                      </a:r>
                    </a:p>
                    <a:p>
                      <a:r>
                        <a:rPr lang="en-US" dirty="0" smtClean="0"/>
                        <a:t>track test</a:t>
                      </a:r>
                    </a:p>
                    <a:p>
                      <a:r>
                        <a:rPr lang="en-US" dirty="0" smtClean="0"/>
                        <a:t>customer scenario test</a:t>
                      </a:r>
                    </a:p>
                    <a:p>
                      <a:r>
                        <a:rPr lang="en-US" dirty="0" smtClean="0"/>
                        <a:t>usability / drivability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oczekiwaniem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użytkownika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905436"/>
              </p:ext>
            </p:extLst>
          </p:nvPr>
        </p:nvGraphicFramePr>
        <p:xfrm>
          <a:off x="890752" y="379108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873338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48729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4939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Verification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Validation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280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Pytanie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dobrze zrobiliśmy?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zrobiliśmy właściwą rzecz?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36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Porównanie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Specyfikacja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Real world / user need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47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Gdzie w 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środek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top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9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ASPICE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SWE.5, SWE.6, SYS.4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79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52865"/>
              </p:ext>
            </p:extLst>
          </p:nvPr>
        </p:nvGraphicFramePr>
        <p:xfrm>
          <a:off x="501802" y="435887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502580"/>
              </p:ext>
            </p:extLst>
          </p:nvPr>
        </p:nvGraphicFramePr>
        <p:xfrm>
          <a:off x="501802" y="3234843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  <p:sp>
        <p:nvSpPr>
          <p:cNvPr id="2" name="Prostokąt 1"/>
          <p:cNvSpPr/>
          <p:nvPr/>
        </p:nvSpPr>
        <p:spPr>
          <a:xfrm>
            <a:off x="501802" y="5625929"/>
            <a:ext cx="111958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👉 ASPICE to branżowy model oceny dojrzałości procesów system i software engineering w </a:t>
            </a:r>
            <a:r>
              <a:rPr lang="pl-PL" b="1" dirty="0" err="1"/>
              <a:t>automotive</a:t>
            </a:r>
            <a:r>
              <a:rPr lang="pl-PL" b="1" dirty="0"/>
              <a:t>, używany do zapewnienia jakości, </a:t>
            </a:r>
            <a:r>
              <a:rPr lang="pl-PL" b="1" dirty="0" err="1"/>
              <a:t>traceability</a:t>
            </a:r>
            <a:r>
              <a:rPr lang="pl-PL" b="1" dirty="0"/>
              <a:t> i powtarzalności </a:t>
            </a:r>
            <a:r>
              <a:rPr lang="pl-PL" b="1" dirty="0" err="1"/>
              <a:t>developmentu</a:t>
            </a:r>
            <a:r>
              <a:rPr lang="pl-PL" b="1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132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04161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48843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027125"/>
              </p:ext>
            </p:extLst>
          </p:nvPr>
        </p:nvGraphicFramePr>
        <p:xfrm>
          <a:off x="156117" y="178420"/>
          <a:ext cx="11853746" cy="647885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853746">
                  <a:extLst>
                    <a:ext uri="{9D8B030D-6E8A-4147-A177-3AD203B41FA5}">
                      <a16:colId xmlns:a16="http://schemas.microsoft.com/office/drawing/2014/main" val="4050622298"/>
                    </a:ext>
                  </a:extLst>
                </a:gridCol>
              </a:tblGrid>
              <a:tr h="6478858">
                <a:tc>
                  <a:txBody>
                    <a:bodyPr/>
                    <a:lstStyle/>
                    <a:p>
                      <a:r>
                        <a:rPr lang="pl-PL" b="1" dirty="0" smtClean="0"/>
                        <a:t>ASPICE (Automotive SPICE)</a:t>
                      </a:r>
                      <a:r>
                        <a:rPr lang="pl-PL" dirty="0" smtClean="0"/>
                        <a:t> to </a:t>
                      </a:r>
                      <a:r>
                        <a:rPr lang="pl-PL" b="1" dirty="0" smtClean="0"/>
                        <a:t>model oceny i doskonalenia procesów inżynierskich</a:t>
                      </a:r>
                      <a:r>
                        <a:rPr lang="pl-PL" dirty="0" smtClean="0"/>
                        <a:t> używany w branży </a:t>
                      </a:r>
                      <a:r>
                        <a:rPr lang="pl-PL" dirty="0" err="1" smtClean="0"/>
                        <a:t>automotive</a:t>
                      </a:r>
                      <a:r>
                        <a:rPr lang="pl-PL" dirty="0" smtClean="0"/>
                        <a:t> – głównie do oceny jakości procesów tworzenia systemów i oprogramowania w pojazdach (np. ECU).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ASPICE – </a:t>
                      </a:r>
                      <a:r>
                        <a:rPr lang="pl-PL" b="1" dirty="0" smtClean="0"/>
                        <a:t>Automotive </a:t>
                      </a:r>
                      <a:r>
                        <a:rPr lang="en-US" b="1" dirty="0" smtClean="0"/>
                        <a:t>Software Process Improvement and Capability Determination</a:t>
                      </a:r>
                      <a:r>
                        <a:rPr lang="pl-PL" b="1" dirty="0" smtClean="0"/>
                        <a:t>.</a:t>
                      </a:r>
                    </a:p>
                    <a:p>
                      <a:endParaRPr lang="pl-PL" b="1" dirty="0" smtClean="0"/>
                    </a:p>
                    <a:p>
                      <a:r>
                        <a:rPr lang="pl-PL" dirty="0" smtClean="0"/>
                        <a:t>🏗 Co dokładnie opisuje ASPICE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2043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381487"/>
              </p:ext>
            </p:extLst>
          </p:nvPr>
        </p:nvGraphicFramePr>
        <p:xfrm>
          <a:off x="256478" y="1940312"/>
          <a:ext cx="11608420" cy="457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24907">
                  <a:extLst>
                    <a:ext uri="{9D8B030D-6E8A-4147-A177-3AD203B41FA5}">
                      <a16:colId xmlns:a16="http://schemas.microsoft.com/office/drawing/2014/main" val="2178209201"/>
                    </a:ext>
                  </a:extLst>
                </a:gridCol>
                <a:gridCol w="4683513">
                  <a:extLst>
                    <a:ext uri="{9D8B030D-6E8A-4147-A177-3AD203B41FA5}">
                      <a16:colId xmlns:a16="http://schemas.microsoft.com/office/drawing/2014/main" val="3911440825"/>
                    </a:ext>
                  </a:extLst>
                </a:gridCol>
              </a:tblGrid>
              <a:tr h="457199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dirty="0" err="1" smtClean="0"/>
                        <a:t>Procesy</a:t>
                      </a:r>
                      <a:r>
                        <a:rPr lang="en-US" dirty="0" smtClean="0"/>
                        <a:t> (CO </a:t>
                      </a:r>
                      <a:r>
                        <a:rPr lang="en-US" dirty="0" err="1" smtClean="0"/>
                        <a:t>robisz</a:t>
                      </a:r>
                      <a:r>
                        <a:rPr lang="pl-PL" dirty="0" smtClean="0"/>
                        <a:t>?</a:t>
                      </a:r>
                      <a:r>
                        <a:rPr lang="en-US" dirty="0" smtClean="0"/>
                        <a:t>)</a:t>
                      </a:r>
                      <a:r>
                        <a:rPr lang="pl-PL" dirty="0" smtClean="0"/>
                        <a:t>, np.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dirty="0" smtClean="0"/>
                    </a:p>
                    <a:p>
                      <a:r>
                        <a:rPr lang="pl-PL" dirty="0" smtClean="0"/>
                        <a:t>SYS - </a:t>
                      </a:r>
                      <a:r>
                        <a:rPr lang="en-US" dirty="0" smtClean="0"/>
                        <a:t>System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pl-PL" dirty="0" smtClean="0"/>
                        <a:t>SWE - </a:t>
                      </a:r>
                      <a:r>
                        <a:rPr lang="en-US" dirty="0" smtClean="0"/>
                        <a:t>Software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SUP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Supporting processes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err="1" smtClean="0"/>
                        <a:t>config</a:t>
                      </a:r>
                      <a:r>
                        <a:rPr lang="en-US" dirty="0" smtClean="0"/>
                        <a:t>, QA, change management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MAN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Management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smtClean="0"/>
                        <a:t>project, risk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2. </a:t>
                      </a:r>
                      <a:r>
                        <a:rPr lang="pl-PL" dirty="0" err="1" smtClean="0"/>
                        <a:t>Capability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Levels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475862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9225"/>
              </p:ext>
            </p:extLst>
          </p:nvPr>
        </p:nvGraphicFramePr>
        <p:xfrm>
          <a:off x="7283603" y="2505555"/>
          <a:ext cx="4490225" cy="2595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8381">
                  <a:extLst>
                    <a:ext uri="{9D8B030D-6E8A-4147-A177-3AD203B41FA5}">
                      <a16:colId xmlns:a16="http://schemas.microsoft.com/office/drawing/2014/main" val="1191277403"/>
                    </a:ext>
                  </a:extLst>
                </a:gridCol>
                <a:gridCol w="3601844">
                  <a:extLst>
                    <a:ext uri="{9D8B030D-6E8A-4147-A177-3AD203B41FA5}">
                      <a16:colId xmlns:a16="http://schemas.microsoft.com/office/drawing/2014/main" val="3027834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Level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Znaczenie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357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brak procesu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7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działa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05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zarządzany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729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zdefiniowany i standardowy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79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mierzalny i kontrolowany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0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ciągłe doskonalenie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052201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67583"/>
              </p:ext>
            </p:extLst>
          </p:nvPr>
        </p:nvGraphicFramePr>
        <p:xfrm>
          <a:off x="312233" y="3988915"/>
          <a:ext cx="6802243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521017">
                  <a:extLst>
                    <a:ext uri="{9D8B030D-6E8A-4147-A177-3AD203B41FA5}">
                      <a16:colId xmlns:a16="http://schemas.microsoft.com/office/drawing/2014/main" val="123653787"/>
                    </a:ext>
                  </a:extLst>
                </a:gridCol>
                <a:gridCol w="3281226">
                  <a:extLst>
                    <a:ext uri="{9D8B030D-6E8A-4147-A177-3AD203B41FA5}">
                      <a16:colId xmlns:a16="http://schemas.microsoft.com/office/drawing/2014/main" val="2345860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SYS.1 — Stakeholder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SWE.1 — SW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675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SYS.2 — System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SWE.2 — SW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0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SYS.3 — System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SWE.3 — Detailed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96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SYS.4 — System Integration &amp;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SWE.4 — Unit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0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SYS.5 — System Qualification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SWE.5 — Unit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87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SWE.6 — Integration &amp; Test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9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52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2554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Chodzi nie o to, czy system działa, tylko czy zachowa się bezpiecznie, gdy przestanie działać poprawnie.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/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882091"/>
              </p:ext>
            </p:extLst>
          </p:nvPr>
        </p:nvGraphicFramePr>
        <p:xfrm>
          <a:off x="325674" y="3713387"/>
          <a:ext cx="1122332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(HARA</a:t>
                      </a:r>
                      <a:r>
                        <a:rPr lang="pl-PL" b="1" baseline="0" dirty="0" smtClean="0"/>
                        <a:t> - </a:t>
                      </a:r>
                      <a:r>
                        <a:rPr lang="en-US" dirty="0" smtClean="0"/>
                        <a:t>Hazard Analysis and Risk Assessment)</a:t>
                      </a:r>
                      <a:endParaRPr lang="pl-PL" b="1" dirty="0" smtClean="0"/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0" y="-301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err="1">
                <a:solidFill>
                  <a:schemeClr val="bg1"/>
                </a:solidFill>
              </a:rPr>
              <a:t>FuSa</a:t>
            </a:r>
            <a:r>
              <a:rPr lang="pl-PL" b="1" dirty="0">
                <a:solidFill>
                  <a:schemeClr val="bg1"/>
                </a:solidFill>
              </a:rPr>
              <a:t> (</a:t>
            </a:r>
            <a:r>
              <a:rPr lang="pl-PL" b="1" dirty="0" err="1">
                <a:solidFill>
                  <a:schemeClr val="bg1"/>
                </a:solidFill>
              </a:rPr>
              <a:t>Functional</a:t>
            </a:r>
            <a:r>
              <a:rPr lang="pl-PL" b="1" dirty="0">
                <a:solidFill>
                  <a:schemeClr val="bg1"/>
                </a:solidFill>
              </a:rPr>
              <a:t> </a:t>
            </a:r>
            <a:r>
              <a:rPr lang="pl-PL" b="1" dirty="0" err="1">
                <a:solidFill>
                  <a:schemeClr val="bg1"/>
                </a:solidFill>
              </a:rPr>
              <a:t>Safety</a:t>
            </a:r>
            <a:r>
              <a:rPr lang="pl-PL" b="1" dirty="0">
                <a:solidFill>
                  <a:schemeClr val="bg1"/>
                </a:solidFill>
              </a:rPr>
              <a:t>)</a:t>
            </a:r>
            <a:r>
              <a:rPr lang="pl-PL" dirty="0">
                <a:solidFill>
                  <a:schemeClr val="bg1"/>
                </a:solidFill>
              </a:rPr>
              <a:t> w </a:t>
            </a:r>
            <a:r>
              <a:rPr lang="pl-PL" dirty="0" err="1">
                <a:solidFill>
                  <a:schemeClr val="bg1"/>
                </a:solidFill>
              </a:rPr>
              <a:t>automotive</a:t>
            </a:r>
            <a:r>
              <a:rPr lang="pl-PL" dirty="0">
                <a:solidFill>
                  <a:schemeClr val="bg1"/>
                </a:solidFill>
              </a:rPr>
              <a:t> oznacza </a:t>
            </a:r>
            <a:r>
              <a:rPr lang="pl-PL" b="1" dirty="0">
                <a:solidFill>
                  <a:schemeClr val="bg1"/>
                </a:solidFill>
              </a:rPr>
              <a:t>bezpieczeństwo funkcjonalne systemów elektrycznych i </a:t>
            </a:r>
            <a:r>
              <a:rPr lang="pl-PL" b="1" dirty="0" smtClean="0">
                <a:solidFill>
                  <a:schemeClr val="bg1"/>
                </a:solidFill>
              </a:rPr>
              <a:t>elektronicznych E\E </a:t>
            </a:r>
            <a:r>
              <a:rPr lang="pl-PL" b="1" dirty="0">
                <a:solidFill>
                  <a:schemeClr val="bg1"/>
                </a:solidFill>
              </a:rPr>
              <a:t>w pojeździe</a:t>
            </a:r>
            <a:r>
              <a:rPr lang="pl-PL" dirty="0">
                <a:solidFill>
                  <a:schemeClr val="bg1"/>
                </a:solidFill>
              </a:rPr>
              <a:t> — czyli zapewnienie, że system działa poprawnie albo przechodzi do bezpiecznego stanu, nawet gdy wystąpi awaria.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Prostokąt 4"/>
          <p:cNvSpPr/>
          <p:nvPr/>
        </p:nvSpPr>
        <p:spPr>
          <a:xfrm>
            <a:off x="0" y="60065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Przykład:</a:t>
            </a:r>
            <a:br>
              <a:rPr lang="pl-PL" dirty="0"/>
            </a:br>
            <a:r>
              <a:rPr lang="pl-PL" dirty="0"/>
              <a:t>👉 Jeśli zawiedzie czujnik pedału hamulca → system musi to wykryć → i np. ograniczyć moc silnika lub włączyć tryb awaryjny.</a:t>
            </a:r>
            <a:endParaRPr lang="en-US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77833"/>
              </p:ext>
            </p:extLst>
          </p:nvPr>
        </p:nvGraphicFramePr>
        <p:xfrm>
          <a:off x="-3" y="1276718"/>
          <a:ext cx="12192002" cy="118872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7977355">
                  <a:extLst>
                    <a:ext uri="{9D8B030D-6E8A-4147-A177-3AD203B41FA5}">
                      <a16:colId xmlns:a16="http://schemas.microsoft.com/office/drawing/2014/main" val="3494275233"/>
                    </a:ext>
                  </a:extLst>
                </a:gridCol>
                <a:gridCol w="4214647">
                  <a:extLst>
                    <a:ext uri="{9D8B030D-6E8A-4147-A177-3AD203B41FA5}">
                      <a16:colId xmlns:a16="http://schemas.microsoft.com/office/drawing/2014/main" val="1459038716"/>
                    </a:ext>
                  </a:extLst>
                </a:gridCol>
              </a:tblGrid>
              <a:tr h="888416">
                <a:tc>
                  <a:txBody>
                    <a:bodyPr/>
                    <a:lstStyle/>
                    <a:p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FuSa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automotive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jest głównie zdefiniowana przez standard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ISO 26262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 który: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opisuje proces projektowania bezpiecznych systemów,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wprowadza poziomy ryzyka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ASIL (A–D)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określa wymagania dla hardware i software.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ASIL A → niskie ryzyko</a:t>
                      </a:r>
                    </a:p>
                    <a:p>
                      <a:r>
                        <a:rPr lang="pl-PL" dirty="0" smtClean="0"/>
                        <a:t>ASIL D → najwyższe ryzyko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789996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902942"/>
              </p:ext>
            </p:extLst>
          </p:nvPr>
        </p:nvGraphicFramePr>
        <p:xfrm>
          <a:off x="0" y="2465437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Koncept bezpieczeństwa (</a:t>
                      </a:r>
                      <a:r>
                        <a:rPr lang="pl-PL" b="1" dirty="0" err="1" smtClean="0"/>
                        <a:t>Concept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Phase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Analiza zagrożeń (Hazard Analysis, HARA)</a:t>
                      </a:r>
                    </a:p>
                    <a:p>
                      <a:r>
                        <a:rPr lang="pl-PL" dirty="0" smtClean="0"/>
                        <a:t>Klasyfikacja ryzyka → ASIL A–D</a:t>
                      </a:r>
                    </a:p>
                    <a:p>
                      <a:r>
                        <a:rPr lang="pl-PL" dirty="0" smtClean="0"/>
                        <a:t>Określenie wymagań bezpieczeństwa funkcjonalnego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r>
                        <a:rPr lang="pl-PL" dirty="0" smtClean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Projekt systemu (System Level)</a:t>
                      </a:r>
                    </a:p>
                    <a:p>
                      <a:r>
                        <a:rPr lang="pl-PL" dirty="0" smtClean="0"/>
                        <a:t>Specyfikacja wymagań systemowych (System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Requirements</a:t>
                      </a:r>
                      <a:r>
                        <a:rPr lang="pl-PL" dirty="0" smtClean="0"/>
                        <a:t>)</a:t>
                      </a:r>
                    </a:p>
                    <a:p>
                      <a:r>
                        <a:rPr lang="pl-PL" dirty="0" smtClean="0"/>
                        <a:t>Definicja architektury systemu E/E</a:t>
                      </a:r>
                    </a:p>
                    <a:p>
                      <a:r>
                        <a:rPr lang="pl-PL" dirty="0" smtClean="0"/>
                        <a:t>Określenie redundancji i mechanizmów monitorujących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40727"/>
              </p:ext>
            </p:extLst>
          </p:nvPr>
        </p:nvGraphicFramePr>
        <p:xfrm>
          <a:off x="-5256" y="3910615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pl-PL" dirty="0" smtClean="0"/>
                        <a:t> </a:t>
                      </a:r>
                      <a:r>
                        <a:rPr lang="en-US" b="1" dirty="0" err="1" smtClean="0"/>
                        <a:t>Projekt</a:t>
                      </a:r>
                      <a:r>
                        <a:rPr lang="en-US" b="1" dirty="0" smtClean="0"/>
                        <a:t> hardware / software (Hardware &amp; Software Development)</a:t>
                      </a:r>
                    </a:p>
                    <a:p>
                      <a:r>
                        <a:rPr lang="en-US" dirty="0" smtClean="0"/>
                        <a:t>HW Design: </a:t>
                      </a:r>
                      <a:r>
                        <a:rPr lang="en-US" dirty="0" err="1" smtClean="0"/>
                        <a:t>wybór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komponentów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analiza</a:t>
                      </a:r>
                      <a:r>
                        <a:rPr lang="en-US" dirty="0" smtClean="0"/>
                        <a:t> PFH, </a:t>
                      </a:r>
                      <a:r>
                        <a:rPr lang="en-US" dirty="0" err="1" smtClean="0"/>
                        <a:t>diagnostyka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SW Design: </a:t>
                      </a:r>
                      <a:r>
                        <a:rPr lang="en-US" dirty="0" err="1" smtClean="0"/>
                        <a:t>modelowanie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, testy </a:t>
                      </a:r>
                      <a:r>
                        <a:rPr lang="en-US" dirty="0" err="1" smtClean="0"/>
                        <a:t>jednostkowe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integracja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Integracja i testy systemowe (Integration &amp; </a:t>
                      </a:r>
                      <a:r>
                        <a:rPr lang="pl-PL" b="1" dirty="0" err="1" smtClean="0"/>
                        <a:t>Testing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Integracja ECU i systemu</a:t>
                      </a:r>
                    </a:p>
                    <a:p>
                      <a:r>
                        <a:rPr lang="pl-PL" dirty="0" smtClean="0"/>
                        <a:t>Testy funkcjonalne i bezpieczeństwa</a:t>
                      </a:r>
                    </a:p>
                    <a:p>
                      <a:r>
                        <a:rPr lang="pl-PL" dirty="0" smtClean="0"/>
                        <a:t>Symulacje i testy w warunkach rzeczywistych</a:t>
                      </a:r>
                    </a:p>
                    <a:p>
                      <a:r>
                        <a:rPr lang="pl-PL" dirty="0" smtClean="0"/>
                        <a:t>Walidacja zgodności z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164259"/>
              </p:ext>
            </p:extLst>
          </p:nvPr>
        </p:nvGraphicFramePr>
        <p:xfrm>
          <a:off x="-10507" y="5366292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5.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Produkcja i eksploatacja (</a:t>
                      </a:r>
                      <a:r>
                        <a:rPr lang="pl-PL" b="1" dirty="0" err="1" smtClean="0"/>
                        <a:t>Production</a:t>
                      </a:r>
                      <a:r>
                        <a:rPr lang="pl-PL" b="1" dirty="0" smtClean="0"/>
                        <a:t> &amp; </a:t>
                      </a:r>
                      <a:r>
                        <a:rPr lang="pl-PL" b="1" dirty="0" err="1" smtClean="0"/>
                        <a:t>Operation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Procedury wytwarzania zgodne z FUSA</a:t>
                      </a:r>
                    </a:p>
                    <a:p>
                      <a:r>
                        <a:rPr lang="pl-PL" dirty="0" smtClean="0"/>
                        <a:t>Monitoring działania systemu w pojeździe</a:t>
                      </a:r>
                    </a:p>
                    <a:p>
                      <a:r>
                        <a:rPr lang="pl-PL" dirty="0" smtClean="0"/>
                        <a:t>Update oprogramowania (jeśli wymagany)</a:t>
                      </a:r>
                    </a:p>
                    <a:p>
                      <a:r>
                        <a:rPr lang="pl-PL" dirty="0" smtClean="0"/>
                        <a:t>Analiza wypadków / incydentów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Case)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6.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Dezaktywacja / utylizacja (</a:t>
                      </a:r>
                      <a:r>
                        <a:rPr lang="pl-PL" b="1" dirty="0" err="1" smtClean="0"/>
                        <a:t>Decommissioning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Bezpieczne wyłączenie systemu</a:t>
                      </a:r>
                    </a:p>
                    <a:p>
                      <a:r>
                        <a:rPr lang="pl-PL" dirty="0" smtClean="0"/>
                        <a:t>Przechowywanie danych diagnostycznych</a:t>
                      </a:r>
                    </a:p>
                    <a:p>
                      <a:r>
                        <a:rPr lang="pl-PL" dirty="0" smtClean="0"/>
                        <a:t>Analiza końcowa z punktu widzenia FUSA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66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196963"/>
              </p:ext>
            </p:extLst>
          </p:nvPr>
        </p:nvGraphicFramePr>
        <p:xfrm>
          <a:off x="657922" y="284774"/>
          <a:ext cx="1102855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8556">
                  <a:extLst>
                    <a:ext uri="{9D8B030D-6E8A-4147-A177-3AD203B41FA5}">
                      <a16:colId xmlns:a16="http://schemas.microsoft.com/office/drawing/2014/main" val="283477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[Automotive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Level]</a:t>
                      </a:r>
                      <a:r>
                        <a:rPr lang="pl-PL" b="1" baseline="0" dirty="0" smtClean="0"/>
                        <a:t> </a:t>
                      </a:r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sz="1800" b="0" dirty="0" smtClean="0"/>
                        <a:t>ASIL A – Najniższy poziom ryzyka. Wymaga minimalnych środków bezpieczeństwa (np. oświetlenie wnętrza, tylne światła).</a:t>
                      </a:r>
                    </a:p>
                    <a:p>
                      <a:r>
                        <a:rPr lang="pl-PL" sz="1800" b="0" dirty="0" smtClean="0"/>
                        <a:t>ASIL B – Umiarkowany poziom ryzyka. Wymaga podstawowych mechanizmów bezpieczeństwa (np. tempomat, asystent świateł drogowych).</a:t>
                      </a:r>
                    </a:p>
                    <a:p>
                      <a:r>
                        <a:rPr lang="pl-PL" sz="1800" b="0" dirty="0" smtClean="0"/>
                        <a:t>ASIL C – Wysoki poziom ryzyka. Wymaga zaawansowanych procedur i rygorystycznych środków (np. aktywne sterowanie, niektóre funkcje ABS).</a:t>
                      </a:r>
                    </a:p>
                    <a:p>
                      <a:r>
                        <a:rPr lang="pl-PL" sz="1800" b="0" dirty="0" smtClean="0"/>
                        <a:t>ASIL D – Najwyższy poziom ryzyka (najbardziej krytyczny). Wymaga najwyższego rygoru, weryfikacji i redundancji, ponieważ awaria zagraża życiu (np. poduszki powietrzne, układ hamulcowy ABS/ESP, wspomaganie kierownicy).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1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401443" y="384673"/>
            <a:ext cx="1127388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 </a:t>
            </a:r>
            <a:r>
              <a:rPr lang="en-US" b="1" dirty="0" err="1"/>
              <a:t>kontekście</a:t>
            </a:r>
            <a:r>
              <a:rPr lang="en-US" b="1" dirty="0"/>
              <a:t> Automotive, Safety Lifecycle (</a:t>
            </a:r>
            <a:r>
              <a:rPr lang="en-US" b="1" dirty="0" err="1"/>
              <a:t>Cykl</a:t>
            </a:r>
            <a:r>
              <a:rPr lang="en-US" b="1" dirty="0"/>
              <a:t> </a:t>
            </a:r>
            <a:r>
              <a:rPr lang="en-US" b="1" dirty="0" err="1"/>
              <a:t>życia</a:t>
            </a:r>
            <a:r>
              <a:rPr lang="en-US" b="1" dirty="0"/>
              <a:t> </a:t>
            </a:r>
            <a:r>
              <a:rPr lang="en-US" b="1" dirty="0" err="1"/>
              <a:t>bezpieczeństwa</a:t>
            </a:r>
            <a:r>
              <a:rPr lang="en-US" b="1" dirty="0"/>
              <a:t>) to </a:t>
            </a:r>
            <a:r>
              <a:rPr lang="en-US" b="1" dirty="0" err="1"/>
              <a:t>ustrukturyzowany</a:t>
            </a:r>
            <a:r>
              <a:rPr lang="en-US" b="1" dirty="0"/>
              <a:t> </a:t>
            </a:r>
            <a:r>
              <a:rPr lang="en-US" b="1" dirty="0" err="1"/>
              <a:t>proces</a:t>
            </a:r>
            <a:r>
              <a:rPr lang="en-US" b="1" dirty="0"/>
              <a:t> </a:t>
            </a:r>
            <a:r>
              <a:rPr lang="en-US" b="1" dirty="0" err="1"/>
              <a:t>zdefiniowany</a:t>
            </a:r>
            <a:r>
              <a:rPr lang="en-US" b="1" dirty="0"/>
              <a:t> w </a:t>
            </a:r>
            <a:r>
              <a:rPr lang="en-US" b="1" dirty="0" err="1"/>
              <a:t>normie</a:t>
            </a:r>
            <a:r>
              <a:rPr lang="en-US" b="1" dirty="0"/>
              <a:t> ISO 26262, </a:t>
            </a:r>
            <a:r>
              <a:rPr lang="en-US" b="1" dirty="0" err="1"/>
              <a:t>który</a:t>
            </a:r>
            <a:r>
              <a:rPr lang="en-US" b="1" dirty="0"/>
              <a:t> ma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celu</a:t>
            </a:r>
            <a:r>
              <a:rPr lang="en-US" b="1" dirty="0"/>
              <a:t> </a:t>
            </a:r>
            <a:r>
              <a:rPr lang="en-US" b="1" dirty="0" err="1"/>
              <a:t>wyeliminowanie</a:t>
            </a:r>
            <a:r>
              <a:rPr lang="en-US" b="1" dirty="0"/>
              <a:t> </a:t>
            </a:r>
            <a:r>
              <a:rPr lang="en-US" b="1" dirty="0" err="1"/>
              <a:t>lub</a:t>
            </a:r>
            <a:r>
              <a:rPr lang="en-US" b="1" dirty="0"/>
              <a:t> </a:t>
            </a:r>
            <a:r>
              <a:rPr lang="en-US" b="1" dirty="0" err="1"/>
              <a:t>zminimalizowanie</a:t>
            </a:r>
            <a:r>
              <a:rPr lang="en-US" b="1" dirty="0"/>
              <a:t> </a:t>
            </a:r>
            <a:r>
              <a:rPr lang="en-US" b="1" dirty="0" err="1"/>
              <a:t>ryzyka</a:t>
            </a:r>
            <a:r>
              <a:rPr lang="en-US" b="1" dirty="0"/>
              <a:t> </a:t>
            </a:r>
            <a:r>
              <a:rPr lang="en-US" b="1" dirty="0" err="1"/>
              <a:t>związanego</a:t>
            </a:r>
            <a:r>
              <a:rPr lang="en-US" b="1" dirty="0"/>
              <a:t> z </a:t>
            </a:r>
            <a:r>
              <a:rPr lang="en-US" b="1" dirty="0" err="1"/>
              <a:t>awariami</a:t>
            </a:r>
            <a:r>
              <a:rPr lang="en-US" b="1" dirty="0"/>
              <a:t> </a:t>
            </a:r>
            <a:r>
              <a:rPr lang="en-US" b="1" dirty="0" err="1"/>
              <a:t>systemów</a:t>
            </a:r>
            <a:r>
              <a:rPr lang="en-US" b="1" dirty="0"/>
              <a:t> </a:t>
            </a:r>
            <a:r>
              <a:rPr lang="en-US" b="1" dirty="0" err="1"/>
              <a:t>elektrycznych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elektronicznych</a:t>
            </a:r>
            <a:r>
              <a:rPr lang="en-US" b="1" dirty="0"/>
              <a:t> (E/E) w </a:t>
            </a:r>
            <a:r>
              <a:rPr lang="en-US" b="1" dirty="0" err="1"/>
              <a:t>pojazdach</a:t>
            </a:r>
            <a:r>
              <a:rPr lang="en-US" b="1" dirty="0"/>
              <a:t>. </a:t>
            </a:r>
            <a:endParaRPr lang="pl-PL" b="1" dirty="0" smtClean="0"/>
          </a:p>
          <a:p>
            <a:pPr algn="ctr"/>
            <a:r>
              <a:rPr lang="en-US" b="1" dirty="0" err="1" smtClean="0"/>
              <a:t>Proces</a:t>
            </a:r>
            <a:r>
              <a:rPr lang="en-US" b="1" dirty="0" smtClean="0"/>
              <a:t> </a:t>
            </a:r>
            <a:r>
              <a:rPr lang="en-US" b="1" dirty="0"/>
              <a:t>ten </a:t>
            </a:r>
            <a:r>
              <a:rPr lang="en-US" b="1" dirty="0" err="1"/>
              <a:t>obejmuje</a:t>
            </a:r>
            <a:r>
              <a:rPr lang="en-US" b="1" dirty="0"/>
              <a:t> </a:t>
            </a:r>
            <a:r>
              <a:rPr lang="en-US" b="1" dirty="0" err="1"/>
              <a:t>cały</a:t>
            </a:r>
            <a:r>
              <a:rPr lang="en-US" b="1" dirty="0"/>
              <a:t> „</a:t>
            </a:r>
            <a:r>
              <a:rPr lang="en-US" b="1" dirty="0" err="1"/>
              <a:t>żywot</a:t>
            </a:r>
            <a:r>
              <a:rPr lang="en-US" b="1" dirty="0"/>
              <a:t>” </a:t>
            </a:r>
            <a:r>
              <a:rPr lang="en-US" b="1" dirty="0" err="1"/>
              <a:t>produktu</a:t>
            </a:r>
            <a:r>
              <a:rPr lang="en-US" b="1" dirty="0"/>
              <a:t> – od </a:t>
            </a:r>
            <a:r>
              <a:rPr lang="en-US" b="1" dirty="0" err="1"/>
              <a:t>pierwszej</a:t>
            </a:r>
            <a:r>
              <a:rPr lang="en-US" b="1" dirty="0"/>
              <a:t> </a:t>
            </a:r>
            <a:r>
              <a:rPr lang="en-US" b="1" dirty="0" err="1"/>
              <a:t>idei</a:t>
            </a:r>
            <a:r>
              <a:rPr lang="en-US" b="1" dirty="0"/>
              <a:t> </a:t>
            </a:r>
            <a:r>
              <a:rPr lang="en-US" b="1" dirty="0" err="1"/>
              <a:t>aż</a:t>
            </a:r>
            <a:r>
              <a:rPr lang="en-US" b="1" dirty="0"/>
              <a:t> </a:t>
            </a:r>
            <a:r>
              <a:rPr lang="en-US" b="1" dirty="0" err="1"/>
              <a:t>po</a:t>
            </a:r>
            <a:r>
              <a:rPr lang="en-US" b="1" dirty="0"/>
              <a:t> </a:t>
            </a:r>
            <a:r>
              <a:rPr lang="en-US" b="1" dirty="0" err="1"/>
              <a:t>jego</a:t>
            </a:r>
            <a:r>
              <a:rPr lang="en-US" b="1" dirty="0"/>
              <a:t> </a:t>
            </a:r>
            <a:r>
              <a:rPr lang="en-US" b="1" dirty="0" err="1"/>
              <a:t>wycofanie</a:t>
            </a:r>
            <a:r>
              <a:rPr lang="en-US" b="1" dirty="0"/>
              <a:t> z </a:t>
            </a:r>
            <a:r>
              <a:rPr lang="en-US" b="1" dirty="0" err="1"/>
              <a:t>użytku</a:t>
            </a:r>
            <a:r>
              <a:rPr lang="en-US" b="1" dirty="0" smtClean="0"/>
              <a:t>.</a:t>
            </a:r>
            <a:endParaRPr lang="pl-PL" b="1" dirty="0" smtClean="0"/>
          </a:p>
          <a:p>
            <a:endParaRPr lang="pl-PL" dirty="0"/>
          </a:p>
          <a:p>
            <a:r>
              <a:rPr lang="pl-PL" dirty="0" smtClean="0"/>
              <a:t>1. </a:t>
            </a:r>
            <a:r>
              <a:rPr lang="en-US" dirty="0" err="1" smtClean="0"/>
              <a:t>Faza</a:t>
            </a:r>
            <a:r>
              <a:rPr lang="en-US" dirty="0" smtClean="0"/>
              <a:t> </a:t>
            </a:r>
            <a:r>
              <a:rPr lang="en-US" dirty="0" err="1"/>
              <a:t>koncepcyjna</a:t>
            </a:r>
            <a:r>
              <a:rPr lang="en-US" dirty="0"/>
              <a:t> (Concept Phase)To </a:t>
            </a:r>
            <a:r>
              <a:rPr lang="en-US" dirty="0" err="1"/>
              <a:t>tutaj</a:t>
            </a:r>
            <a:r>
              <a:rPr lang="en-US" dirty="0"/>
              <a:t> </a:t>
            </a:r>
            <a:r>
              <a:rPr lang="en-US" dirty="0" err="1"/>
              <a:t>zapadają</a:t>
            </a:r>
            <a:r>
              <a:rPr lang="en-US" dirty="0"/>
              <a:t> </a:t>
            </a:r>
            <a:r>
              <a:rPr lang="en-US" dirty="0" err="1"/>
              <a:t>kluczowe</a:t>
            </a:r>
            <a:r>
              <a:rPr lang="en-US" dirty="0"/>
              <a:t> </a:t>
            </a:r>
            <a:r>
              <a:rPr lang="en-US" dirty="0" err="1"/>
              <a:t>decyzje</a:t>
            </a:r>
            <a:r>
              <a:rPr lang="en-US" dirty="0"/>
              <a:t> </a:t>
            </a:r>
            <a:r>
              <a:rPr lang="en-US" dirty="0" err="1"/>
              <a:t>dotyczące</a:t>
            </a:r>
            <a:r>
              <a:rPr lang="en-US" dirty="0"/>
              <a:t> </a:t>
            </a:r>
            <a:r>
              <a:rPr lang="en-US" dirty="0" err="1"/>
              <a:t>bezpieczeństwa:Definicja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 (Item Definition): </a:t>
            </a:r>
            <a:r>
              <a:rPr lang="en-US" dirty="0" err="1"/>
              <a:t>Opisanie</a:t>
            </a:r>
            <a:r>
              <a:rPr lang="en-US" dirty="0"/>
              <a:t>, co system ma </a:t>
            </a:r>
            <a:r>
              <a:rPr lang="en-US" dirty="0" err="1"/>
              <a:t>robić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jak</a:t>
            </a:r>
            <a:r>
              <a:rPr lang="en-US" dirty="0"/>
              <a:t> </a:t>
            </a:r>
            <a:r>
              <a:rPr lang="en-US" dirty="0" err="1"/>
              <a:t>wchodzi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z </a:t>
            </a:r>
            <a:r>
              <a:rPr lang="en-US" dirty="0" err="1"/>
              <a:t>innymi.HARA</a:t>
            </a:r>
            <a:r>
              <a:rPr lang="en-US" dirty="0"/>
              <a:t> (Hazard Analysis and Risk Assessment): </a:t>
            </a:r>
            <a:r>
              <a:rPr lang="en-US" dirty="0" err="1"/>
              <a:t>Identyfikacja</a:t>
            </a:r>
            <a:r>
              <a:rPr lang="en-US" dirty="0"/>
              <a:t> </a:t>
            </a:r>
            <a:r>
              <a:rPr lang="en-US" dirty="0" err="1"/>
              <a:t>potencjalnych</a:t>
            </a:r>
            <a:r>
              <a:rPr lang="en-US" dirty="0"/>
              <a:t> </a:t>
            </a:r>
            <a:r>
              <a:rPr lang="en-US" dirty="0" err="1"/>
              <a:t>zagrożeń</a:t>
            </a:r>
            <a:r>
              <a:rPr lang="en-US" dirty="0"/>
              <a:t> (np. </a:t>
            </a:r>
            <a:r>
              <a:rPr lang="en-US" dirty="0" err="1"/>
              <a:t>nagłe</a:t>
            </a:r>
            <a:r>
              <a:rPr lang="en-US" dirty="0"/>
              <a:t> </a:t>
            </a:r>
            <a:r>
              <a:rPr lang="en-US" dirty="0" err="1"/>
              <a:t>zablokowanie</a:t>
            </a:r>
            <a:r>
              <a:rPr lang="en-US" dirty="0"/>
              <a:t> </a:t>
            </a:r>
            <a:r>
              <a:rPr lang="en-US" dirty="0" err="1"/>
              <a:t>kół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przypisanie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poziomów</a:t>
            </a:r>
            <a:r>
              <a:rPr lang="en-US" dirty="0"/>
              <a:t> ASIL (A-D).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(Safety Goals): </a:t>
            </a:r>
            <a:r>
              <a:rPr lang="en-US" dirty="0" err="1"/>
              <a:t>Sformułowanie</a:t>
            </a:r>
            <a:r>
              <a:rPr lang="en-US" dirty="0"/>
              <a:t> </a:t>
            </a:r>
            <a:r>
              <a:rPr lang="en-US" dirty="0" err="1"/>
              <a:t>ogólnych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, </a:t>
            </a:r>
            <a:r>
              <a:rPr lang="en-US" dirty="0" err="1"/>
              <a:t>które</a:t>
            </a:r>
            <a:r>
              <a:rPr lang="en-US" dirty="0"/>
              <a:t> </a:t>
            </a:r>
            <a:r>
              <a:rPr lang="en-US" dirty="0" err="1"/>
              <a:t>zapobiegną</a:t>
            </a:r>
            <a:r>
              <a:rPr lang="en-US" dirty="0"/>
              <a:t> </a:t>
            </a:r>
            <a:r>
              <a:rPr lang="en-US" dirty="0" err="1"/>
              <a:t>zidentyfikowanym</a:t>
            </a:r>
            <a:r>
              <a:rPr lang="en-US" dirty="0"/>
              <a:t> </a:t>
            </a:r>
            <a:r>
              <a:rPr lang="en-US" dirty="0" err="1"/>
              <a:t>zagrożeniom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2. </a:t>
            </a:r>
            <a:r>
              <a:rPr lang="en-US" dirty="0" err="1" smtClean="0"/>
              <a:t>Rozwój</a:t>
            </a:r>
            <a:r>
              <a:rPr lang="en-US" dirty="0" smtClean="0"/>
              <a:t> </a:t>
            </a:r>
            <a:r>
              <a:rPr lang="en-US" dirty="0" err="1"/>
              <a:t>produktu</a:t>
            </a:r>
            <a:r>
              <a:rPr lang="en-US" dirty="0"/>
              <a:t> (Product Development)</a:t>
            </a:r>
            <a:r>
              <a:rPr lang="en-US" dirty="0" err="1"/>
              <a:t>Najbardziej</a:t>
            </a:r>
            <a:r>
              <a:rPr lang="en-US" dirty="0"/>
              <a:t> </a:t>
            </a:r>
            <a:r>
              <a:rPr lang="en-US" dirty="0" err="1"/>
              <a:t>rozbudowana</a:t>
            </a:r>
            <a:r>
              <a:rPr lang="en-US" dirty="0"/>
              <a:t> </a:t>
            </a:r>
            <a:r>
              <a:rPr lang="en-US" dirty="0" err="1"/>
              <a:t>faza</a:t>
            </a:r>
            <a:r>
              <a:rPr lang="en-US" dirty="0"/>
              <a:t>, </a:t>
            </a:r>
            <a:r>
              <a:rPr lang="en-US" dirty="0" err="1"/>
              <a:t>realizowana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modelem</a:t>
            </a:r>
            <a:r>
              <a:rPr lang="en-US" dirty="0"/>
              <a:t> V: </a:t>
            </a:r>
            <a:r>
              <a:rPr lang="en-US" dirty="0" err="1"/>
              <a:t>Poziom</a:t>
            </a:r>
            <a:r>
              <a:rPr lang="en-US" dirty="0"/>
              <a:t> </a:t>
            </a:r>
            <a:r>
              <a:rPr lang="en-US" dirty="0" err="1"/>
              <a:t>systemowy</a:t>
            </a:r>
            <a:r>
              <a:rPr lang="en-US" dirty="0"/>
              <a:t>: </a:t>
            </a:r>
            <a:r>
              <a:rPr lang="en-US" dirty="0" err="1"/>
              <a:t>Tworzenie</a:t>
            </a:r>
            <a:r>
              <a:rPr lang="en-US" dirty="0"/>
              <a:t> </a:t>
            </a:r>
            <a:r>
              <a:rPr lang="en-US" dirty="0" err="1"/>
              <a:t>architektury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określanie</a:t>
            </a:r>
            <a:r>
              <a:rPr lang="en-US" dirty="0"/>
              <a:t> </a:t>
            </a:r>
            <a:r>
              <a:rPr lang="en-US" dirty="0" err="1"/>
              <a:t>technicznych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bezpieczeństwa.Poziom</a:t>
            </a:r>
            <a:r>
              <a:rPr lang="en-US" dirty="0"/>
              <a:t> </a:t>
            </a:r>
            <a:r>
              <a:rPr lang="en-US" dirty="0" err="1"/>
              <a:t>sprzętowy</a:t>
            </a:r>
            <a:r>
              <a:rPr lang="en-US" dirty="0"/>
              <a:t> (Hardware): </a:t>
            </a:r>
            <a:r>
              <a:rPr lang="en-US" dirty="0" err="1"/>
              <a:t>Projektowanie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podzespołów</a:t>
            </a:r>
            <a:r>
              <a:rPr lang="en-US" dirty="0"/>
              <a:t> (np. </a:t>
            </a:r>
            <a:r>
              <a:rPr lang="en-US" dirty="0" err="1"/>
              <a:t>procesorów</a:t>
            </a:r>
            <a:r>
              <a:rPr lang="en-US" dirty="0"/>
              <a:t>, </a:t>
            </a:r>
            <a:r>
              <a:rPr lang="en-US" dirty="0" err="1"/>
              <a:t>czujników</a:t>
            </a:r>
            <a:r>
              <a:rPr lang="en-US" dirty="0"/>
              <a:t>) pod </a:t>
            </a:r>
            <a:r>
              <a:rPr lang="en-US" dirty="0" err="1"/>
              <a:t>kątem</a:t>
            </a:r>
            <a:r>
              <a:rPr lang="en-US" dirty="0"/>
              <a:t> </a:t>
            </a:r>
            <a:r>
              <a:rPr lang="en-US" dirty="0" err="1"/>
              <a:t>awarii</a:t>
            </a:r>
            <a:r>
              <a:rPr lang="en-US" dirty="0"/>
              <a:t> </a:t>
            </a:r>
            <a:r>
              <a:rPr lang="en-US" dirty="0" err="1"/>
              <a:t>losowych.Poziom</a:t>
            </a:r>
            <a:r>
              <a:rPr lang="en-US" dirty="0"/>
              <a:t> </a:t>
            </a:r>
            <a:r>
              <a:rPr lang="en-US" dirty="0" err="1"/>
              <a:t>programowy</a:t>
            </a:r>
            <a:r>
              <a:rPr lang="en-US" dirty="0"/>
              <a:t> (Software): </a:t>
            </a:r>
            <a:r>
              <a:rPr lang="en-US" dirty="0" err="1"/>
              <a:t>Pisanie</a:t>
            </a:r>
            <a:r>
              <a:rPr lang="en-US" dirty="0"/>
              <a:t> </a:t>
            </a:r>
            <a:r>
              <a:rPr lang="en-US" dirty="0" err="1"/>
              <a:t>kodu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rygorystycznymi</a:t>
            </a:r>
            <a:r>
              <a:rPr lang="en-US" dirty="0"/>
              <a:t> </a:t>
            </a:r>
            <a:r>
              <a:rPr lang="en-US" dirty="0" err="1"/>
              <a:t>standardami</a:t>
            </a:r>
            <a:r>
              <a:rPr lang="en-US" dirty="0"/>
              <a:t>, aby </a:t>
            </a:r>
            <a:r>
              <a:rPr lang="en-US" dirty="0" err="1"/>
              <a:t>uniknąć</a:t>
            </a:r>
            <a:r>
              <a:rPr lang="en-US" dirty="0"/>
              <a:t> </a:t>
            </a:r>
            <a:r>
              <a:rPr lang="en-US" dirty="0" err="1"/>
              <a:t>błędów</a:t>
            </a:r>
            <a:r>
              <a:rPr lang="en-US" dirty="0"/>
              <a:t> </a:t>
            </a:r>
            <a:r>
              <a:rPr lang="en-US" dirty="0" err="1"/>
              <a:t>projektowych.Integracja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walidacja</a:t>
            </a:r>
            <a:r>
              <a:rPr lang="en-US" dirty="0"/>
              <a:t>: </a:t>
            </a:r>
            <a:r>
              <a:rPr lang="en-US" dirty="0" err="1"/>
              <a:t>Sprawdzenie</a:t>
            </a:r>
            <a:r>
              <a:rPr lang="en-US" dirty="0"/>
              <a:t>, </a:t>
            </a:r>
            <a:r>
              <a:rPr lang="en-US" dirty="0" err="1"/>
              <a:t>czy</a:t>
            </a:r>
            <a:r>
              <a:rPr lang="en-US" dirty="0"/>
              <a:t> </a:t>
            </a:r>
            <a:r>
              <a:rPr lang="en-US" dirty="0" err="1"/>
              <a:t>gotowy</a:t>
            </a:r>
            <a:r>
              <a:rPr lang="en-US" dirty="0"/>
              <a:t>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rzeczywiście</a:t>
            </a:r>
            <a:r>
              <a:rPr lang="en-US" dirty="0"/>
              <a:t> </a:t>
            </a:r>
            <a:r>
              <a:rPr lang="en-US" dirty="0" err="1"/>
              <a:t>spełnia</a:t>
            </a:r>
            <a:r>
              <a:rPr lang="en-US" dirty="0"/>
              <a:t> </a:t>
            </a:r>
            <a:r>
              <a:rPr lang="en-US" dirty="0" err="1"/>
              <a:t>założone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w </a:t>
            </a:r>
            <a:r>
              <a:rPr lang="en-US" dirty="0" err="1"/>
              <a:t>rzeczywistych</a:t>
            </a:r>
            <a:r>
              <a:rPr lang="en-US" dirty="0"/>
              <a:t> </a:t>
            </a:r>
            <a:r>
              <a:rPr lang="en-US" dirty="0" err="1"/>
              <a:t>warunkach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3. </a:t>
            </a:r>
            <a:r>
              <a:rPr lang="en-US" dirty="0" err="1" smtClean="0"/>
              <a:t>Produkcja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eksploatacja</a:t>
            </a:r>
            <a:r>
              <a:rPr lang="en-US" dirty="0"/>
              <a:t> (Production &amp; Operation)</a:t>
            </a:r>
            <a:r>
              <a:rPr lang="en-US" dirty="0" err="1"/>
              <a:t>Bezpieczeństwo</a:t>
            </a:r>
            <a:r>
              <a:rPr lang="en-US" dirty="0"/>
              <a:t> </a:t>
            </a:r>
            <a:r>
              <a:rPr lang="en-US" dirty="0" err="1"/>
              <a:t>musi</a:t>
            </a:r>
            <a:r>
              <a:rPr lang="en-US" dirty="0"/>
              <a:t> </a:t>
            </a:r>
            <a:r>
              <a:rPr lang="en-US" dirty="0" err="1"/>
              <a:t>być</a:t>
            </a:r>
            <a:r>
              <a:rPr lang="en-US" dirty="0"/>
              <a:t> </a:t>
            </a:r>
            <a:r>
              <a:rPr lang="en-US" dirty="0" err="1"/>
              <a:t>zachowane</a:t>
            </a:r>
            <a:r>
              <a:rPr lang="en-US" dirty="0"/>
              <a:t> </a:t>
            </a:r>
            <a:r>
              <a:rPr lang="en-US" dirty="0" err="1"/>
              <a:t>również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opuszczeniu</a:t>
            </a:r>
            <a:r>
              <a:rPr lang="en-US" dirty="0"/>
              <a:t> </a:t>
            </a:r>
            <a:r>
              <a:rPr lang="en-US" dirty="0" err="1"/>
              <a:t>fabryki:Produkcja</a:t>
            </a:r>
            <a:r>
              <a:rPr lang="en-US" dirty="0"/>
              <a:t>: </a:t>
            </a:r>
            <a:r>
              <a:rPr lang="en-US" dirty="0" err="1"/>
              <a:t>Zapewnienie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każdy</a:t>
            </a:r>
            <a:r>
              <a:rPr lang="en-US" dirty="0"/>
              <a:t> </a:t>
            </a:r>
            <a:r>
              <a:rPr lang="en-US" dirty="0" err="1"/>
              <a:t>egzemplarz</a:t>
            </a:r>
            <a:r>
              <a:rPr lang="en-US" dirty="0"/>
              <a:t> jest </a:t>
            </a:r>
            <a:r>
              <a:rPr lang="en-US" dirty="0" err="1"/>
              <a:t>wykonany</a:t>
            </a:r>
            <a:r>
              <a:rPr lang="en-US" dirty="0"/>
              <a:t> </a:t>
            </a:r>
            <a:r>
              <a:rPr lang="en-US" dirty="0" err="1"/>
              <a:t>poprawnie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bez wad </a:t>
            </a:r>
            <a:r>
              <a:rPr lang="en-US" dirty="0" err="1"/>
              <a:t>zagrażających</a:t>
            </a:r>
            <a:r>
              <a:rPr lang="en-US" dirty="0"/>
              <a:t> </a:t>
            </a:r>
            <a:r>
              <a:rPr lang="en-US" dirty="0" err="1"/>
              <a:t>bezpieczeństwu.Obsługa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serwis</a:t>
            </a:r>
            <a:r>
              <a:rPr lang="en-US" dirty="0"/>
              <a:t>: </a:t>
            </a:r>
            <a:r>
              <a:rPr lang="en-US" dirty="0" err="1"/>
              <a:t>Procedury</a:t>
            </a:r>
            <a:r>
              <a:rPr lang="en-US" dirty="0"/>
              <a:t> </a:t>
            </a:r>
            <a:r>
              <a:rPr lang="en-US" dirty="0" err="1"/>
              <a:t>napraw</a:t>
            </a:r>
            <a:r>
              <a:rPr lang="en-US" dirty="0"/>
              <a:t>, aby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naruszyć</a:t>
            </a:r>
            <a:r>
              <a:rPr lang="en-US" dirty="0"/>
              <a:t> </a:t>
            </a:r>
            <a:r>
              <a:rPr lang="en-US" dirty="0" err="1"/>
              <a:t>integralności</a:t>
            </a:r>
            <a:r>
              <a:rPr lang="en-US" dirty="0"/>
              <a:t> </a:t>
            </a:r>
            <a:r>
              <a:rPr lang="en-US" dirty="0" err="1"/>
              <a:t>systemów</a:t>
            </a:r>
            <a:r>
              <a:rPr lang="en-US" dirty="0"/>
              <a:t> </a:t>
            </a:r>
            <a:r>
              <a:rPr lang="en-US" dirty="0" err="1"/>
              <a:t>bezpieczeństwa.Wycofanie</a:t>
            </a:r>
            <a:r>
              <a:rPr lang="en-US" dirty="0"/>
              <a:t> z </a:t>
            </a:r>
            <a:r>
              <a:rPr lang="en-US" dirty="0" err="1"/>
              <a:t>eksploatacji</a:t>
            </a:r>
            <a:r>
              <a:rPr lang="en-US" dirty="0"/>
              <a:t> (Decommissioning): </a:t>
            </a:r>
            <a:r>
              <a:rPr lang="en-US" dirty="0" err="1"/>
              <a:t>Bezpieczne</a:t>
            </a:r>
            <a:r>
              <a:rPr lang="en-US" dirty="0"/>
              <a:t> </a:t>
            </a:r>
            <a:r>
              <a:rPr lang="en-US" dirty="0" err="1"/>
              <a:t>usunięcie</a:t>
            </a:r>
            <a:r>
              <a:rPr lang="en-US" dirty="0"/>
              <a:t> </a:t>
            </a:r>
            <a:r>
              <a:rPr lang="en-US" dirty="0" err="1"/>
              <a:t>produktu</a:t>
            </a:r>
            <a:r>
              <a:rPr lang="en-US" dirty="0"/>
              <a:t> z </a:t>
            </a:r>
            <a:r>
              <a:rPr lang="en-US" dirty="0" err="1"/>
              <a:t>rynku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92836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pl-PL" sz="1800" b="1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solidFill>
            <a:schemeClr val="accent4">
              <a:lumMod val="40000"/>
              <a:lumOff val="60000"/>
            </a:schemeClr>
          </a:solidFill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zakres ADAS</a:t>
            </a:r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735589"/>
              </p:ext>
            </p:extLst>
          </p:nvPr>
        </p:nvGraphicFramePr>
        <p:xfrm>
          <a:off x="390293" y="213865"/>
          <a:ext cx="11363092" cy="62649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3092">
                  <a:extLst>
                    <a:ext uri="{9D8B030D-6E8A-4147-A177-3AD203B41FA5}">
                      <a16:colId xmlns:a16="http://schemas.microsoft.com/office/drawing/2014/main" val="892735418"/>
                    </a:ext>
                  </a:extLst>
                </a:gridCol>
              </a:tblGrid>
              <a:tr h="6264993">
                <a:tc>
                  <a:txBody>
                    <a:bodyPr/>
                    <a:lstStyle/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Sensor Fusion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Fuzja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- 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proces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łączenia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różnych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typów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radarów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LiDAR-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ultradźwiękowych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), aby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uzyskać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obraz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otoczenia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bardziej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wiarygodny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dokładny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niż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byłoby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możliwe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użyciu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tylko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jednego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Dlaczego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konieczna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Każdy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ma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swoje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słabości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świetnie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rozpoznaje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kolory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znaki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gubi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gęstej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mgle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Radar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doskonale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mierzy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odległość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prędkość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nawet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nocy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„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widzi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”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linii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asfalcie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Jak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działa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Algorytmy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(np.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Filtr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Kalmana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nakładają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siebie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eliminując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szumy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niepewności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Wynikiem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tzw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World Model (model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świata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–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cyfrowa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mapa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wszystkiego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co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dzieje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wokół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auta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pPr algn="ctr"/>
                      <a:r>
                        <a:rPr lang="pl-PL" dirty="0" smtClean="0"/>
                        <a:t>Ten łańcuch musi dziać się w czasie rzeczywistym (często w milisekundach).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22618"/>
                  </a:ext>
                </a:extLst>
              </a:tr>
            </a:tbl>
          </a:graphicData>
        </a:graphic>
      </p:graphicFrame>
      <p:graphicFrame>
        <p:nvGraphicFramePr>
          <p:cNvPr id="6" name="Obiek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7890052"/>
              </p:ext>
            </p:extLst>
          </p:nvPr>
        </p:nvGraphicFramePr>
        <p:xfrm>
          <a:off x="885476" y="4290238"/>
          <a:ext cx="10372725" cy="148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1" name="Arkusz" r:id="rId3" imgW="10372571" imgH="1485900" progId="Excel.Sheet.12">
                  <p:embed/>
                </p:oleObj>
              </mc:Choice>
              <mc:Fallback>
                <p:oleObj name="Arkusz" r:id="rId3" imgW="10372571" imgH="1485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5476" y="4290238"/>
                        <a:ext cx="10372725" cy="148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60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ymbol zastępczy zawartości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003650"/>
              </p:ext>
            </p:extLst>
          </p:nvPr>
        </p:nvGraphicFramePr>
        <p:xfrm>
          <a:off x="0" y="0"/>
          <a:ext cx="12191999" cy="6858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91999">
                  <a:extLst>
                    <a:ext uri="{9D8B030D-6E8A-4147-A177-3AD203B41FA5}">
                      <a16:colId xmlns:a16="http://schemas.microsoft.com/office/drawing/2014/main" val="1574139125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Architektura: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ControlTo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klasyczny rurociąg (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pipeline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 przetwarzania danych w systemach ADAS. Można go porównać do działania ludzkiego organizmu.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(Percepcja – „Widzę”) - To etap, w którym surowe dane z czujników (po fuzji) są interpretowane. System musi odpowiedzieć na pytanie: Co znajduje się wokół mnie? Wykrywanie obiektów: Czy to, co widzę, to inny samochód, pieszy czy barierka? Klasyfikacja i śledzenie: Ten pieszy porusza się w stronę jezdni z prędkością 5 km/h. Lokalizacja: Gdzie dokładnie na pasie ruchu znajduje się mój samochód?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/ Planning (Decyzja i Planowanie – „Myślę”) - Na podstawie modelu świata z etapu percepcji, system musi podjąć decyzję o dalszym działaniu. Musi odpowiedzieć na pytanie: Co powinienem zrobić?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Prediction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(Przewidywanie): Czy ten samochód z lewej zajedzie mi drogę?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Path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Planning (Planowanie ścieżki): Wyznaczenie bezpiecznej trasy ominięcia przeszkody lub utrzymania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pasa.Behaviors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(Zachowania): Podjęcie decyzji: „Hamuj awaryjnie”, „Zwolnij”, „Zmień pas”.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Control (Sterowanie – „Robię”) - To ostatni etap, w którym decyzja zostaje zamieniona na konkretne sygnały elektryczne wysyłane do elementów wykonawczych pojazdu (tzw.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actuators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). Musi odpowiedzieć na pytanie: Jak fizycznie wykonać manewr?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Steering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Skręcenie kierownicy o odpowiedni kąt. Acceleration/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Braking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Zwiększenie ciśnienia w układzie hamulcowym lub zmiana momentu obrotowego silnika. Feedback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loop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System stale sprawdza, czy wykonany ruch przyniósł zamierzony efekt (np. czy auto faktycznie zwolniło).</a:t>
                      </a:r>
                      <a:endParaRPr lang="en-US" sz="18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129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>
                <a:solidFill>
                  <a:schemeClr val="accent5"/>
                </a:solidFill>
              </a:rPr>
              <a:t>UDS </a:t>
            </a:r>
            <a:r>
              <a:rPr lang="en-US" dirty="0">
                <a:solidFill>
                  <a:schemeClr val="accent5"/>
                </a:solidFill>
              </a:rPr>
              <a:t>Unified Diagnostic Services</a:t>
            </a:r>
            <a:r>
              <a:rPr lang="pl-PL" dirty="0" smtClean="0">
                <a:solidFill>
                  <a:schemeClr val="accent5"/>
                </a:solidFill>
              </a:rPr>
              <a:t> </a:t>
            </a:r>
            <a:r>
              <a:rPr lang="pl-PL" dirty="0">
                <a:solidFill>
                  <a:schemeClr val="accent5"/>
                </a:solidFill>
              </a:rPr>
              <a:t>to protokół diagnostyczny, którym tester diagnostyczny </a:t>
            </a:r>
            <a:r>
              <a:rPr lang="pl-PL" dirty="0" smtClean="0">
                <a:solidFill>
                  <a:schemeClr val="accent5"/>
                </a:solidFill>
              </a:rPr>
              <a:t>(OBD)komunikuje </a:t>
            </a:r>
            <a:r>
              <a:rPr lang="pl-PL" dirty="0">
                <a:solidFill>
                  <a:schemeClr val="accent5"/>
                </a:solidFill>
              </a:rPr>
              <a:t>się z </a:t>
            </a:r>
            <a:r>
              <a:rPr lang="pl-PL" dirty="0" smtClean="0">
                <a:solidFill>
                  <a:schemeClr val="accent5"/>
                </a:solidFill>
              </a:rPr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056589"/>
              </p:ext>
            </p:extLst>
          </p:nvPr>
        </p:nvGraphicFramePr>
        <p:xfrm>
          <a:off x="572428" y="3469545"/>
          <a:ext cx="109616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 numeru VIN (DID: 0xF1 90)</a:t>
                      </a:r>
                    </a:p>
                    <a:p>
                      <a:r>
                        <a:rPr lang="pl-PL" dirty="0" smtClean="0"/>
                        <a:t>Odczyt parametrów silnika (np. DID: 0x01 05)</a:t>
                      </a:r>
                    </a:p>
                    <a:p>
                      <a:r>
                        <a:rPr lang="pl-PL" dirty="0" smtClean="0"/>
                        <a:t>Odczyt wersji oprogramowania (DID: 0xF1 95)</a:t>
                      </a:r>
                    </a:p>
                    <a:p>
                      <a:r>
                        <a:rPr lang="pl-PL" dirty="0" smtClean="0"/>
                        <a:t>Odczyt stanu naładowania akumulatora (SOC)</a:t>
                      </a:r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01 Odczyt ilości błędów DTC</a:t>
                      </a:r>
                    </a:p>
                    <a:p>
                      <a:r>
                        <a:rPr lang="pl-PL" dirty="0" smtClean="0"/>
                        <a:t>02 Odczyt</a:t>
                      </a:r>
                      <a:r>
                        <a:rPr lang="pl-PL" baseline="0" dirty="0" smtClean="0"/>
                        <a:t> błędów wraz z opisem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04</a:t>
                      </a:r>
                      <a:r>
                        <a:rPr lang="pl-PL" baseline="0" dirty="0" smtClean="0"/>
                        <a:t> O</a:t>
                      </a:r>
                      <a:r>
                        <a:rPr lang="pl-PL" dirty="0" smtClean="0"/>
                        <a:t>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r>
                        <a:rPr lang="pl-PL" dirty="0" smtClean="0"/>
                        <a:t> – parametrów pojazdu</a:t>
                      </a:r>
                      <a:r>
                        <a:rPr lang="pl-PL" baseline="0" dirty="0" smtClean="0"/>
                        <a:t> w chwili wystąpienia błędu.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</a:t>
            </a:r>
            <a:r>
              <a:rPr lang="pl-PL" b="1" dirty="0" smtClean="0"/>
              <a:t>kodowania ECU?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2400" b="1" dirty="0" smtClean="0"/>
              <a:t>C	A	N</a:t>
            </a:r>
            <a:endParaRPr lang="en-US" sz="24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  <a:solidFill>
            <a:schemeClr val="accent4"/>
          </a:solidFill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  <p:sp>
        <p:nvSpPr>
          <p:cNvPr id="4" name="Prostokąt 3"/>
          <p:cNvSpPr/>
          <p:nvPr/>
        </p:nvSpPr>
        <p:spPr>
          <a:xfrm>
            <a:off x="780651" y="6229513"/>
            <a:ext cx="90715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liczy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różnica</a:t>
            </a:r>
            <a:r>
              <a:rPr lang="en-US" b="1" dirty="0"/>
              <a:t> </a:t>
            </a:r>
            <a:r>
              <a:rPr lang="en-US" b="1" dirty="0" err="1"/>
              <a:t>napięć</a:t>
            </a:r>
            <a:r>
              <a:rPr lang="en-US" b="1" dirty="0"/>
              <a:t> (~2 V) - </a:t>
            </a:r>
            <a:r>
              <a:rPr lang="en-US" b="1" dirty="0" err="1"/>
              <a:t>absolutne</a:t>
            </a:r>
            <a:r>
              <a:rPr lang="en-US" b="1" dirty="0"/>
              <a:t> </a:t>
            </a:r>
            <a:r>
              <a:rPr lang="en-US" b="1" dirty="0" err="1"/>
              <a:t>poziomy</a:t>
            </a:r>
            <a:r>
              <a:rPr lang="en-US" b="1" dirty="0"/>
              <a:t> </a:t>
            </a:r>
            <a:r>
              <a:rPr lang="en-US" b="1" dirty="0" err="1"/>
              <a:t>mogą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różnić</a:t>
            </a:r>
            <a:r>
              <a:rPr lang="en-US" b="1" dirty="0"/>
              <a:t> </a:t>
            </a:r>
            <a:r>
              <a:rPr lang="en-US" b="1" dirty="0" err="1"/>
              <a:t>zależnie</a:t>
            </a:r>
            <a:r>
              <a:rPr lang="en-US" b="1" dirty="0"/>
              <a:t> od </a:t>
            </a:r>
            <a:r>
              <a:rPr lang="en-US" b="1" dirty="0" err="1"/>
              <a:t>transceivera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u="sng" dirty="0" smtClean="0">
                <a:solidFill>
                  <a:srgbClr val="7030A0"/>
                </a:solidFill>
              </a:rPr>
              <a:t>CAN 2.0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b="1" dirty="0" err="1"/>
              <a:t>kbit</a:t>
            </a:r>
            <a:r>
              <a:rPr lang="pl-PL" b="1" dirty="0"/>
              <a:t>/s do 1 </a:t>
            </a:r>
            <a:r>
              <a:rPr lang="pl-PL" b="1" dirty="0" err="1"/>
              <a:t>Mbit</a:t>
            </a:r>
            <a:r>
              <a:rPr lang="pl-PL" b="1" dirty="0"/>
              <a:t>/s.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i="1" u="sng" dirty="0" smtClean="0">
                <a:solidFill>
                  <a:schemeClr val="bg1"/>
                </a:solidFill>
              </a:rPr>
              <a:t>CAN </a:t>
            </a:r>
            <a:r>
              <a:rPr lang="pl-PL" b="1" i="1" u="sng" dirty="0">
                <a:solidFill>
                  <a:schemeClr val="bg1"/>
                </a:solidFill>
              </a:rPr>
              <a:t>FD (</a:t>
            </a:r>
            <a:r>
              <a:rPr lang="pl-PL" b="1" i="1" u="sng" dirty="0" err="1">
                <a:solidFill>
                  <a:schemeClr val="bg1"/>
                </a:solidFill>
              </a:rPr>
              <a:t>Flexible</a:t>
            </a:r>
            <a:r>
              <a:rPr lang="pl-PL" b="1" i="1" u="sng" dirty="0">
                <a:solidFill>
                  <a:schemeClr val="bg1"/>
                </a:solidFill>
              </a:rPr>
              <a:t> Data-</a:t>
            </a:r>
            <a:r>
              <a:rPr lang="pl-PL" b="1" i="1" u="sng" dirty="0" err="1">
                <a:solidFill>
                  <a:schemeClr val="bg1"/>
                </a:solidFill>
              </a:rPr>
              <a:t>Rate</a:t>
            </a:r>
            <a:r>
              <a:rPr lang="pl-PL" b="1" i="1" u="sng" dirty="0" smtClean="0">
                <a:solidFill>
                  <a:schemeClr val="bg1"/>
                </a:solidFill>
              </a:rPr>
              <a:t>)</a:t>
            </a:r>
            <a:r>
              <a:rPr lang="pl-PL" b="1" dirty="0" smtClean="0">
                <a:solidFill>
                  <a:schemeClr val="bg1"/>
                </a:solidFill>
              </a:rPr>
              <a:t>, </a:t>
            </a:r>
            <a:r>
              <a:rPr lang="pl-PL" b="1" dirty="0" smtClean="0"/>
              <a:t>jest </a:t>
            </a:r>
            <a:r>
              <a:rPr lang="pl-PL" b="1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rgbClr val="FFFF00"/>
                </a:solidFill>
              </a:rPr>
              <a:t>CANopen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</a:t>
            </a:r>
            <a:r>
              <a:rPr lang="pl-PL" b="1" dirty="0" smtClean="0"/>
              <a:t>o </a:t>
            </a:r>
            <a:r>
              <a:rPr lang="pl-PL" b="1" dirty="0"/>
              <a:t>protokół warstwy aplikacyjnej oparty na standardzie CAN, stosowany głównie w przemyśle, w tym w sterowaniu maszynami i urządzeniami. </a:t>
            </a:r>
            <a:r>
              <a:rPr lang="pl-PL" b="1" dirty="0" err="1"/>
              <a:t>CANopen</a:t>
            </a:r>
            <a:r>
              <a:rPr lang="pl-PL" b="1" dirty="0"/>
              <a:t> definiuje zestaw standardowych wiadomości i usług, które umożliwiają komunikację między różnymi urządzeniami w sieci CAN.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DeviceNet</a:t>
            </a:r>
            <a:r>
              <a:rPr lang="pl-PL" b="1" dirty="0" smtClean="0"/>
              <a:t> jest </a:t>
            </a:r>
            <a:r>
              <a:rPr lang="pl-PL" b="1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smtClean="0">
                <a:solidFill>
                  <a:srgbClr val="FF0000"/>
                </a:solidFill>
              </a:rPr>
              <a:t>J1939</a:t>
            </a:r>
            <a:r>
              <a:rPr lang="pl-PL" b="1" dirty="0"/>
              <a:t> </a:t>
            </a:r>
            <a:r>
              <a:rPr lang="pl-PL" b="1" dirty="0" smtClean="0"/>
              <a:t>jest to </a:t>
            </a:r>
            <a:r>
              <a:rPr lang="pl-PL" b="1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b="1" dirty="0" smtClean="0"/>
              <a:t>.</a:t>
            </a:r>
            <a:endParaRPr lang="en-US" b="1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0"/>
                <a:lumOff val="100000"/>
              </a:schemeClr>
            </a:gs>
            <a:gs pos="35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049279"/>
              </p:ext>
            </p:extLst>
          </p:nvPr>
        </p:nvGraphicFramePr>
        <p:xfrm>
          <a:off x="413357" y="662619"/>
          <a:ext cx="11386160" cy="5425440"/>
        </p:xfrm>
        <a:graphic>
          <a:graphicData uri="http://schemas.openxmlformats.org/drawingml/2006/table">
            <a:tbl>
              <a:tblPr/>
              <a:tblGrid>
                <a:gridCol w="1657181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387365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402196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246338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50919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33735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Cecha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EtherNet</a:t>
                      </a:r>
                      <a:r>
                        <a:rPr lang="en-US" sz="2200" b="1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Profibus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Warstwa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&lt; 1 </a:t>
                      </a:r>
                      <a:r>
                        <a:rPr lang="en-US" sz="2200" b="1" dirty="0" err="1"/>
                        <a:t>ms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Wysoka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Średnia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Fizyczna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Starsze</a:t>
                      </a:r>
                      <a:r>
                        <a:rPr lang="en-US" sz="2200" b="1" dirty="0"/>
                        <a:t> </a:t>
                      </a:r>
                      <a:r>
                        <a:rPr lang="en-US" sz="2200" b="1" dirty="0" err="1"/>
                        <a:t>linie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</TotalTime>
  <Words>3019</Words>
  <Application>Microsoft Office PowerPoint</Application>
  <PresentationFormat>Panoramiczny</PresentationFormat>
  <Paragraphs>508</Paragraphs>
  <Slides>28</Slides>
  <Notes>0</Notes>
  <HiddenSlides>0</HiddenSlides>
  <MMClips>0</MMClips>
  <ScaleCrop>false</ScaleCrop>
  <HeadingPairs>
    <vt:vector size="8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28</vt:i4>
      </vt:variant>
    </vt:vector>
  </HeadingPairs>
  <TitlesOfParts>
    <vt:vector size="36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Arkusz</vt:lpstr>
      <vt:lpstr>   Engineer.wka@gmail.com   +48 795 738 507 Linkedin  Github  Python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 A 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90</cp:revision>
  <dcterms:created xsi:type="dcterms:W3CDTF">2025-10-22T10:22:32Z</dcterms:created>
  <dcterms:modified xsi:type="dcterms:W3CDTF">2026-03-31T12:33:56Z</dcterms:modified>
</cp:coreProperties>
</file>