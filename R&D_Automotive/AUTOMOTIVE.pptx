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3" r:id="rId2"/>
    <p:sldId id="270" r:id="rId3"/>
    <p:sldId id="276" r:id="rId4"/>
    <p:sldId id="275" r:id="rId5"/>
    <p:sldId id="277" r:id="rId6"/>
    <p:sldId id="281" r:id="rId7"/>
    <p:sldId id="268" r:id="rId8"/>
    <p:sldId id="282" r:id="rId9"/>
    <p:sldId id="278" r:id="rId10"/>
    <p:sldId id="279" r:id="rId11"/>
    <p:sldId id="271" r:id="rId12"/>
    <p:sldId id="272" r:id="rId13"/>
    <p:sldId id="273" r:id="rId14"/>
    <p:sldId id="280" r:id="rId15"/>
    <p:sldId id="274" r:id="rId16"/>
    <p:sldId id="269" r:id="rId17"/>
    <p:sldId id="266" r:id="rId18"/>
    <p:sldId id="264" r:id="rId19"/>
    <p:sldId id="267" r:id="rId20"/>
    <p:sldId id="263" r:id="rId21"/>
    <p:sldId id="265" r:id="rId22"/>
    <p:sldId id="260" r:id="rId23"/>
    <p:sldId id="261" r:id="rId24"/>
    <p:sldId id="256" r:id="rId25"/>
    <p:sldId id="257" r:id="rId26"/>
    <p:sldId id="258" r:id="rId27"/>
    <p:sldId id="259" r:id="rId28"/>
    <p:sldId id="2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Styl pośredni 4 — Ak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Styl pośredni 4 — Ak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Styl pośredni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7CE84F3-28C3-443E-9E96-99CF82512B78}" styleName="Styl ciemny 1 — Ak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Styl pośredni 4 — Ak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Styl pośredni 4 — Ak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Styl pośredni 4 — Ak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DF18680-E054-41AD-8BC1-D1AEF772440D}" styleName="Styl pośredni 2 — Ak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Styl pośredni 3 — Ak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41" autoAdjust="0"/>
  </p:normalViewPr>
  <p:slideViewPr>
    <p:cSldViewPr snapToGrid="0">
      <p:cViewPr varScale="1">
        <p:scale>
          <a:sx n="91" d="100"/>
          <a:sy n="91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193A8-9921-413C-B497-C8E23C4C867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6B1EE-22A8-4E05-940A-4F10EB69A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64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3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3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1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64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2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4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1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2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0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CFBCD-0C52-4AB4-A095-855112466B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engineerwka-creator/Python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hyperlink" Target="mailto:Engineer.wka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10" Type="http://schemas.openxmlformats.org/officeDocument/2006/relationships/image" Target="../media/image6.jpeg"/><Relationship Id="rId4" Type="http://schemas.openxmlformats.org/officeDocument/2006/relationships/hyperlink" Target="https://www.linkedin.com/in/karol-w-b95b45174/" TargetMode="Externa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99697" y="6198367"/>
            <a:ext cx="11792606" cy="381109"/>
          </a:xfrm>
        </p:spPr>
        <p:txBody>
          <a:bodyPr>
            <a:normAutofit/>
          </a:bodyPr>
          <a:lstStyle/>
          <a:p>
            <a:r>
              <a:rPr lang="pl-PL" sz="1200" b="1" dirty="0" smtClean="0"/>
              <a:t>		</a:t>
            </a:r>
            <a:r>
              <a:rPr lang="pl-PL" sz="1200" b="1" dirty="0">
                <a:hlinkClick r:id="rId2"/>
              </a:rPr>
              <a:t> Engineer.wka@gmail.com </a:t>
            </a:r>
            <a:r>
              <a:rPr lang="pl-PL" sz="1200" b="1" dirty="0" smtClean="0"/>
              <a:t>		+48 795 738 507	</a:t>
            </a:r>
            <a:r>
              <a:rPr lang="pl-PL" sz="1200" b="1" dirty="0" err="1" smtClean="0"/>
              <a:t>Linkedin</a:t>
            </a:r>
            <a:r>
              <a:rPr lang="pl-PL" sz="1200" b="1" dirty="0" smtClean="0"/>
              <a:t>		</a:t>
            </a:r>
            <a:r>
              <a:rPr lang="pl-PL" sz="1200" b="1" dirty="0" err="1" smtClean="0"/>
              <a:t>Github</a:t>
            </a:r>
            <a:r>
              <a:rPr lang="pl-PL" sz="1200" b="1" dirty="0" smtClean="0"/>
              <a:t>		</a:t>
            </a:r>
            <a:r>
              <a:rPr lang="pl-PL" sz="1200" b="1" dirty="0" err="1" smtClean="0"/>
              <a:t>Python</a:t>
            </a:r>
            <a:endParaRPr lang="en-US" sz="1200" b="1" dirty="0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80386"/>
          </a:xfrm>
          <a:prstGeom prst="rect">
            <a:avLst/>
          </a:prstGeom>
        </p:spPr>
      </p:pic>
      <p:pic>
        <p:nvPicPr>
          <p:cNvPr id="3076" name="Picture 4" descr="Linkedin amerikanisches Geschäftslogo. Social-Media-Symbol. schwarzes  Piktogramm. Vektor-Illustration isoliert auf weißem Hintergrund 3692704  Vektor Kunst bei Vecteezy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397" y="6210038"/>
            <a:ext cx="300868" cy="30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ktogramy telefon – wektory. Pobierz wysokiej jakości darmowe wektory z  Freepik | Freepik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677" y="6256272"/>
            <a:ext cx="269874" cy="26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itHub Logo: valor, história, 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784" y="6221627"/>
            <a:ext cx="535329" cy="30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Python data analysis library Icons, Logos, Symbols – Free Download PNG, SVG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719" y="6235252"/>
            <a:ext cx="325812" cy="32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Email symbol Zdjęcia - darmowe pobieranie na Freepik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75" y="6274805"/>
            <a:ext cx="355855" cy="199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63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19" y="825107"/>
            <a:ext cx="8763000" cy="5842000"/>
          </a:xfrm>
          <a:prstGeom prst="rect">
            <a:avLst/>
          </a:prstGeom>
        </p:spPr>
      </p:pic>
      <p:sp>
        <p:nvSpPr>
          <p:cNvPr id="7" name="Prostokąt 6"/>
          <p:cNvSpPr/>
          <p:nvPr/>
        </p:nvSpPr>
        <p:spPr>
          <a:xfrm>
            <a:off x="548640" y="168325"/>
            <a:ext cx="82181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l-PL" b="1" dirty="0"/>
              <a:t>V-model</a:t>
            </a:r>
            <a:r>
              <a:rPr lang="pl-PL" dirty="0"/>
              <a:t> pokazuje </a:t>
            </a:r>
            <a:r>
              <a:rPr lang="pl-PL" b="1" dirty="0"/>
              <a:t>zależność między tworzeniem systemu a jego testowaniem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8" name="Prostokąt 7"/>
          <p:cNvSpPr/>
          <p:nvPr/>
        </p:nvSpPr>
        <p:spPr>
          <a:xfrm rot="16200000">
            <a:off x="-898904" y="3210044"/>
            <a:ext cx="3748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dirty="0"/>
              <a:t>Lewa strona </a:t>
            </a:r>
            <a:r>
              <a:rPr lang="pl-PL" b="1" dirty="0"/>
              <a:t>V</a:t>
            </a:r>
            <a:r>
              <a:rPr lang="pl-PL" dirty="0"/>
              <a:t> → </a:t>
            </a:r>
            <a:r>
              <a:rPr lang="pl-PL" i="1" dirty="0"/>
              <a:t>co i jak projektujemy</a:t>
            </a:r>
            <a:endParaRPr lang="en-US" dirty="0"/>
          </a:p>
        </p:txBody>
      </p:sp>
      <p:sp>
        <p:nvSpPr>
          <p:cNvPr id="9" name="Prostokąt 8"/>
          <p:cNvSpPr/>
          <p:nvPr/>
        </p:nvSpPr>
        <p:spPr>
          <a:xfrm rot="5400000">
            <a:off x="8816971" y="3210044"/>
            <a:ext cx="45707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dirty="0"/>
              <a:t>Prawa strona </a:t>
            </a:r>
            <a:r>
              <a:rPr lang="pl-PL" b="1" dirty="0"/>
              <a:t>V</a:t>
            </a:r>
            <a:r>
              <a:rPr lang="pl-PL" dirty="0"/>
              <a:t> → </a:t>
            </a:r>
            <a:r>
              <a:rPr lang="pl-PL" i="1" dirty="0"/>
              <a:t>jak sprawdzamy, że to działa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5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004053"/>
              </p:ext>
            </p:extLst>
          </p:nvPr>
        </p:nvGraphicFramePr>
        <p:xfrm>
          <a:off x="433781" y="588789"/>
          <a:ext cx="11327130" cy="3523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565">
                  <a:extLst>
                    <a:ext uri="{9D8B030D-6E8A-4147-A177-3AD203B41FA5}">
                      <a16:colId xmlns:a16="http://schemas.microsoft.com/office/drawing/2014/main" val="4260624017"/>
                    </a:ext>
                  </a:extLst>
                </a:gridCol>
                <a:gridCol w="5663565">
                  <a:extLst>
                    <a:ext uri="{9D8B030D-6E8A-4147-A177-3AD203B41FA5}">
                      <a16:colId xmlns:a16="http://schemas.microsoft.com/office/drawing/2014/main" val="3303431953"/>
                    </a:ext>
                  </a:extLst>
                </a:gridCol>
              </a:tblGrid>
              <a:tr h="1632974"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Wymagania systemowe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Co ma robić cały system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Język „biznesowo-funkcjonalny”</a:t>
                      </a:r>
                    </a:p>
                    <a:p>
                      <a:endParaRPr lang="pl-PL" b="1" dirty="0" smtClean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np. System musi wykrywać poślizg i stabilizować tor jazdy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Wymagania architektury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Podział na ECU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Magistrale (CAN / LIN / Ethernet)</a:t>
                      </a:r>
                    </a:p>
                    <a:p>
                      <a:endParaRPr lang="pl-PL" b="1" dirty="0" smtClean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np.</a:t>
                      </a:r>
                      <a:r>
                        <a:rPr lang="pl-PL" b="1" baseline="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ESP ECU komunikuje się z Engine ECU po CAN.</a:t>
                      </a:r>
                      <a:endParaRPr lang="en-US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90049715"/>
                  </a:ext>
                </a:extLst>
              </a:tr>
              <a:tr h="1890812"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Wymagania software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Logika, algorytmy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Stany, reakcje, timingi</a:t>
                      </a:r>
                    </a:p>
                    <a:p>
                      <a:endParaRPr lang="pl-PL" b="1" dirty="0" smtClean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np. Gdy poślizg &gt; X, moment silnika ma zostać ograniczony w czasie &lt; 10 ms.</a:t>
                      </a:r>
                      <a:endParaRPr lang="en-US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Implementacja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Kod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konfiguracja</a:t>
                      </a:r>
                    </a:p>
                    <a:p>
                      <a:r>
                        <a:rPr lang="pl-PL" b="1" dirty="0" smtClean="0">
                          <a:solidFill>
                            <a:srgbClr val="00B050"/>
                          </a:solidFill>
                        </a:rPr>
                        <a:t>kalibracja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32752919"/>
                  </a:ext>
                </a:extLst>
              </a:tr>
            </a:tbl>
          </a:graphicData>
        </a:graphic>
      </p:graphicFrame>
      <p:sp>
        <p:nvSpPr>
          <p:cNvPr id="6" name="Prostokąt 5"/>
          <p:cNvSpPr/>
          <p:nvPr/>
        </p:nvSpPr>
        <p:spPr>
          <a:xfrm>
            <a:off x="460130" y="161024"/>
            <a:ext cx="3699154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>
            <a:spAutoFit/>
          </a:bodyPr>
          <a:lstStyle/>
          <a:p>
            <a:r>
              <a:rPr lang="pl-PL" b="1" dirty="0"/>
              <a:t>Lewa strona V – wymagania i projekt</a:t>
            </a:r>
            <a:endParaRPr lang="en-US" b="1" dirty="0"/>
          </a:p>
        </p:txBody>
      </p:sp>
      <p:sp>
        <p:nvSpPr>
          <p:cNvPr id="7" name="Prostokąt 6"/>
          <p:cNvSpPr/>
          <p:nvPr/>
        </p:nvSpPr>
        <p:spPr>
          <a:xfrm>
            <a:off x="9403394" y="4197756"/>
            <a:ext cx="2322174" cy="369332"/>
          </a:xfrm>
          <a:prstGeom prst="rect">
            <a:avLst/>
          </a:prstGeom>
          <a:solidFill>
            <a:schemeClr val="accent6"/>
          </a:solidFill>
        </p:spPr>
        <p:txBody>
          <a:bodyPr wrap="none">
            <a:spAutoFit/>
          </a:bodyPr>
          <a:lstStyle/>
          <a:p>
            <a:r>
              <a:rPr lang="en-US" b="1" dirty="0" err="1"/>
              <a:t>Prawa</a:t>
            </a:r>
            <a:r>
              <a:rPr lang="en-US" b="1" dirty="0"/>
              <a:t> </a:t>
            </a:r>
            <a:r>
              <a:rPr lang="en-US" b="1" dirty="0" err="1"/>
              <a:t>strona</a:t>
            </a:r>
            <a:r>
              <a:rPr lang="en-US" b="1" dirty="0"/>
              <a:t> V – testy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211024"/>
              </p:ext>
            </p:extLst>
          </p:nvPr>
        </p:nvGraphicFramePr>
        <p:xfrm>
          <a:off x="422631" y="4644888"/>
          <a:ext cx="11327128" cy="201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31782">
                  <a:extLst>
                    <a:ext uri="{9D8B030D-6E8A-4147-A177-3AD203B41FA5}">
                      <a16:colId xmlns:a16="http://schemas.microsoft.com/office/drawing/2014/main" val="3902080005"/>
                    </a:ext>
                  </a:extLst>
                </a:gridCol>
                <a:gridCol w="2831782">
                  <a:extLst>
                    <a:ext uri="{9D8B030D-6E8A-4147-A177-3AD203B41FA5}">
                      <a16:colId xmlns:a16="http://schemas.microsoft.com/office/drawing/2014/main" val="305720427"/>
                    </a:ext>
                  </a:extLst>
                </a:gridCol>
                <a:gridCol w="2831782">
                  <a:extLst>
                    <a:ext uri="{9D8B030D-6E8A-4147-A177-3AD203B41FA5}">
                      <a16:colId xmlns:a16="http://schemas.microsoft.com/office/drawing/2014/main" val="1009427091"/>
                    </a:ext>
                  </a:extLst>
                </a:gridCol>
                <a:gridCol w="2831782">
                  <a:extLst>
                    <a:ext uri="{9D8B030D-6E8A-4147-A177-3AD203B41FA5}">
                      <a16:colId xmlns:a16="http://schemas.microsoft.com/office/drawing/2014/main" val="1440921494"/>
                    </a:ext>
                  </a:extLst>
                </a:gridCol>
              </a:tblGrid>
              <a:tr h="1878568"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 Testy jednostkowe</a:t>
                      </a:r>
                    </a:p>
                    <a:p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↔ </a:t>
                      </a:r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Implementacja</a:t>
                      </a:r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funkcje</a:t>
                      </a:r>
                    </a:p>
                    <a:p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moduły</a:t>
                      </a:r>
                    </a:p>
                    <a:p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algorytmy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 Testy integracyjne</a:t>
                      </a:r>
                    </a:p>
                    <a:p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↔ </a:t>
                      </a:r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Wymagania software</a:t>
                      </a:r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współpraca modułów</a:t>
                      </a:r>
                    </a:p>
                    <a:p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komunikacja CAN/LIN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pl-PL" b="1" dirty="0" smtClean="0"/>
                        <a:t>Testy systemowe</a:t>
                      </a:r>
                    </a:p>
                    <a:p>
                      <a:r>
                        <a:rPr lang="pl-PL" b="1" dirty="0" smtClean="0"/>
                        <a:t>↔ Wymagania systemowe</a:t>
                      </a:r>
                    </a:p>
                    <a:p>
                      <a:r>
                        <a:rPr lang="pl-PL" b="1" dirty="0" smtClean="0"/>
                        <a:t>zachowanie całego ECU / auta</a:t>
                      </a:r>
                    </a:p>
                    <a:p>
                      <a:r>
                        <a:rPr lang="pl-PL" b="1" dirty="0" smtClean="0"/>
                        <a:t>scenariusze użytkownika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pl-PL" b="1" dirty="0" smtClean="0"/>
                        <a:t>Testy akceptacyjne</a:t>
                      </a:r>
                    </a:p>
                    <a:p>
                      <a:r>
                        <a:rPr lang="pl-PL" dirty="0" smtClean="0"/>
                        <a:t>↔ </a:t>
                      </a:r>
                      <a:r>
                        <a:rPr lang="pl-PL" b="1" dirty="0" smtClean="0"/>
                        <a:t>wymagania klienta / OEM</a:t>
                      </a:r>
                    </a:p>
                    <a:p>
                      <a:endParaRPr lang="pl-PL" dirty="0" smtClean="0"/>
                    </a:p>
                    <a:p>
                      <a:r>
                        <a:rPr lang="pl-PL" dirty="0" smtClean="0"/>
                        <a:t>„czy to jest to, co zamówił</a:t>
                      </a:r>
                      <a:r>
                        <a:rPr lang="pl-PL" baseline="0" dirty="0" smtClean="0"/>
                        <a:t> klient</a:t>
                      </a:r>
                      <a:r>
                        <a:rPr lang="pl-PL" dirty="0" smtClean="0"/>
                        <a:t>?”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360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87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685941"/>
              </p:ext>
            </p:extLst>
          </p:nvPr>
        </p:nvGraphicFramePr>
        <p:xfrm>
          <a:off x="1313793" y="251297"/>
          <a:ext cx="9438290" cy="28501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19145">
                  <a:extLst>
                    <a:ext uri="{9D8B030D-6E8A-4147-A177-3AD203B41FA5}">
                      <a16:colId xmlns:a16="http://schemas.microsoft.com/office/drawing/2014/main" val="4260624017"/>
                    </a:ext>
                  </a:extLst>
                </a:gridCol>
                <a:gridCol w="4719145">
                  <a:extLst>
                    <a:ext uri="{9D8B030D-6E8A-4147-A177-3AD203B41FA5}">
                      <a16:colId xmlns:a16="http://schemas.microsoft.com/office/drawing/2014/main" val="3303431953"/>
                    </a:ext>
                  </a:extLst>
                </a:gridCol>
              </a:tblGrid>
              <a:tr h="2850153">
                <a:tc>
                  <a:txBody>
                    <a:bodyPr/>
                    <a:lstStyle/>
                    <a:p>
                      <a:r>
                        <a:rPr lang="en-US" dirty="0" smtClean="0"/>
                        <a:t>Verification (</a:t>
                      </a:r>
                      <a:r>
                        <a:rPr lang="en-US" dirty="0" err="1" smtClean="0"/>
                        <a:t>lewa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strona</a:t>
                      </a:r>
                      <a:r>
                        <a:rPr lang="en-US" dirty="0" smtClean="0"/>
                        <a:t> V → </a:t>
                      </a:r>
                      <a:r>
                        <a:rPr lang="en-US" dirty="0" err="1" smtClean="0"/>
                        <a:t>prawa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środkowa</a:t>
                      </a:r>
                      <a:r>
                        <a:rPr lang="en-US" dirty="0" smtClean="0"/>
                        <a:t>)</a:t>
                      </a:r>
                    </a:p>
                    <a:p>
                      <a:endParaRPr lang="pl-PL" dirty="0" smtClean="0"/>
                    </a:p>
                    <a:p>
                      <a:r>
                        <a:rPr lang="en-US" dirty="0" smtClean="0"/>
                        <a:t>code review</a:t>
                      </a:r>
                    </a:p>
                    <a:p>
                      <a:r>
                        <a:rPr lang="en-US" dirty="0" smtClean="0"/>
                        <a:t>static analysis</a:t>
                      </a:r>
                    </a:p>
                    <a:p>
                      <a:r>
                        <a:rPr lang="en-US" dirty="0" smtClean="0"/>
                        <a:t>unit test</a:t>
                      </a:r>
                    </a:p>
                    <a:p>
                      <a:r>
                        <a:rPr lang="en-US" dirty="0" smtClean="0"/>
                        <a:t>integration test</a:t>
                      </a:r>
                    </a:p>
                    <a:p>
                      <a:r>
                        <a:rPr lang="en-US" dirty="0" smtClean="0"/>
                        <a:t>requirement-based test</a:t>
                      </a:r>
                      <a:endParaRPr lang="pl-PL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err="1" smtClean="0"/>
                        <a:t>Dowód</a:t>
                      </a:r>
                      <a:r>
                        <a:rPr lang="en-US" dirty="0" smtClean="0"/>
                        <a:t>: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✔ </a:t>
                      </a:r>
                      <a:r>
                        <a:rPr lang="en-US" dirty="0" err="1" smtClean="0"/>
                        <a:t>działa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zgodnie</a:t>
                      </a:r>
                      <a:r>
                        <a:rPr lang="en-US" dirty="0" smtClean="0"/>
                        <a:t> z </a:t>
                      </a:r>
                      <a:r>
                        <a:rPr lang="en-US" dirty="0" err="1" smtClean="0"/>
                        <a:t>wymaganiem</a:t>
                      </a:r>
                      <a:endParaRPr lang="en-US" b="0" dirty="0" smtClean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Validation (</a:t>
                      </a:r>
                      <a:r>
                        <a:rPr lang="en-US" dirty="0" err="1" smtClean="0"/>
                        <a:t>góra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prawa</a:t>
                      </a:r>
                      <a:r>
                        <a:rPr lang="en-US" dirty="0" smtClean="0"/>
                        <a:t> V)</a:t>
                      </a:r>
                    </a:p>
                    <a:p>
                      <a:endParaRPr lang="pl-PL" dirty="0" smtClean="0"/>
                    </a:p>
                    <a:p>
                      <a:r>
                        <a:rPr lang="en-US" dirty="0" smtClean="0"/>
                        <a:t>vehicle test</a:t>
                      </a:r>
                    </a:p>
                    <a:p>
                      <a:r>
                        <a:rPr lang="en-US" dirty="0" smtClean="0"/>
                        <a:t>track test</a:t>
                      </a:r>
                    </a:p>
                    <a:p>
                      <a:r>
                        <a:rPr lang="en-US" dirty="0" smtClean="0"/>
                        <a:t>customer scenario test</a:t>
                      </a:r>
                    </a:p>
                    <a:p>
                      <a:r>
                        <a:rPr lang="en-US" dirty="0" smtClean="0"/>
                        <a:t>usability / drivability</a:t>
                      </a:r>
                      <a:endParaRPr lang="pl-PL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err="1" smtClean="0"/>
                        <a:t>Dowód</a:t>
                      </a:r>
                      <a:r>
                        <a:rPr lang="en-US" dirty="0" smtClean="0"/>
                        <a:t>: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✔ </a:t>
                      </a:r>
                      <a:r>
                        <a:rPr lang="en-US" dirty="0" err="1" smtClean="0"/>
                        <a:t>działa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zgodnie</a:t>
                      </a:r>
                      <a:r>
                        <a:rPr lang="en-US" dirty="0" smtClean="0"/>
                        <a:t> z </a:t>
                      </a:r>
                      <a:r>
                        <a:rPr lang="en-US" dirty="0" err="1" smtClean="0"/>
                        <a:t>oczekiwaniem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użytkownika</a:t>
                      </a:r>
                      <a:endParaRPr lang="en-US" b="0" dirty="0" smtClean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049715"/>
                  </a:ext>
                </a:extLst>
              </a:tr>
            </a:tbl>
          </a:graphicData>
        </a:graphic>
      </p:graphicFrame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905436"/>
              </p:ext>
            </p:extLst>
          </p:nvPr>
        </p:nvGraphicFramePr>
        <p:xfrm>
          <a:off x="890752" y="3791085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873338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487290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34939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805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Pytanie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Czy dobrze zrobiliśmy?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Czy zrobiliśmy właściwą rzecz?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36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Porównanie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Specyfikacja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Real world / user need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047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Gdzie w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środek prawej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top prawej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970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ASPICE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SWE.5, SWE.6, SYS.4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79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0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752865"/>
              </p:ext>
            </p:extLst>
          </p:nvPr>
        </p:nvGraphicFramePr>
        <p:xfrm>
          <a:off x="501802" y="435887"/>
          <a:ext cx="1119582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7913">
                  <a:extLst>
                    <a:ext uri="{9D8B030D-6E8A-4147-A177-3AD203B41FA5}">
                      <a16:colId xmlns:a16="http://schemas.microsoft.com/office/drawing/2014/main" val="3447600805"/>
                    </a:ext>
                  </a:extLst>
                </a:gridCol>
                <a:gridCol w="5597913">
                  <a:extLst>
                    <a:ext uri="{9D8B030D-6E8A-4147-A177-3AD203B41FA5}">
                      <a16:colId xmlns:a16="http://schemas.microsoft.com/office/drawing/2014/main" val="330303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pl-PL" altLang="en-US" b="1" dirty="0" smtClean="0">
                        <a:solidFill>
                          <a:schemeClr val="bg1"/>
                        </a:solidFill>
                        <a:latin typeface="+mj-lt"/>
                      </a:endParaRPr>
                    </a:p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✅ Verification – „</a:t>
                      </a:r>
                      <a:r>
                        <a:rPr lang="en-US" altLang="en-US" b="1" dirty="0" err="1" smtClean="0">
                          <a:solidFill>
                            <a:schemeClr val="bg1"/>
                          </a:solidFill>
                          <a:latin typeface="+mj-lt"/>
                        </a:rPr>
                        <a:t>czy</a:t>
                      </a:r>
                      <a:r>
                        <a:rPr lang="en-US" altLang="en-US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lang="en-US" altLang="en-US" b="1" dirty="0" err="1" smtClean="0">
                          <a:solidFill>
                            <a:schemeClr val="bg1"/>
                          </a:solidFill>
                          <a:latin typeface="+mj-lt"/>
                        </a:rPr>
                        <a:t>robimy</a:t>
                      </a:r>
                      <a:r>
                        <a:rPr lang="en-US" altLang="en-US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 to DOBRZE?”</a:t>
                      </a:r>
                      <a:endParaRPr lang="pl-PL" altLang="en-US" b="1" dirty="0" smtClean="0">
                        <a:solidFill>
                          <a:schemeClr val="bg1"/>
                        </a:solidFill>
                        <a:latin typeface="+mj-lt"/>
                      </a:endParaRPr>
                    </a:p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en-US" b="1" dirty="0" smtClean="0">
                        <a:solidFill>
                          <a:schemeClr val="bg1"/>
                        </a:solidFill>
                        <a:latin typeface="+mj-lt"/>
                      </a:endParaRPr>
                    </a:p>
                    <a:p>
                      <a:pPr marL="285750" lvl="0" indent="-28575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pl-PL" altLang="en-US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lang="en-US" altLang="en-US" b="1" dirty="0" err="1" smtClean="0">
                          <a:solidFill>
                            <a:schemeClr val="bg1"/>
                          </a:solidFill>
                          <a:latin typeface="+mj-lt"/>
                        </a:rPr>
                        <a:t>zgodnie</a:t>
                      </a:r>
                      <a:r>
                        <a:rPr lang="en-US" altLang="en-US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 z </a:t>
                      </a:r>
                      <a:r>
                        <a:rPr lang="en-US" altLang="en-US" b="1" dirty="0" err="1" smtClean="0">
                          <a:solidFill>
                            <a:schemeClr val="bg1"/>
                          </a:solidFill>
                          <a:latin typeface="+mj-lt"/>
                        </a:rPr>
                        <a:t>wymaganiami</a:t>
                      </a:r>
                      <a:r>
                        <a:rPr lang="en-US" altLang="en-US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?</a:t>
                      </a:r>
                      <a:endParaRPr kumimoji="0" lang="pl-PL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pl-PL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poprawna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implementacja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?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pl-PL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testy </a:t>
                      </a:r>
                      <a:r>
                        <a:rPr kumimoji="0" lang="en-US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techniczne</a:t>
                      </a:r>
                      <a:endParaRPr kumimoji="0" lang="en-US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l-PL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l-PL" altLang="en-US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np. </a:t>
                      </a:r>
                      <a:r>
                        <a:rPr kumimoji="0" lang="en-US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Czy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moment </a:t>
                      </a:r>
                      <a:r>
                        <a:rPr kumimoji="0" lang="en-US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silnika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jest </a:t>
                      </a:r>
                      <a:r>
                        <a:rPr kumimoji="0" lang="en-US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ograniczany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w &lt;10 </a:t>
                      </a:r>
                      <a:r>
                        <a:rPr kumimoji="0" lang="en-US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ms</a:t>
                      </a: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?</a:t>
                      </a:r>
                    </a:p>
                    <a:p>
                      <a:endParaRPr lang="en-US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b="1" dirty="0" smtClean="0">
                        <a:latin typeface="+mj-lt"/>
                      </a:endParaRPr>
                    </a:p>
                    <a:p>
                      <a:r>
                        <a:rPr lang="pl-PL" b="1" dirty="0" smtClean="0">
                          <a:latin typeface="+mj-lt"/>
                        </a:rPr>
                        <a:t>🎯 </a:t>
                      </a:r>
                      <a:r>
                        <a:rPr lang="pl-PL" b="1" dirty="0" err="1" smtClean="0">
                          <a:latin typeface="+mj-lt"/>
                        </a:rPr>
                        <a:t>Validation</a:t>
                      </a:r>
                      <a:r>
                        <a:rPr lang="pl-PL" b="1" dirty="0" smtClean="0">
                          <a:latin typeface="+mj-lt"/>
                        </a:rPr>
                        <a:t> – „czy robimy WŁAŚCIWĄ rzecz?”</a:t>
                      </a:r>
                    </a:p>
                    <a:p>
                      <a:endParaRPr lang="pl-PL" dirty="0" smtClean="0">
                        <a:latin typeface="+mj-lt"/>
                      </a:endParaRPr>
                    </a:p>
                    <a:p>
                      <a:r>
                        <a:rPr lang="pl-PL" dirty="0" smtClean="0">
                          <a:latin typeface="+mj-lt"/>
                        </a:rPr>
                        <a:t>czy system ma sens dla użytkownika?</a:t>
                      </a:r>
                    </a:p>
                    <a:p>
                      <a:r>
                        <a:rPr lang="pl-PL" dirty="0" smtClean="0">
                          <a:latin typeface="+mj-lt"/>
                        </a:rPr>
                        <a:t>czy spełnia cel biznesowy?</a:t>
                      </a:r>
                    </a:p>
                    <a:p>
                      <a:endParaRPr lang="pl-PL" b="1" dirty="0" smtClean="0">
                        <a:latin typeface="+mj-lt"/>
                      </a:endParaRPr>
                    </a:p>
                    <a:p>
                      <a:endParaRPr lang="pl-PL" b="1" dirty="0" smtClean="0">
                        <a:latin typeface="+mj-lt"/>
                      </a:endParaRPr>
                    </a:p>
                    <a:p>
                      <a:r>
                        <a:rPr lang="pl-PL" b="1" dirty="0" smtClean="0">
                          <a:latin typeface="+mj-lt"/>
                        </a:rPr>
                        <a:t>np.</a:t>
                      </a:r>
                      <a:r>
                        <a:rPr lang="pl-PL" b="1" baseline="0" dirty="0" smtClean="0">
                          <a:latin typeface="+mj-lt"/>
                        </a:rPr>
                        <a:t> </a:t>
                      </a:r>
                      <a:r>
                        <a:rPr lang="pl-PL" dirty="0" smtClean="0">
                          <a:latin typeface="+mj-lt"/>
                        </a:rPr>
                        <a:t>Czy kierowca faktycznie odzyskuje kontrolę nad autem?</a:t>
                      </a:r>
                      <a:endParaRPr lang="en-US" b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98705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502580"/>
              </p:ext>
            </p:extLst>
          </p:nvPr>
        </p:nvGraphicFramePr>
        <p:xfrm>
          <a:off x="501802" y="3234843"/>
          <a:ext cx="11195826" cy="2402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7913">
                  <a:extLst>
                    <a:ext uri="{9D8B030D-6E8A-4147-A177-3AD203B41FA5}">
                      <a16:colId xmlns:a16="http://schemas.microsoft.com/office/drawing/2014/main" val="4092159742"/>
                    </a:ext>
                  </a:extLst>
                </a:gridCol>
                <a:gridCol w="5597913">
                  <a:extLst>
                    <a:ext uri="{9D8B030D-6E8A-4147-A177-3AD203B41FA5}">
                      <a16:colId xmlns:a16="http://schemas.microsoft.com/office/drawing/2014/main" val="881873247"/>
                    </a:ext>
                  </a:extLst>
                </a:gridCol>
              </a:tblGrid>
              <a:tr h="2402676">
                <a:tc>
                  <a:txBody>
                    <a:bodyPr/>
                    <a:lstStyle/>
                    <a:p>
                      <a:r>
                        <a:rPr lang="pl-PL" b="1" dirty="0" smtClean="0">
                          <a:latin typeface="+mj-lt"/>
                        </a:rPr>
                        <a:t>🔗 </a:t>
                      </a:r>
                      <a:r>
                        <a:rPr lang="pl-PL" b="1" dirty="0" err="1" smtClean="0">
                          <a:latin typeface="+mj-lt"/>
                        </a:rPr>
                        <a:t>Traceability</a:t>
                      </a:r>
                      <a:r>
                        <a:rPr lang="pl-PL" b="1" dirty="0" smtClean="0">
                          <a:latin typeface="+mj-lt"/>
                        </a:rPr>
                        <a:t> = </a:t>
                      </a:r>
                      <a:r>
                        <a:rPr lang="pl-PL" b="1" dirty="0" err="1" smtClean="0">
                          <a:latin typeface="+mj-lt"/>
                        </a:rPr>
                        <a:t>Requirement</a:t>
                      </a:r>
                      <a:r>
                        <a:rPr lang="pl-PL" b="1" dirty="0" smtClean="0">
                          <a:latin typeface="+mj-lt"/>
                        </a:rPr>
                        <a:t> ↔ Test</a:t>
                      </a:r>
                    </a:p>
                    <a:p>
                      <a:r>
                        <a:rPr lang="pl-PL" dirty="0" smtClean="0">
                          <a:latin typeface="+mj-lt"/>
                        </a:rPr>
                        <a:t>Każde wymaganie:</a:t>
                      </a:r>
                    </a:p>
                    <a:p>
                      <a:endParaRPr lang="pl-PL" dirty="0" smtClean="0">
                        <a:latin typeface="+mj-lt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pl-PL" dirty="0" smtClean="0">
                          <a:latin typeface="+mj-lt"/>
                        </a:rPr>
                        <a:t>ma </a:t>
                      </a:r>
                      <a:r>
                        <a:rPr lang="pl-PL" b="1" dirty="0" smtClean="0">
                          <a:latin typeface="+mj-lt"/>
                        </a:rPr>
                        <a:t>ID</a:t>
                      </a:r>
                      <a:endParaRPr lang="pl-PL" dirty="0" smtClean="0">
                        <a:latin typeface="+mj-lt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pl-PL" dirty="0" smtClean="0">
                          <a:latin typeface="+mj-lt"/>
                        </a:rPr>
                        <a:t>ma </a:t>
                      </a:r>
                      <a:r>
                        <a:rPr lang="pl-PL" b="1" dirty="0" smtClean="0">
                          <a:latin typeface="+mj-lt"/>
                        </a:rPr>
                        <a:t>jeden lub więcej testów</a:t>
                      </a:r>
                      <a:endParaRPr lang="pl-PL" dirty="0" smtClean="0">
                        <a:latin typeface="+mj-lt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pl-PL" dirty="0" smtClean="0">
                          <a:latin typeface="+mj-lt"/>
                        </a:rPr>
                        <a:t>test </a:t>
                      </a:r>
                      <a:r>
                        <a:rPr lang="pl-PL" b="1" dirty="0" smtClean="0">
                          <a:latin typeface="+mj-lt"/>
                        </a:rPr>
                        <a:t>wprost odnosi się do ID wymagania</a:t>
                      </a:r>
                      <a:endParaRPr lang="pl-PL" dirty="0" smtClean="0">
                        <a:latin typeface="+mj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Wymaganie:</a:t>
                      </a:r>
                    </a:p>
                    <a:p>
                      <a:r>
                        <a:rPr lang="pl-PL" dirty="0" smtClean="0"/>
                        <a:t>REQ_SYS_123:</a:t>
                      </a:r>
                    </a:p>
                    <a:p>
                      <a:r>
                        <a:rPr lang="pl-PL" dirty="0" smtClean="0"/>
                        <a:t>System musi ograniczyć moment silnika w czasie &lt; 10 ms.</a:t>
                      </a:r>
                    </a:p>
                    <a:p>
                      <a:endParaRPr lang="pl-PL" dirty="0" smtClean="0"/>
                    </a:p>
                    <a:p>
                      <a:r>
                        <a:rPr lang="pl-PL" dirty="0" smtClean="0"/>
                        <a:t>Test:</a:t>
                      </a:r>
                    </a:p>
                    <a:p>
                      <a:r>
                        <a:rPr lang="pl-PL" dirty="0" smtClean="0"/>
                        <a:t>TC_SYS_045:</a:t>
                      </a:r>
                    </a:p>
                    <a:p>
                      <a:r>
                        <a:rPr lang="pl-PL" dirty="0" smtClean="0"/>
                        <a:t>Sprawdzenie czasu reakcji ograniczenia momentu.</a:t>
                      </a:r>
                    </a:p>
                    <a:p>
                      <a:r>
                        <a:rPr lang="pl-PL" dirty="0" err="1" smtClean="0"/>
                        <a:t>Covers</a:t>
                      </a:r>
                      <a:r>
                        <a:rPr lang="pl-PL" dirty="0" smtClean="0"/>
                        <a:t>: REQ_SYS_123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485452"/>
                  </a:ext>
                </a:extLst>
              </a:tr>
            </a:tbl>
          </a:graphicData>
        </a:graphic>
      </p:graphicFrame>
      <p:sp>
        <p:nvSpPr>
          <p:cNvPr id="2" name="Prostokąt 1"/>
          <p:cNvSpPr/>
          <p:nvPr/>
        </p:nvSpPr>
        <p:spPr>
          <a:xfrm>
            <a:off x="501802" y="5625929"/>
            <a:ext cx="11195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/>
              <a:t>👉 ASPICE to branżowy model oceny dojrzałości procesów system i software engineering w </a:t>
            </a:r>
            <a:r>
              <a:rPr lang="pl-PL" b="1" dirty="0" err="1"/>
              <a:t>automotive</a:t>
            </a:r>
            <a:r>
              <a:rPr lang="pl-PL" b="1" dirty="0"/>
              <a:t>, używany do zapewnienia jakości, </a:t>
            </a:r>
            <a:r>
              <a:rPr lang="pl-PL" b="1" dirty="0" err="1"/>
              <a:t>traceability</a:t>
            </a:r>
            <a:r>
              <a:rPr lang="pl-PL" b="1" dirty="0"/>
              <a:t> i powtarzalności </a:t>
            </a:r>
            <a:r>
              <a:rPr lang="pl-PL" b="1" dirty="0" err="1"/>
              <a:t>developmentu</a:t>
            </a:r>
            <a:r>
              <a:rPr lang="pl-PL" b="1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6589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013250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04161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348843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027125"/>
              </p:ext>
            </p:extLst>
          </p:nvPr>
        </p:nvGraphicFramePr>
        <p:xfrm>
          <a:off x="156117" y="178420"/>
          <a:ext cx="11853746" cy="64788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853746">
                  <a:extLst>
                    <a:ext uri="{9D8B030D-6E8A-4147-A177-3AD203B41FA5}">
                      <a16:colId xmlns:a16="http://schemas.microsoft.com/office/drawing/2014/main" val="4050622298"/>
                    </a:ext>
                  </a:extLst>
                </a:gridCol>
              </a:tblGrid>
              <a:tr h="6478858">
                <a:tc>
                  <a:txBody>
                    <a:bodyPr/>
                    <a:lstStyle/>
                    <a:p>
                      <a:r>
                        <a:rPr lang="pl-PL" b="1" dirty="0" smtClean="0"/>
                        <a:t>ASPICE (Automotive SPICE)</a:t>
                      </a:r>
                      <a:r>
                        <a:rPr lang="pl-PL" dirty="0" smtClean="0"/>
                        <a:t> to </a:t>
                      </a:r>
                      <a:r>
                        <a:rPr lang="pl-PL" b="1" dirty="0" smtClean="0"/>
                        <a:t>model oceny i doskonalenia procesów inżynierskich</a:t>
                      </a:r>
                      <a:r>
                        <a:rPr lang="pl-PL" dirty="0" smtClean="0"/>
                        <a:t> używany w branży </a:t>
                      </a:r>
                      <a:r>
                        <a:rPr lang="pl-PL" dirty="0" err="1" smtClean="0"/>
                        <a:t>automotive</a:t>
                      </a:r>
                      <a:r>
                        <a:rPr lang="pl-PL" dirty="0" smtClean="0"/>
                        <a:t> – głównie do oceny jakości procesów tworzenia systemów i oprogramowania w pojazdach (np. ECU).</a:t>
                      </a:r>
                    </a:p>
                    <a:p>
                      <a:endParaRPr lang="pl-PL" dirty="0" smtClean="0"/>
                    </a:p>
                    <a:p>
                      <a:r>
                        <a:rPr lang="pl-PL" dirty="0" smtClean="0"/>
                        <a:t>ASPICE – </a:t>
                      </a:r>
                      <a:r>
                        <a:rPr lang="pl-PL" b="1" dirty="0" smtClean="0"/>
                        <a:t>Automotive </a:t>
                      </a:r>
                      <a:r>
                        <a:rPr lang="en-US" b="1" dirty="0" smtClean="0"/>
                        <a:t>Software Process Improvement and Capability Determination</a:t>
                      </a:r>
                      <a:r>
                        <a:rPr lang="pl-PL" b="1" dirty="0" smtClean="0"/>
                        <a:t>.</a:t>
                      </a:r>
                    </a:p>
                    <a:p>
                      <a:endParaRPr lang="pl-PL" b="1" dirty="0" smtClean="0"/>
                    </a:p>
                    <a:p>
                      <a:r>
                        <a:rPr lang="pl-PL" dirty="0" smtClean="0"/>
                        <a:t>🏗 Co dokładnie opisuje ASPICE</a:t>
                      </a:r>
                    </a:p>
                    <a:p>
                      <a:endParaRPr lang="pl-PL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062043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381487"/>
              </p:ext>
            </p:extLst>
          </p:nvPr>
        </p:nvGraphicFramePr>
        <p:xfrm>
          <a:off x="256478" y="1940312"/>
          <a:ext cx="11608420" cy="457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4907">
                  <a:extLst>
                    <a:ext uri="{9D8B030D-6E8A-4147-A177-3AD203B41FA5}">
                      <a16:colId xmlns:a16="http://schemas.microsoft.com/office/drawing/2014/main" val="2178209201"/>
                    </a:ext>
                  </a:extLst>
                </a:gridCol>
                <a:gridCol w="4683513">
                  <a:extLst>
                    <a:ext uri="{9D8B030D-6E8A-4147-A177-3AD203B41FA5}">
                      <a16:colId xmlns:a16="http://schemas.microsoft.com/office/drawing/2014/main" val="3911440825"/>
                    </a:ext>
                  </a:extLst>
                </a:gridCol>
              </a:tblGrid>
              <a:tr h="457199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dirty="0" err="1" smtClean="0"/>
                        <a:t>Procesy</a:t>
                      </a:r>
                      <a:r>
                        <a:rPr lang="en-US" dirty="0" smtClean="0"/>
                        <a:t> (CO </a:t>
                      </a:r>
                      <a:r>
                        <a:rPr lang="en-US" dirty="0" err="1" smtClean="0"/>
                        <a:t>robisz</a:t>
                      </a:r>
                      <a:r>
                        <a:rPr lang="pl-PL" dirty="0" smtClean="0"/>
                        <a:t>?</a:t>
                      </a:r>
                      <a:r>
                        <a:rPr lang="en-US" dirty="0" smtClean="0"/>
                        <a:t>)</a:t>
                      </a:r>
                      <a:r>
                        <a:rPr lang="pl-PL" dirty="0" smtClean="0"/>
                        <a:t>, np.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dirty="0" smtClean="0"/>
                    </a:p>
                    <a:p>
                      <a:r>
                        <a:rPr lang="pl-PL" dirty="0" smtClean="0"/>
                        <a:t>SYS - </a:t>
                      </a:r>
                      <a:r>
                        <a:rPr lang="en-US" dirty="0" smtClean="0"/>
                        <a:t>System engineering</a:t>
                      </a:r>
                      <a:r>
                        <a:rPr lang="pl-PL" dirty="0" smtClean="0"/>
                        <a:t>.</a:t>
                      </a:r>
                      <a:endParaRPr lang="en-US" dirty="0" smtClean="0"/>
                    </a:p>
                    <a:p>
                      <a:r>
                        <a:rPr lang="pl-PL" dirty="0" smtClean="0"/>
                        <a:t>SWE - </a:t>
                      </a:r>
                      <a:r>
                        <a:rPr lang="en-US" dirty="0" smtClean="0"/>
                        <a:t>Software engineering</a:t>
                      </a:r>
                      <a:r>
                        <a:rPr lang="pl-PL" dirty="0" smtClean="0"/>
                        <a:t>.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SUP –</a:t>
                      </a:r>
                      <a:r>
                        <a:rPr lang="pl-PL" dirty="0" smtClean="0"/>
                        <a:t> </a:t>
                      </a:r>
                      <a:r>
                        <a:rPr lang="en-US" dirty="0" smtClean="0"/>
                        <a:t>Supporting processes </a:t>
                      </a:r>
                      <a:r>
                        <a:rPr lang="pl-PL" dirty="0" smtClean="0"/>
                        <a:t>[</a:t>
                      </a:r>
                      <a:r>
                        <a:rPr lang="en-US" dirty="0" err="1" smtClean="0"/>
                        <a:t>config</a:t>
                      </a:r>
                      <a:r>
                        <a:rPr lang="en-US" dirty="0" smtClean="0"/>
                        <a:t>, QA, change management</a:t>
                      </a:r>
                      <a:r>
                        <a:rPr lang="pl-PL" dirty="0" smtClean="0"/>
                        <a:t>].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MAN –</a:t>
                      </a:r>
                      <a:r>
                        <a:rPr lang="pl-PL" dirty="0" smtClean="0"/>
                        <a:t> </a:t>
                      </a:r>
                      <a:r>
                        <a:rPr lang="en-US" dirty="0" smtClean="0"/>
                        <a:t>Management </a:t>
                      </a:r>
                      <a:r>
                        <a:rPr lang="pl-PL" dirty="0" smtClean="0"/>
                        <a:t>[</a:t>
                      </a:r>
                      <a:r>
                        <a:rPr lang="en-US" dirty="0" smtClean="0"/>
                        <a:t>project, risk</a:t>
                      </a:r>
                      <a:r>
                        <a:rPr lang="pl-PL" dirty="0" smtClean="0"/>
                        <a:t>].</a:t>
                      </a:r>
                      <a:endParaRPr lang="en-US" dirty="0" smtClean="0"/>
                    </a:p>
                    <a:p>
                      <a:endParaRPr lang="pl-PL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2. </a:t>
                      </a:r>
                      <a:r>
                        <a:rPr lang="pl-PL" dirty="0" err="1" smtClean="0"/>
                        <a:t>Capability</a:t>
                      </a:r>
                      <a:r>
                        <a:rPr lang="pl-PL" dirty="0" smtClean="0"/>
                        <a:t> </a:t>
                      </a:r>
                      <a:r>
                        <a:rPr lang="pl-PL" dirty="0" err="1" smtClean="0"/>
                        <a:t>Levels</a:t>
                      </a:r>
                      <a:endParaRPr lang="pl-PL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475862"/>
                  </a:ext>
                </a:extLst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9225"/>
              </p:ext>
            </p:extLst>
          </p:nvPr>
        </p:nvGraphicFramePr>
        <p:xfrm>
          <a:off x="7283603" y="2505555"/>
          <a:ext cx="4490225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88381">
                  <a:extLst>
                    <a:ext uri="{9D8B030D-6E8A-4147-A177-3AD203B41FA5}">
                      <a16:colId xmlns:a16="http://schemas.microsoft.com/office/drawing/2014/main" val="1191277403"/>
                    </a:ext>
                  </a:extLst>
                </a:gridCol>
                <a:gridCol w="3601844">
                  <a:extLst>
                    <a:ext uri="{9D8B030D-6E8A-4147-A177-3AD203B41FA5}">
                      <a16:colId xmlns:a16="http://schemas.microsoft.com/office/drawing/2014/main" val="3027834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Level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Znaczenie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357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brak procesu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97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proces działa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05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proces zarządzany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729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proces zdefiniowany i standardowy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179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proces mierzalny i kontrolowany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0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ciągłe doskonalenie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052201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167583"/>
              </p:ext>
            </p:extLst>
          </p:nvPr>
        </p:nvGraphicFramePr>
        <p:xfrm>
          <a:off x="312233" y="3988915"/>
          <a:ext cx="6802243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21017">
                  <a:extLst>
                    <a:ext uri="{9D8B030D-6E8A-4147-A177-3AD203B41FA5}">
                      <a16:colId xmlns:a16="http://schemas.microsoft.com/office/drawing/2014/main" val="123653787"/>
                    </a:ext>
                  </a:extLst>
                </a:gridCol>
                <a:gridCol w="3281226">
                  <a:extLst>
                    <a:ext uri="{9D8B030D-6E8A-4147-A177-3AD203B41FA5}">
                      <a16:colId xmlns:a16="http://schemas.microsoft.com/office/drawing/2014/main" val="234586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SYS.1 — Stakeholder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SWE.1 — SW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675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SYS.2 — System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SWE.2 — SW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07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SYS.3 — System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SWE.3 — Detailed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96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SYS.4 — System Integration &amp;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SWE.4 — Unit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50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SYS.5 — System Qualification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SWE.5 — Unit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744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SWE.6 — Integration &amp; Test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9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52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225468" y="360495"/>
            <a:ext cx="115991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/>
              <a:t>ISO 26262 to międzynarodowa norma dotycząca bezpieczeństwa funkcjonalnego systemów elektrycznych i elektronicznych w pojazdach drogowych</a:t>
            </a:r>
            <a:r>
              <a:rPr lang="pl-PL" dirty="0"/>
              <a:t>. W praktyce: to fundament bezpieczeństwa dla nowoczesnych aut – zwłaszcza tych pełnych elektroniki, software’u i systemów ADAS 🚗💻</a:t>
            </a:r>
            <a:endParaRPr lang="en-US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925549"/>
              </p:ext>
            </p:extLst>
          </p:nvPr>
        </p:nvGraphicFramePr>
        <p:xfrm>
          <a:off x="325674" y="1521819"/>
          <a:ext cx="1122332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3321">
                  <a:extLst>
                    <a:ext uri="{9D8B030D-6E8A-4147-A177-3AD203B41FA5}">
                      <a16:colId xmlns:a16="http://schemas.microsoft.com/office/drawing/2014/main" val="1756451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Najważniejsze pojęcia (</a:t>
                      </a:r>
                      <a:r>
                        <a:rPr lang="pl-PL" b="1" dirty="0" err="1" smtClean="0">
                          <a:solidFill>
                            <a:schemeClr val="bg1"/>
                          </a:solidFill>
                        </a:rPr>
                        <a:t>must-know</a:t>
                      </a:r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  <a:p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1. Bezpieczeństwo funkcjonalne</a:t>
                      </a:r>
                    </a:p>
                    <a:p>
                      <a:r>
                        <a:rPr lang="pl-PL" b="0" dirty="0" smtClean="0">
                          <a:solidFill>
                            <a:srgbClr val="C00000"/>
                          </a:solidFill>
                        </a:rPr>
                        <a:t>Chodzi nie o to, czy system działa, tylko czy zachowa się bezpiecznie, gdy przestanie działać poprawnie.</a:t>
                      </a: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pl-PL" dirty="0" smtClean="0">
                          <a:solidFill>
                            <a:schemeClr val="bg1"/>
                          </a:solidFill>
                        </a:rPr>
                      </a:br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Przykład: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ABS może się zepsuć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ale </a:t>
                      </a:r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nie może spowodować niekontrolowanego hamowania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75628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882091"/>
              </p:ext>
            </p:extLst>
          </p:nvPr>
        </p:nvGraphicFramePr>
        <p:xfrm>
          <a:off x="325674" y="3713387"/>
          <a:ext cx="1122332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3321">
                  <a:extLst>
                    <a:ext uri="{9D8B030D-6E8A-4147-A177-3AD203B41FA5}">
                      <a16:colId xmlns:a16="http://schemas.microsoft.com/office/drawing/2014/main" val="2524210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b="1" dirty="0" smtClean="0"/>
                        <a:t>2. Hazard i analiza ryzyka (HARA</a:t>
                      </a:r>
                      <a:r>
                        <a:rPr lang="pl-PL" b="1" baseline="0" dirty="0" smtClean="0"/>
                        <a:t> - </a:t>
                      </a:r>
                      <a:r>
                        <a:rPr lang="en-US" dirty="0" smtClean="0"/>
                        <a:t>Hazard Analysis and Risk Assessment)</a:t>
                      </a:r>
                      <a:endParaRPr lang="pl-PL" b="1" dirty="0" smtClean="0"/>
                    </a:p>
                    <a:p>
                      <a:endParaRPr lang="pl-PL" dirty="0" smtClean="0"/>
                    </a:p>
                    <a:p>
                      <a:r>
                        <a:rPr lang="pl-PL" dirty="0" smtClean="0"/>
                        <a:t>Norma wymaga identyfikacji:</a:t>
                      </a:r>
                    </a:p>
                    <a:p>
                      <a:r>
                        <a:rPr lang="pl-PL" b="1" dirty="0" smtClean="0"/>
                        <a:t>hazardów</a:t>
                      </a:r>
                      <a:r>
                        <a:rPr lang="pl-PL" dirty="0" smtClean="0"/>
                        <a:t> (potencjalnych zagrożeń)</a:t>
                      </a:r>
                    </a:p>
                    <a:p>
                      <a:r>
                        <a:rPr lang="pl-PL" dirty="0" smtClean="0"/>
                        <a:t>ich </a:t>
                      </a:r>
                      <a:r>
                        <a:rPr lang="pl-PL" b="1" dirty="0" smtClean="0"/>
                        <a:t>ryzyka</a:t>
                      </a:r>
                      <a:r>
                        <a:rPr lang="pl-PL" dirty="0" smtClean="0"/>
                        <a:t>, ocenianego przez:</a:t>
                      </a:r>
                    </a:p>
                    <a:p>
                      <a:pPr lvl="1"/>
                      <a:r>
                        <a:rPr lang="pl-PL" b="1" dirty="0" smtClean="0"/>
                        <a:t>S</a:t>
                      </a:r>
                      <a:r>
                        <a:rPr lang="pl-PL" dirty="0" smtClean="0"/>
                        <a:t> – </a:t>
                      </a:r>
                      <a:r>
                        <a:rPr lang="pl-PL" dirty="0" err="1" smtClean="0"/>
                        <a:t>Severity</a:t>
                      </a:r>
                      <a:r>
                        <a:rPr lang="pl-PL" dirty="0" smtClean="0"/>
                        <a:t> (ciężkość skutków)</a:t>
                      </a:r>
                    </a:p>
                    <a:p>
                      <a:pPr lvl="1"/>
                      <a:r>
                        <a:rPr lang="pl-PL" b="1" dirty="0" smtClean="0"/>
                        <a:t>E</a:t>
                      </a:r>
                      <a:r>
                        <a:rPr lang="pl-PL" dirty="0" smtClean="0"/>
                        <a:t> – </a:t>
                      </a:r>
                      <a:r>
                        <a:rPr lang="pl-PL" dirty="0" err="1" smtClean="0"/>
                        <a:t>Exposure</a:t>
                      </a:r>
                      <a:r>
                        <a:rPr lang="pl-PL" dirty="0" smtClean="0"/>
                        <a:t> (częstotliwość sytuacji)</a:t>
                      </a:r>
                    </a:p>
                    <a:p>
                      <a:pPr lvl="1"/>
                      <a:r>
                        <a:rPr lang="pl-PL" b="1" dirty="0" smtClean="0"/>
                        <a:t>C</a:t>
                      </a:r>
                      <a:r>
                        <a:rPr lang="pl-PL" dirty="0" smtClean="0"/>
                        <a:t> – </a:t>
                      </a:r>
                      <a:r>
                        <a:rPr lang="pl-PL" dirty="0" err="1" smtClean="0"/>
                        <a:t>Controllability</a:t>
                      </a:r>
                      <a:r>
                        <a:rPr lang="pl-PL" dirty="0" smtClean="0"/>
                        <a:t> (możliwość opanowania przez kierowcę)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2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94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/>
          <p:cNvSpPr/>
          <p:nvPr/>
        </p:nvSpPr>
        <p:spPr>
          <a:xfrm>
            <a:off x="0" y="-301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 err="1">
                <a:solidFill>
                  <a:schemeClr val="bg1"/>
                </a:solidFill>
              </a:rPr>
              <a:t>FuSa</a:t>
            </a:r>
            <a:r>
              <a:rPr lang="pl-PL" b="1" dirty="0">
                <a:solidFill>
                  <a:schemeClr val="bg1"/>
                </a:solidFill>
              </a:rPr>
              <a:t> (</a:t>
            </a:r>
            <a:r>
              <a:rPr lang="pl-PL" b="1" dirty="0" err="1">
                <a:solidFill>
                  <a:schemeClr val="bg1"/>
                </a:solidFill>
              </a:rPr>
              <a:t>Functional</a:t>
            </a:r>
            <a:r>
              <a:rPr lang="pl-PL" b="1" dirty="0">
                <a:solidFill>
                  <a:schemeClr val="bg1"/>
                </a:solidFill>
              </a:rPr>
              <a:t> </a:t>
            </a:r>
            <a:r>
              <a:rPr lang="pl-PL" b="1" dirty="0" err="1">
                <a:solidFill>
                  <a:schemeClr val="bg1"/>
                </a:solidFill>
              </a:rPr>
              <a:t>Safety</a:t>
            </a:r>
            <a:r>
              <a:rPr lang="pl-PL" b="1" dirty="0">
                <a:solidFill>
                  <a:schemeClr val="bg1"/>
                </a:solidFill>
              </a:rPr>
              <a:t>)</a:t>
            </a:r>
            <a:r>
              <a:rPr lang="pl-PL" dirty="0">
                <a:solidFill>
                  <a:schemeClr val="bg1"/>
                </a:solidFill>
              </a:rPr>
              <a:t> w </a:t>
            </a:r>
            <a:r>
              <a:rPr lang="pl-PL" dirty="0" err="1">
                <a:solidFill>
                  <a:schemeClr val="bg1"/>
                </a:solidFill>
              </a:rPr>
              <a:t>automotive</a:t>
            </a:r>
            <a:r>
              <a:rPr lang="pl-PL" dirty="0">
                <a:solidFill>
                  <a:schemeClr val="bg1"/>
                </a:solidFill>
              </a:rPr>
              <a:t> oznacza </a:t>
            </a:r>
            <a:r>
              <a:rPr lang="pl-PL" b="1" dirty="0">
                <a:solidFill>
                  <a:schemeClr val="bg1"/>
                </a:solidFill>
              </a:rPr>
              <a:t>bezpieczeństwo funkcjonalne systemów elektrycznych i </a:t>
            </a:r>
            <a:r>
              <a:rPr lang="pl-PL" b="1" dirty="0" smtClean="0">
                <a:solidFill>
                  <a:schemeClr val="bg1"/>
                </a:solidFill>
              </a:rPr>
              <a:t>elektronicznych E\E </a:t>
            </a:r>
            <a:r>
              <a:rPr lang="pl-PL" b="1" dirty="0">
                <a:solidFill>
                  <a:schemeClr val="bg1"/>
                </a:solidFill>
              </a:rPr>
              <a:t>w pojeździe</a:t>
            </a:r>
            <a:r>
              <a:rPr lang="pl-PL" dirty="0">
                <a:solidFill>
                  <a:schemeClr val="bg1"/>
                </a:solidFill>
              </a:rPr>
              <a:t> — czyli zapewnienie, że system działa poprawnie albo przechodzi do bezpiecznego stanu, nawet gdy wystąpi awaria.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Prostokąt 4"/>
          <p:cNvSpPr/>
          <p:nvPr/>
        </p:nvSpPr>
        <p:spPr>
          <a:xfrm>
            <a:off x="0" y="600650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/>
              <a:t>Przykład:</a:t>
            </a:r>
            <a:br>
              <a:rPr lang="pl-PL" dirty="0"/>
            </a:br>
            <a:r>
              <a:rPr lang="pl-PL" dirty="0"/>
              <a:t>👉 Jeśli zawiedzie czujnik pedału hamulca → system musi to wykryć → i np. ograniczyć moc silnika lub włączyć tryb awaryjny.</a:t>
            </a:r>
            <a:endParaRPr lang="en-US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377833"/>
              </p:ext>
            </p:extLst>
          </p:nvPr>
        </p:nvGraphicFramePr>
        <p:xfrm>
          <a:off x="-3" y="1276718"/>
          <a:ext cx="12192002" cy="11887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7977355">
                  <a:extLst>
                    <a:ext uri="{9D8B030D-6E8A-4147-A177-3AD203B41FA5}">
                      <a16:colId xmlns:a16="http://schemas.microsoft.com/office/drawing/2014/main" val="3494275233"/>
                    </a:ext>
                  </a:extLst>
                </a:gridCol>
                <a:gridCol w="4214647">
                  <a:extLst>
                    <a:ext uri="{9D8B030D-6E8A-4147-A177-3AD203B41FA5}">
                      <a16:colId xmlns:a16="http://schemas.microsoft.com/office/drawing/2014/main" val="1459038716"/>
                    </a:ext>
                  </a:extLst>
                </a:gridCol>
              </a:tblGrid>
              <a:tr h="888416">
                <a:tc>
                  <a:txBody>
                    <a:bodyPr/>
                    <a:lstStyle/>
                    <a:p>
                      <a:r>
                        <a:rPr lang="pl-PL" dirty="0" err="1" smtClean="0">
                          <a:solidFill>
                            <a:schemeClr val="bg1"/>
                          </a:solidFill>
                        </a:rPr>
                        <a:t>FuSa</a:t>
                      </a: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 w </a:t>
                      </a:r>
                      <a:r>
                        <a:rPr lang="pl-PL" dirty="0" err="1" smtClean="0">
                          <a:solidFill>
                            <a:schemeClr val="bg1"/>
                          </a:solidFill>
                        </a:rPr>
                        <a:t>automotive</a:t>
                      </a: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 jest głównie zdefiniowana przez standard </a:t>
                      </a:r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ISO 26262</a:t>
                      </a: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, który: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opisuje proces projektowania bezpiecznych systemów,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wprowadza poziomy ryzyka </a:t>
                      </a:r>
                      <a:r>
                        <a:rPr lang="pl-PL" b="1" dirty="0" smtClean="0">
                          <a:solidFill>
                            <a:schemeClr val="bg1"/>
                          </a:solidFill>
                        </a:rPr>
                        <a:t>ASIL (A–D)</a:t>
                      </a: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,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określa wymagania dla hardware i software.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 smtClean="0"/>
                    </a:p>
                    <a:p>
                      <a:r>
                        <a:rPr lang="pl-PL" dirty="0" smtClean="0"/>
                        <a:t>ASIL A → niskie ryzyko</a:t>
                      </a:r>
                    </a:p>
                    <a:p>
                      <a:r>
                        <a:rPr lang="pl-PL" dirty="0" smtClean="0"/>
                        <a:t>ASIL D → najwyższe ryzyko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789996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902942"/>
              </p:ext>
            </p:extLst>
          </p:nvPr>
        </p:nvGraphicFramePr>
        <p:xfrm>
          <a:off x="0" y="2465437"/>
          <a:ext cx="12192000" cy="149696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53971583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729147088"/>
                    </a:ext>
                  </a:extLst>
                </a:gridCol>
              </a:tblGrid>
              <a:tr h="1496963">
                <a:tc>
                  <a:txBody>
                    <a:bodyPr/>
                    <a:lstStyle/>
                    <a:p>
                      <a:r>
                        <a:rPr lang="pl-PL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pl-PL" dirty="0" smtClean="0"/>
                        <a:t> </a:t>
                      </a:r>
                      <a:r>
                        <a:rPr lang="pl-PL" b="1" dirty="0" smtClean="0"/>
                        <a:t>Koncept bezpieczeństwa (</a:t>
                      </a:r>
                      <a:r>
                        <a:rPr lang="pl-PL" b="1" dirty="0" err="1" smtClean="0"/>
                        <a:t>Concept</a:t>
                      </a:r>
                      <a:r>
                        <a:rPr lang="pl-PL" b="1" dirty="0" smtClean="0"/>
                        <a:t> </a:t>
                      </a:r>
                      <a:r>
                        <a:rPr lang="pl-PL" b="1" dirty="0" err="1" smtClean="0"/>
                        <a:t>Phase</a:t>
                      </a:r>
                      <a:r>
                        <a:rPr lang="pl-PL" b="1" dirty="0" smtClean="0"/>
                        <a:t>)</a:t>
                      </a:r>
                    </a:p>
                    <a:p>
                      <a:r>
                        <a:rPr lang="pl-PL" dirty="0" smtClean="0"/>
                        <a:t>Analiza zagrożeń (Hazard Analysis, HARA)</a:t>
                      </a:r>
                    </a:p>
                    <a:p>
                      <a:r>
                        <a:rPr lang="pl-PL" dirty="0" smtClean="0"/>
                        <a:t>Klasyfikacja ryzyka → ASIL A–D</a:t>
                      </a:r>
                    </a:p>
                    <a:p>
                      <a:r>
                        <a:rPr lang="pl-PL" dirty="0" smtClean="0"/>
                        <a:t>Określenie wymagań bezpieczeństwa funkcjonalnego (</a:t>
                      </a:r>
                      <a:r>
                        <a:rPr lang="pl-PL" dirty="0" err="1" smtClean="0"/>
                        <a:t>Safety</a:t>
                      </a:r>
                      <a:r>
                        <a:rPr lang="pl-PL" dirty="0" smtClean="0"/>
                        <a:t> </a:t>
                      </a:r>
                      <a:r>
                        <a:rPr lang="pl-PL" dirty="0" err="1" smtClean="0"/>
                        <a:t>Goals</a:t>
                      </a:r>
                      <a:r>
                        <a:rPr lang="pl-PL" dirty="0" smtClean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pl-PL" dirty="0" smtClean="0"/>
                        <a:t> </a:t>
                      </a:r>
                      <a:r>
                        <a:rPr lang="pl-PL" b="1" dirty="0" smtClean="0"/>
                        <a:t>Projekt systemu (System Level)</a:t>
                      </a:r>
                    </a:p>
                    <a:p>
                      <a:r>
                        <a:rPr lang="pl-PL" dirty="0" smtClean="0"/>
                        <a:t>Specyfikacja wymagań systemowych (System </a:t>
                      </a:r>
                      <a:r>
                        <a:rPr lang="pl-PL" dirty="0" err="1" smtClean="0"/>
                        <a:t>Safety</a:t>
                      </a:r>
                      <a:r>
                        <a:rPr lang="pl-PL" dirty="0" smtClean="0"/>
                        <a:t> </a:t>
                      </a:r>
                      <a:r>
                        <a:rPr lang="pl-PL" dirty="0" err="1" smtClean="0"/>
                        <a:t>Requirements</a:t>
                      </a:r>
                      <a:r>
                        <a:rPr lang="pl-PL" dirty="0" smtClean="0"/>
                        <a:t>)</a:t>
                      </a:r>
                    </a:p>
                    <a:p>
                      <a:r>
                        <a:rPr lang="pl-PL" dirty="0" smtClean="0"/>
                        <a:t>Definicja architektury systemu E/E</a:t>
                      </a:r>
                    </a:p>
                    <a:p>
                      <a:r>
                        <a:rPr lang="pl-PL" dirty="0" smtClean="0"/>
                        <a:t>Określenie redundancji i mechanizmów monitorujących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076144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540727"/>
              </p:ext>
            </p:extLst>
          </p:nvPr>
        </p:nvGraphicFramePr>
        <p:xfrm>
          <a:off x="-5256" y="3910615"/>
          <a:ext cx="12192000" cy="149696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53971583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729147088"/>
                    </a:ext>
                  </a:extLst>
                </a:gridCol>
              </a:tblGrid>
              <a:tr h="1496963">
                <a:tc>
                  <a:txBody>
                    <a:bodyPr/>
                    <a:lstStyle/>
                    <a:p>
                      <a:r>
                        <a:rPr lang="pl-PL" dirty="0" smtClean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pl-PL" dirty="0" smtClean="0"/>
                        <a:t> </a:t>
                      </a:r>
                      <a:r>
                        <a:rPr lang="en-US" b="1" dirty="0" err="1" smtClean="0"/>
                        <a:t>Projekt</a:t>
                      </a:r>
                      <a:r>
                        <a:rPr lang="en-US" b="1" dirty="0" smtClean="0"/>
                        <a:t> hardware / software (Hardware &amp; Software Development)</a:t>
                      </a:r>
                    </a:p>
                    <a:p>
                      <a:r>
                        <a:rPr lang="en-US" dirty="0" smtClean="0"/>
                        <a:t>HW Design: </a:t>
                      </a:r>
                      <a:r>
                        <a:rPr lang="en-US" dirty="0" err="1" smtClean="0"/>
                        <a:t>wybór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komponentów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analiza</a:t>
                      </a:r>
                      <a:r>
                        <a:rPr lang="en-US" dirty="0" smtClean="0"/>
                        <a:t> PFH, </a:t>
                      </a:r>
                      <a:r>
                        <a:rPr lang="en-US" dirty="0" err="1" smtClean="0"/>
                        <a:t>diagnostyka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SW Design: </a:t>
                      </a:r>
                      <a:r>
                        <a:rPr lang="en-US" dirty="0" err="1" smtClean="0"/>
                        <a:t>modelowanie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algorytmy</a:t>
                      </a:r>
                      <a:r>
                        <a:rPr lang="en-US" dirty="0" smtClean="0"/>
                        <a:t>, testy </a:t>
                      </a:r>
                      <a:r>
                        <a:rPr lang="en-US" dirty="0" err="1" smtClean="0"/>
                        <a:t>jednostkowe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integracja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pl-PL" dirty="0" smtClean="0"/>
                        <a:t> </a:t>
                      </a:r>
                      <a:r>
                        <a:rPr lang="pl-PL" b="1" dirty="0" smtClean="0"/>
                        <a:t>Integracja i testy systemowe (Integration &amp; </a:t>
                      </a:r>
                      <a:r>
                        <a:rPr lang="pl-PL" b="1" dirty="0" err="1" smtClean="0"/>
                        <a:t>Testing</a:t>
                      </a:r>
                      <a:r>
                        <a:rPr lang="pl-PL" b="1" dirty="0" smtClean="0"/>
                        <a:t>)</a:t>
                      </a:r>
                    </a:p>
                    <a:p>
                      <a:r>
                        <a:rPr lang="pl-PL" dirty="0" smtClean="0"/>
                        <a:t>Integracja ECU i systemu</a:t>
                      </a:r>
                    </a:p>
                    <a:p>
                      <a:r>
                        <a:rPr lang="pl-PL" dirty="0" smtClean="0"/>
                        <a:t>Testy funkcjonalne i bezpieczeństwa</a:t>
                      </a:r>
                    </a:p>
                    <a:p>
                      <a:r>
                        <a:rPr lang="pl-PL" dirty="0" smtClean="0"/>
                        <a:t>Symulacje i testy w warunkach rzeczywistych</a:t>
                      </a:r>
                    </a:p>
                    <a:p>
                      <a:r>
                        <a:rPr lang="pl-PL" dirty="0" smtClean="0"/>
                        <a:t>Walidacja zgodności z </a:t>
                      </a:r>
                      <a:r>
                        <a:rPr lang="pl-PL" dirty="0" err="1" smtClean="0"/>
                        <a:t>Safety</a:t>
                      </a:r>
                      <a:r>
                        <a:rPr lang="pl-PL" dirty="0" smtClean="0"/>
                        <a:t> </a:t>
                      </a:r>
                      <a:r>
                        <a:rPr lang="pl-PL" dirty="0" err="1" smtClean="0"/>
                        <a:t>Goals</a:t>
                      </a:r>
                      <a:endParaRPr lang="pl-PL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076144"/>
                  </a:ext>
                </a:extLst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164259"/>
              </p:ext>
            </p:extLst>
          </p:nvPr>
        </p:nvGraphicFramePr>
        <p:xfrm>
          <a:off x="-10507" y="5366292"/>
          <a:ext cx="12192000" cy="149696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53971583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729147088"/>
                    </a:ext>
                  </a:extLst>
                </a:gridCol>
              </a:tblGrid>
              <a:tr h="1496963">
                <a:tc>
                  <a:txBody>
                    <a:bodyPr/>
                    <a:lstStyle/>
                    <a:p>
                      <a:r>
                        <a:rPr lang="pl-PL" dirty="0" smtClean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pl-PL" dirty="0" smtClean="0"/>
                        <a:t> </a:t>
                      </a:r>
                      <a:r>
                        <a:rPr lang="pl-PL" b="1" dirty="0" smtClean="0"/>
                        <a:t>Produkcja i eksploatacja (</a:t>
                      </a:r>
                      <a:r>
                        <a:rPr lang="pl-PL" b="1" dirty="0" err="1" smtClean="0"/>
                        <a:t>Production</a:t>
                      </a:r>
                      <a:r>
                        <a:rPr lang="pl-PL" b="1" dirty="0" smtClean="0"/>
                        <a:t> &amp; </a:t>
                      </a:r>
                      <a:r>
                        <a:rPr lang="pl-PL" b="1" dirty="0" err="1" smtClean="0"/>
                        <a:t>Operation</a:t>
                      </a:r>
                      <a:r>
                        <a:rPr lang="pl-PL" b="1" dirty="0" smtClean="0"/>
                        <a:t>)</a:t>
                      </a:r>
                    </a:p>
                    <a:p>
                      <a:r>
                        <a:rPr lang="pl-PL" dirty="0" smtClean="0"/>
                        <a:t>Procedury wytwarzania zgodne z FUSA</a:t>
                      </a:r>
                    </a:p>
                    <a:p>
                      <a:r>
                        <a:rPr lang="pl-PL" dirty="0" smtClean="0"/>
                        <a:t>Monitoring działania systemu w pojeździe</a:t>
                      </a:r>
                    </a:p>
                    <a:p>
                      <a:r>
                        <a:rPr lang="pl-PL" dirty="0" smtClean="0"/>
                        <a:t>Update oprogramowania (jeśli wymagany)</a:t>
                      </a:r>
                    </a:p>
                    <a:p>
                      <a:r>
                        <a:rPr lang="pl-PL" dirty="0" smtClean="0"/>
                        <a:t>Analiza wypadków / incydentów (</a:t>
                      </a:r>
                      <a:r>
                        <a:rPr lang="pl-PL" dirty="0" err="1" smtClean="0"/>
                        <a:t>Safety</a:t>
                      </a:r>
                      <a:r>
                        <a:rPr lang="pl-PL" dirty="0" smtClean="0"/>
                        <a:t> Case)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pl-PL" dirty="0" smtClean="0"/>
                        <a:t> </a:t>
                      </a:r>
                      <a:r>
                        <a:rPr lang="pl-PL" b="1" dirty="0" smtClean="0"/>
                        <a:t>Dezaktywacja / utylizacja (</a:t>
                      </a:r>
                      <a:r>
                        <a:rPr lang="pl-PL" b="1" dirty="0" err="1" smtClean="0"/>
                        <a:t>Decommissioning</a:t>
                      </a:r>
                      <a:r>
                        <a:rPr lang="pl-PL" b="1" dirty="0" smtClean="0"/>
                        <a:t>)</a:t>
                      </a:r>
                    </a:p>
                    <a:p>
                      <a:r>
                        <a:rPr lang="pl-PL" dirty="0" smtClean="0"/>
                        <a:t>Bezpieczne wyłączenie systemu</a:t>
                      </a:r>
                    </a:p>
                    <a:p>
                      <a:r>
                        <a:rPr lang="pl-PL" dirty="0" smtClean="0"/>
                        <a:t>Przechowywanie danych diagnostycznych</a:t>
                      </a:r>
                    </a:p>
                    <a:p>
                      <a:r>
                        <a:rPr lang="pl-PL" dirty="0" smtClean="0"/>
                        <a:t>Analiza końcowa z punktu widzenia FUSA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076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66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chemeClr val="bg1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514847"/>
              </p:ext>
            </p:extLst>
          </p:nvPr>
        </p:nvGraphicFramePr>
        <p:xfrm>
          <a:off x="657922" y="2924247"/>
          <a:ext cx="11028556" cy="3383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514278">
                  <a:extLst>
                    <a:ext uri="{9D8B030D-6E8A-4147-A177-3AD203B41FA5}">
                      <a16:colId xmlns:a16="http://schemas.microsoft.com/office/drawing/2014/main" val="3552522060"/>
                    </a:ext>
                  </a:extLst>
                </a:gridCol>
                <a:gridCol w="5514278">
                  <a:extLst>
                    <a:ext uri="{9D8B030D-6E8A-4147-A177-3AD203B41FA5}">
                      <a16:colId xmlns:a16="http://schemas.microsoft.com/office/drawing/2014/main" val="963882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b="1" dirty="0" smtClean="0"/>
                        <a:t>Co dokładnie obejmuje ISO 26262?</a:t>
                      </a:r>
                    </a:p>
                    <a:p>
                      <a:endParaRPr lang="pl-PL" dirty="0" smtClean="0"/>
                    </a:p>
                    <a:p>
                      <a:r>
                        <a:rPr lang="pl-PL" dirty="0" smtClean="0"/>
                        <a:t>Norma jest podzielona na części, m.in.:</a:t>
                      </a:r>
                    </a:p>
                    <a:p>
                      <a:r>
                        <a:rPr lang="pl-PL" b="1" dirty="0" smtClean="0"/>
                        <a:t>Zarządzanie bezpieczeństwem</a:t>
                      </a:r>
                      <a:endParaRPr lang="pl-PL" dirty="0" smtClean="0"/>
                    </a:p>
                    <a:p>
                      <a:r>
                        <a:rPr lang="pl-PL" b="1" dirty="0" smtClean="0"/>
                        <a:t>Koncepcja bezpieczeństwa</a:t>
                      </a:r>
                      <a:endParaRPr lang="pl-PL" dirty="0" smtClean="0"/>
                    </a:p>
                    <a:p>
                      <a:r>
                        <a:rPr lang="pl-PL" b="1" dirty="0" smtClean="0"/>
                        <a:t>Rozwój systemu</a:t>
                      </a:r>
                      <a:endParaRPr lang="pl-PL" dirty="0" smtClean="0"/>
                    </a:p>
                    <a:p>
                      <a:r>
                        <a:rPr lang="pl-PL" b="1" dirty="0" smtClean="0"/>
                        <a:t>Rozwój sprzętu</a:t>
                      </a:r>
                      <a:endParaRPr lang="pl-PL" dirty="0" smtClean="0"/>
                    </a:p>
                    <a:p>
                      <a:r>
                        <a:rPr lang="pl-PL" b="1" dirty="0" smtClean="0"/>
                        <a:t>Rozwój oprogramowania</a:t>
                      </a:r>
                      <a:endParaRPr lang="pl-PL" dirty="0" smtClean="0"/>
                    </a:p>
                    <a:p>
                      <a:r>
                        <a:rPr lang="pl-PL" b="1" dirty="0" smtClean="0"/>
                        <a:t>Produkcja i eksploatacja</a:t>
                      </a:r>
                      <a:endParaRPr lang="pl-PL" dirty="0" smtClean="0"/>
                    </a:p>
                    <a:p>
                      <a:r>
                        <a:rPr lang="pl-PL" b="1" dirty="0" smtClean="0"/>
                        <a:t>Wsparcie (narzędzia, kwalifikacje, dokumentacja)</a:t>
                      </a:r>
                    </a:p>
                    <a:p>
                      <a:endParaRPr lang="pl-PL" dirty="0" smtClean="0"/>
                    </a:p>
                    <a:p>
                      <a:r>
                        <a:rPr lang="pl-PL" dirty="0" smtClean="0"/>
                        <a:t>Czyli: </a:t>
                      </a:r>
                      <a:r>
                        <a:rPr lang="pl-PL" b="1" dirty="0" smtClean="0"/>
                        <a:t>hardware + software + procesy + ludzie</a:t>
                      </a:r>
                      <a:r>
                        <a:rPr lang="pl-PL" dirty="0" smtClean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b="1" dirty="0" smtClean="0"/>
                        <a:t>Przykład z życia</a:t>
                      </a:r>
                    </a:p>
                    <a:p>
                      <a:r>
                        <a:rPr lang="pl-PL" dirty="0" smtClean="0"/>
                        <a:t>Elektroniczne wspomaganie kierownicy (EPS):</a:t>
                      </a:r>
                    </a:p>
                    <a:p>
                      <a:r>
                        <a:rPr lang="pl-PL" dirty="0" smtClean="0"/>
                        <a:t>hazard: nagły skręt kierownicy</a:t>
                      </a:r>
                    </a:p>
                    <a:p>
                      <a:r>
                        <a:rPr lang="pl-PL" dirty="0" smtClean="0"/>
                        <a:t>ASIL: zwykle </a:t>
                      </a:r>
                      <a:r>
                        <a:rPr lang="pl-PL" b="1" dirty="0" smtClean="0"/>
                        <a:t>C lub D</a:t>
                      </a:r>
                      <a:endParaRPr lang="pl-PL" dirty="0" smtClean="0"/>
                    </a:p>
                    <a:p>
                      <a:r>
                        <a:rPr lang="pl-PL" dirty="0" smtClean="0"/>
                        <a:t>wymagania:</a:t>
                      </a:r>
                    </a:p>
                    <a:p>
                      <a:pPr lvl="1"/>
                      <a:r>
                        <a:rPr lang="pl-PL" dirty="0" smtClean="0"/>
                        <a:t>redundancja czujników</a:t>
                      </a:r>
                    </a:p>
                    <a:p>
                      <a:pPr lvl="1"/>
                      <a:r>
                        <a:rPr lang="pl-PL" dirty="0" smtClean="0"/>
                        <a:t>monitorowanie błędów</a:t>
                      </a:r>
                    </a:p>
                    <a:p>
                      <a:pPr lvl="1"/>
                      <a:r>
                        <a:rPr lang="pl-PL" dirty="0" smtClean="0"/>
                        <a:t>tryb degradacji (</a:t>
                      </a:r>
                      <a:r>
                        <a:rPr lang="pl-PL" dirty="0" err="1" smtClean="0"/>
                        <a:t>fail-safe</a:t>
                      </a:r>
                      <a:r>
                        <a:rPr lang="pl-PL" dirty="0" smtClean="0"/>
                        <a:t> / </a:t>
                      </a:r>
                      <a:r>
                        <a:rPr lang="pl-PL" dirty="0" err="1" smtClean="0"/>
                        <a:t>limp</a:t>
                      </a:r>
                      <a:r>
                        <a:rPr lang="pl-PL" dirty="0" smtClean="0"/>
                        <a:t> </a:t>
                      </a:r>
                      <a:r>
                        <a:rPr lang="pl-PL" dirty="0" err="1" smtClean="0"/>
                        <a:t>mode</a:t>
                      </a:r>
                      <a:r>
                        <a:rPr lang="pl-PL" dirty="0" smtClean="0"/>
                        <a:t>)</a:t>
                      </a:r>
                    </a:p>
                    <a:p>
                      <a:pPr lvl="1"/>
                      <a:r>
                        <a:rPr lang="pl-PL" dirty="0" smtClean="0"/>
                        <a:t>rygorystyczne testy software’u</a:t>
                      </a:r>
                    </a:p>
                    <a:p>
                      <a:r>
                        <a:rPr lang="pl-PL" dirty="0" smtClean="0"/>
                        <a:t/>
                      </a:r>
                      <a:br>
                        <a:rPr lang="pl-PL" dirty="0" smtClean="0"/>
                      </a:br>
                      <a:r>
                        <a:rPr lang="pl-PL" b="0" dirty="0" smtClean="0">
                          <a:solidFill>
                            <a:srgbClr val="C00000"/>
                          </a:solidFill>
                        </a:rPr>
                        <a:t>Jeśli ktoś pracuje w </a:t>
                      </a:r>
                      <a:r>
                        <a:rPr lang="pl-PL" b="0" dirty="0" err="1" smtClean="0">
                          <a:solidFill>
                            <a:srgbClr val="C00000"/>
                          </a:solidFill>
                        </a:rPr>
                        <a:t>automotive</a:t>
                      </a:r>
                      <a:r>
                        <a:rPr lang="pl-PL" b="0" dirty="0" smtClean="0">
                          <a:solidFill>
                            <a:srgbClr val="C00000"/>
                          </a:solidFill>
                        </a:rPr>
                        <a:t> i nie zna ISO 26262, to prędzej czy później… i tak będzie musiał 😄</a:t>
                      </a:r>
                      <a:endParaRPr lang="en-US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725308"/>
                  </a:ext>
                </a:extLst>
              </a:tr>
            </a:tbl>
          </a:graphicData>
        </a:graphic>
      </p:graphicFrame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196963"/>
              </p:ext>
            </p:extLst>
          </p:nvPr>
        </p:nvGraphicFramePr>
        <p:xfrm>
          <a:off x="657922" y="284774"/>
          <a:ext cx="1102855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8556">
                  <a:extLst>
                    <a:ext uri="{9D8B030D-6E8A-4147-A177-3AD203B41FA5}">
                      <a16:colId xmlns:a16="http://schemas.microsoft.com/office/drawing/2014/main" val="2834772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b="1" dirty="0" smtClean="0"/>
                        <a:t>3. ASIL – [Automotive </a:t>
                      </a:r>
                      <a:r>
                        <a:rPr lang="pl-PL" b="1" dirty="0" err="1" smtClean="0"/>
                        <a:t>Safety</a:t>
                      </a:r>
                      <a:r>
                        <a:rPr lang="pl-PL" b="1" dirty="0" smtClean="0"/>
                        <a:t> </a:t>
                      </a:r>
                      <a:r>
                        <a:rPr lang="pl-PL" b="1" dirty="0" err="1" smtClean="0"/>
                        <a:t>Integrity</a:t>
                      </a:r>
                      <a:r>
                        <a:rPr lang="pl-PL" b="1" dirty="0" smtClean="0"/>
                        <a:t> Level]</a:t>
                      </a:r>
                      <a:r>
                        <a:rPr lang="pl-PL" b="1" baseline="0" dirty="0" smtClean="0"/>
                        <a:t> </a:t>
                      </a:r>
                      <a:r>
                        <a:rPr lang="pl-PL" dirty="0" smtClean="0"/>
                        <a:t>Poziom krytyczności bezpieczeństwa:</a:t>
                      </a:r>
                    </a:p>
                    <a:p>
                      <a:r>
                        <a:rPr lang="pl-PL" sz="1800" b="0" dirty="0" smtClean="0"/>
                        <a:t>ASIL A – Najniższy poziom ryzyka. Wymaga minimalnych środków bezpieczeństwa (np. oświetlenie wnętrza, tylne światła).</a:t>
                      </a:r>
                    </a:p>
                    <a:p>
                      <a:r>
                        <a:rPr lang="pl-PL" sz="1800" b="0" dirty="0" smtClean="0"/>
                        <a:t>ASIL B – Umiarkowany poziom ryzyka. Wymaga podstawowych mechanizmów bezpieczeństwa (np. tempomat, asystent świateł drogowych).</a:t>
                      </a:r>
                    </a:p>
                    <a:p>
                      <a:r>
                        <a:rPr lang="pl-PL" sz="1800" b="0" dirty="0" smtClean="0"/>
                        <a:t>ASIL C – Wysoki poziom ryzyka. Wymaga zaawansowanych procedur i rygorystycznych środków (np. aktywne sterowanie, niektóre funkcje ABS).</a:t>
                      </a:r>
                    </a:p>
                    <a:p>
                      <a:r>
                        <a:rPr lang="pl-PL" sz="1800" b="0" dirty="0" smtClean="0"/>
                        <a:t>ASIL D – Najwyższy poziom ryzyka (najbardziej krytyczny). Wymaga najwyższego rygoru, weryfikacji i redundancji, ponieważ awaria zagraża życiu (np. poduszki powietrzne, układ hamulcowy ABS/ESP, wspomaganie kierownicy).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1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46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D6E6F5"/>
            </a:gs>
            <a:gs pos="0">
              <a:schemeClr val="accent1">
                <a:lumMod val="5000"/>
                <a:lumOff val="95000"/>
              </a:schemeClr>
            </a:gs>
            <a:gs pos="2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/>
        </p:nvSpPr>
        <p:spPr>
          <a:xfrm>
            <a:off x="401443" y="384673"/>
            <a:ext cx="1127388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 </a:t>
            </a:r>
            <a:r>
              <a:rPr lang="en-US" b="1" dirty="0" err="1"/>
              <a:t>kontekście</a:t>
            </a:r>
            <a:r>
              <a:rPr lang="en-US" b="1" dirty="0"/>
              <a:t> Automotive, Safety Lifecycle (</a:t>
            </a:r>
            <a:r>
              <a:rPr lang="en-US" b="1" dirty="0" err="1"/>
              <a:t>Cykl</a:t>
            </a:r>
            <a:r>
              <a:rPr lang="en-US" b="1" dirty="0"/>
              <a:t> </a:t>
            </a:r>
            <a:r>
              <a:rPr lang="en-US" b="1" dirty="0" err="1"/>
              <a:t>życia</a:t>
            </a:r>
            <a:r>
              <a:rPr lang="en-US" b="1" dirty="0"/>
              <a:t> </a:t>
            </a:r>
            <a:r>
              <a:rPr lang="en-US" b="1" dirty="0" err="1"/>
              <a:t>bezpieczeństwa</a:t>
            </a:r>
            <a:r>
              <a:rPr lang="en-US" b="1" dirty="0"/>
              <a:t>) to </a:t>
            </a:r>
            <a:r>
              <a:rPr lang="en-US" b="1" dirty="0" err="1"/>
              <a:t>ustrukturyzowany</a:t>
            </a:r>
            <a:r>
              <a:rPr lang="en-US" b="1" dirty="0"/>
              <a:t> </a:t>
            </a:r>
            <a:r>
              <a:rPr lang="en-US" b="1" dirty="0" err="1"/>
              <a:t>proces</a:t>
            </a:r>
            <a:r>
              <a:rPr lang="en-US" b="1" dirty="0"/>
              <a:t> </a:t>
            </a:r>
            <a:r>
              <a:rPr lang="en-US" b="1" dirty="0" err="1"/>
              <a:t>zdefiniowany</a:t>
            </a:r>
            <a:r>
              <a:rPr lang="en-US" b="1" dirty="0"/>
              <a:t> w </a:t>
            </a:r>
            <a:r>
              <a:rPr lang="en-US" b="1" dirty="0" err="1"/>
              <a:t>normie</a:t>
            </a:r>
            <a:r>
              <a:rPr lang="en-US" b="1" dirty="0"/>
              <a:t> ISO 26262, </a:t>
            </a:r>
            <a:r>
              <a:rPr lang="en-US" b="1" dirty="0" err="1"/>
              <a:t>który</a:t>
            </a:r>
            <a:r>
              <a:rPr lang="en-US" b="1" dirty="0"/>
              <a:t> ma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celu</a:t>
            </a:r>
            <a:r>
              <a:rPr lang="en-US" b="1" dirty="0"/>
              <a:t> </a:t>
            </a:r>
            <a:r>
              <a:rPr lang="en-US" b="1" dirty="0" err="1"/>
              <a:t>wyeliminowanie</a:t>
            </a:r>
            <a:r>
              <a:rPr lang="en-US" b="1" dirty="0"/>
              <a:t> </a:t>
            </a:r>
            <a:r>
              <a:rPr lang="en-US" b="1" dirty="0" err="1"/>
              <a:t>lub</a:t>
            </a:r>
            <a:r>
              <a:rPr lang="en-US" b="1" dirty="0"/>
              <a:t> </a:t>
            </a:r>
            <a:r>
              <a:rPr lang="en-US" b="1" dirty="0" err="1"/>
              <a:t>zminimalizowanie</a:t>
            </a:r>
            <a:r>
              <a:rPr lang="en-US" b="1" dirty="0"/>
              <a:t> </a:t>
            </a:r>
            <a:r>
              <a:rPr lang="en-US" b="1" dirty="0" err="1"/>
              <a:t>ryzyka</a:t>
            </a:r>
            <a:r>
              <a:rPr lang="en-US" b="1" dirty="0"/>
              <a:t> </a:t>
            </a:r>
            <a:r>
              <a:rPr lang="en-US" b="1" dirty="0" err="1"/>
              <a:t>związanego</a:t>
            </a:r>
            <a:r>
              <a:rPr lang="en-US" b="1" dirty="0"/>
              <a:t> z </a:t>
            </a:r>
            <a:r>
              <a:rPr lang="en-US" b="1" dirty="0" err="1"/>
              <a:t>awariami</a:t>
            </a:r>
            <a:r>
              <a:rPr lang="en-US" b="1" dirty="0"/>
              <a:t> </a:t>
            </a:r>
            <a:r>
              <a:rPr lang="en-US" b="1" dirty="0" err="1"/>
              <a:t>systemów</a:t>
            </a:r>
            <a:r>
              <a:rPr lang="en-US" b="1" dirty="0"/>
              <a:t> </a:t>
            </a:r>
            <a:r>
              <a:rPr lang="en-US" b="1" dirty="0" err="1"/>
              <a:t>elektrycznych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elektronicznych</a:t>
            </a:r>
            <a:r>
              <a:rPr lang="en-US" b="1" dirty="0"/>
              <a:t> (E/E) w </a:t>
            </a:r>
            <a:r>
              <a:rPr lang="en-US" b="1" dirty="0" err="1"/>
              <a:t>pojazdach</a:t>
            </a:r>
            <a:r>
              <a:rPr lang="en-US" b="1" dirty="0"/>
              <a:t>. </a:t>
            </a:r>
            <a:endParaRPr lang="pl-PL" b="1" dirty="0" smtClean="0"/>
          </a:p>
          <a:p>
            <a:pPr algn="ctr"/>
            <a:r>
              <a:rPr lang="en-US" b="1" dirty="0" err="1" smtClean="0"/>
              <a:t>Proces</a:t>
            </a:r>
            <a:r>
              <a:rPr lang="en-US" b="1" dirty="0" smtClean="0"/>
              <a:t> </a:t>
            </a:r>
            <a:r>
              <a:rPr lang="en-US" b="1" dirty="0"/>
              <a:t>ten </a:t>
            </a:r>
            <a:r>
              <a:rPr lang="en-US" b="1" dirty="0" err="1"/>
              <a:t>obejmuje</a:t>
            </a:r>
            <a:r>
              <a:rPr lang="en-US" b="1" dirty="0"/>
              <a:t> </a:t>
            </a:r>
            <a:r>
              <a:rPr lang="en-US" b="1" dirty="0" err="1"/>
              <a:t>cały</a:t>
            </a:r>
            <a:r>
              <a:rPr lang="en-US" b="1" dirty="0"/>
              <a:t> „</a:t>
            </a:r>
            <a:r>
              <a:rPr lang="en-US" b="1" dirty="0" err="1"/>
              <a:t>żywot</a:t>
            </a:r>
            <a:r>
              <a:rPr lang="en-US" b="1" dirty="0"/>
              <a:t>” </a:t>
            </a:r>
            <a:r>
              <a:rPr lang="en-US" b="1" dirty="0" err="1"/>
              <a:t>produktu</a:t>
            </a:r>
            <a:r>
              <a:rPr lang="en-US" b="1" dirty="0"/>
              <a:t> – od </a:t>
            </a:r>
            <a:r>
              <a:rPr lang="en-US" b="1" dirty="0" err="1"/>
              <a:t>pierwszej</a:t>
            </a:r>
            <a:r>
              <a:rPr lang="en-US" b="1" dirty="0"/>
              <a:t> </a:t>
            </a:r>
            <a:r>
              <a:rPr lang="en-US" b="1" dirty="0" err="1"/>
              <a:t>idei</a:t>
            </a:r>
            <a:r>
              <a:rPr lang="en-US" b="1" dirty="0"/>
              <a:t> </a:t>
            </a:r>
            <a:r>
              <a:rPr lang="en-US" b="1" dirty="0" err="1"/>
              <a:t>aż</a:t>
            </a:r>
            <a:r>
              <a:rPr lang="en-US" b="1" dirty="0"/>
              <a:t> </a:t>
            </a:r>
            <a:r>
              <a:rPr lang="en-US" b="1" dirty="0" err="1"/>
              <a:t>po</a:t>
            </a:r>
            <a:r>
              <a:rPr lang="en-US" b="1" dirty="0"/>
              <a:t> </a:t>
            </a:r>
            <a:r>
              <a:rPr lang="en-US" b="1" dirty="0" err="1"/>
              <a:t>jego</a:t>
            </a:r>
            <a:r>
              <a:rPr lang="en-US" b="1" dirty="0"/>
              <a:t> </a:t>
            </a:r>
            <a:r>
              <a:rPr lang="en-US" b="1" dirty="0" err="1"/>
              <a:t>wycofanie</a:t>
            </a:r>
            <a:r>
              <a:rPr lang="en-US" b="1" dirty="0"/>
              <a:t> z </a:t>
            </a:r>
            <a:r>
              <a:rPr lang="en-US" b="1" dirty="0" err="1"/>
              <a:t>użytku</a:t>
            </a:r>
            <a:r>
              <a:rPr lang="en-US" b="1" dirty="0" smtClean="0"/>
              <a:t>.</a:t>
            </a:r>
            <a:endParaRPr lang="pl-PL" b="1" dirty="0" smtClean="0"/>
          </a:p>
          <a:p>
            <a:endParaRPr lang="pl-PL" dirty="0"/>
          </a:p>
          <a:p>
            <a:r>
              <a:rPr lang="pl-PL" dirty="0" smtClean="0"/>
              <a:t>1. </a:t>
            </a:r>
            <a:r>
              <a:rPr lang="en-US" dirty="0" err="1" smtClean="0"/>
              <a:t>Faza</a:t>
            </a:r>
            <a:r>
              <a:rPr lang="en-US" dirty="0" smtClean="0"/>
              <a:t> </a:t>
            </a:r>
            <a:r>
              <a:rPr lang="en-US" dirty="0" err="1"/>
              <a:t>koncepcyjna</a:t>
            </a:r>
            <a:r>
              <a:rPr lang="en-US" dirty="0"/>
              <a:t> (Concept Phase)To </a:t>
            </a:r>
            <a:r>
              <a:rPr lang="en-US" dirty="0" err="1"/>
              <a:t>tutaj</a:t>
            </a:r>
            <a:r>
              <a:rPr lang="en-US" dirty="0"/>
              <a:t> </a:t>
            </a:r>
            <a:r>
              <a:rPr lang="en-US" dirty="0" err="1"/>
              <a:t>zapadają</a:t>
            </a:r>
            <a:r>
              <a:rPr lang="en-US" dirty="0"/>
              <a:t> </a:t>
            </a:r>
            <a:r>
              <a:rPr lang="en-US" dirty="0" err="1"/>
              <a:t>kluczowe</a:t>
            </a:r>
            <a:r>
              <a:rPr lang="en-US" dirty="0"/>
              <a:t> </a:t>
            </a:r>
            <a:r>
              <a:rPr lang="en-US" dirty="0" err="1"/>
              <a:t>decyzje</a:t>
            </a:r>
            <a:r>
              <a:rPr lang="en-US" dirty="0"/>
              <a:t> </a:t>
            </a:r>
            <a:r>
              <a:rPr lang="en-US" dirty="0" err="1"/>
              <a:t>dotyczące</a:t>
            </a:r>
            <a:r>
              <a:rPr lang="en-US" dirty="0"/>
              <a:t> </a:t>
            </a:r>
            <a:r>
              <a:rPr lang="en-US" dirty="0" err="1"/>
              <a:t>bezpieczeństwa:Definicja</a:t>
            </a:r>
            <a:r>
              <a:rPr lang="en-US" dirty="0"/>
              <a:t> </a:t>
            </a:r>
            <a:r>
              <a:rPr lang="en-US" dirty="0" err="1"/>
              <a:t>elementu</a:t>
            </a:r>
            <a:r>
              <a:rPr lang="en-US" dirty="0"/>
              <a:t> (Item Definition): </a:t>
            </a:r>
            <a:r>
              <a:rPr lang="en-US" dirty="0" err="1"/>
              <a:t>Opisanie</a:t>
            </a:r>
            <a:r>
              <a:rPr lang="en-US" dirty="0"/>
              <a:t>, co system ma </a:t>
            </a:r>
            <a:r>
              <a:rPr lang="en-US" dirty="0" err="1"/>
              <a:t>robić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jak</a:t>
            </a:r>
            <a:r>
              <a:rPr lang="en-US" dirty="0"/>
              <a:t> </a:t>
            </a:r>
            <a:r>
              <a:rPr lang="en-US" dirty="0" err="1"/>
              <a:t>wchodzi</a:t>
            </a:r>
            <a:r>
              <a:rPr lang="en-US" dirty="0"/>
              <a:t> w </a:t>
            </a:r>
            <a:r>
              <a:rPr lang="en-US" dirty="0" err="1"/>
              <a:t>interakcję</a:t>
            </a:r>
            <a:r>
              <a:rPr lang="en-US" dirty="0"/>
              <a:t> z </a:t>
            </a:r>
            <a:r>
              <a:rPr lang="en-US" dirty="0" err="1"/>
              <a:t>innymi.HARA</a:t>
            </a:r>
            <a:r>
              <a:rPr lang="en-US" dirty="0"/>
              <a:t> (Hazard Analysis and Risk Assessment): </a:t>
            </a:r>
            <a:r>
              <a:rPr lang="en-US" dirty="0" err="1"/>
              <a:t>Identyfikacja</a:t>
            </a:r>
            <a:r>
              <a:rPr lang="en-US" dirty="0"/>
              <a:t> </a:t>
            </a:r>
            <a:r>
              <a:rPr lang="en-US" dirty="0" err="1"/>
              <a:t>potencjalnych</a:t>
            </a:r>
            <a:r>
              <a:rPr lang="en-US" dirty="0"/>
              <a:t> </a:t>
            </a:r>
            <a:r>
              <a:rPr lang="en-US" dirty="0" err="1"/>
              <a:t>zagrożeń</a:t>
            </a:r>
            <a:r>
              <a:rPr lang="en-US" dirty="0"/>
              <a:t> (np. </a:t>
            </a:r>
            <a:r>
              <a:rPr lang="en-US" dirty="0" err="1"/>
              <a:t>nagłe</a:t>
            </a:r>
            <a:r>
              <a:rPr lang="en-US" dirty="0"/>
              <a:t> </a:t>
            </a:r>
            <a:r>
              <a:rPr lang="en-US" dirty="0" err="1"/>
              <a:t>zablokowanie</a:t>
            </a:r>
            <a:r>
              <a:rPr lang="en-US" dirty="0"/>
              <a:t> </a:t>
            </a:r>
            <a:r>
              <a:rPr lang="en-US" dirty="0" err="1"/>
              <a:t>kół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przypisanie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poziomów</a:t>
            </a:r>
            <a:r>
              <a:rPr lang="en-US" dirty="0"/>
              <a:t> ASIL (A-D).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bezpieczeństwa</a:t>
            </a:r>
            <a:r>
              <a:rPr lang="en-US" dirty="0"/>
              <a:t> (Safety Goals): </a:t>
            </a:r>
            <a:r>
              <a:rPr lang="en-US" dirty="0" err="1"/>
              <a:t>Sformułowanie</a:t>
            </a:r>
            <a:r>
              <a:rPr lang="en-US" dirty="0"/>
              <a:t> </a:t>
            </a:r>
            <a:r>
              <a:rPr lang="en-US" dirty="0" err="1"/>
              <a:t>ogólnych</a:t>
            </a:r>
            <a:r>
              <a:rPr lang="en-US" dirty="0"/>
              <a:t> </a:t>
            </a:r>
            <a:r>
              <a:rPr lang="en-US" dirty="0" err="1"/>
              <a:t>wymagań</a:t>
            </a:r>
            <a:r>
              <a:rPr lang="en-US" dirty="0"/>
              <a:t>, </a:t>
            </a:r>
            <a:r>
              <a:rPr lang="en-US" dirty="0" err="1"/>
              <a:t>które</a:t>
            </a:r>
            <a:r>
              <a:rPr lang="en-US" dirty="0"/>
              <a:t> </a:t>
            </a:r>
            <a:r>
              <a:rPr lang="en-US" dirty="0" err="1"/>
              <a:t>zapobiegną</a:t>
            </a:r>
            <a:r>
              <a:rPr lang="en-US" dirty="0"/>
              <a:t> </a:t>
            </a:r>
            <a:r>
              <a:rPr lang="en-US" dirty="0" err="1"/>
              <a:t>zidentyfikowanym</a:t>
            </a:r>
            <a:r>
              <a:rPr lang="en-US" dirty="0"/>
              <a:t> </a:t>
            </a:r>
            <a:r>
              <a:rPr lang="en-US" dirty="0" err="1"/>
              <a:t>zagrożeniom</a:t>
            </a:r>
            <a:r>
              <a:rPr lang="en-US" dirty="0" smtClean="0"/>
              <a:t>.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2. </a:t>
            </a:r>
            <a:r>
              <a:rPr lang="en-US" dirty="0" err="1" smtClean="0"/>
              <a:t>Rozwój</a:t>
            </a:r>
            <a:r>
              <a:rPr lang="en-US" dirty="0" smtClean="0"/>
              <a:t> </a:t>
            </a:r>
            <a:r>
              <a:rPr lang="en-US" dirty="0" err="1"/>
              <a:t>produktu</a:t>
            </a:r>
            <a:r>
              <a:rPr lang="en-US" dirty="0"/>
              <a:t> (Product Development)</a:t>
            </a:r>
            <a:r>
              <a:rPr lang="en-US" dirty="0" err="1"/>
              <a:t>Najbardziej</a:t>
            </a:r>
            <a:r>
              <a:rPr lang="en-US" dirty="0"/>
              <a:t> </a:t>
            </a:r>
            <a:r>
              <a:rPr lang="en-US" dirty="0" err="1"/>
              <a:t>rozbudowana</a:t>
            </a:r>
            <a:r>
              <a:rPr lang="en-US" dirty="0"/>
              <a:t> </a:t>
            </a:r>
            <a:r>
              <a:rPr lang="en-US" dirty="0" err="1"/>
              <a:t>faza</a:t>
            </a:r>
            <a:r>
              <a:rPr lang="en-US" dirty="0"/>
              <a:t>, </a:t>
            </a:r>
            <a:r>
              <a:rPr lang="en-US" dirty="0" err="1"/>
              <a:t>realizowana</a:t>
            </a:r>
            <a:r>
              <a:rPr lang="en-US" dirty="0"/>
              <a:t> </a:t>
            </a:r>
            <a:r>
              <a:rPr lang="en-US" dirty="0" err="1"/>
              <a:t>zgodnie</a:t>
            </a:r>
            <a:r>
              <a:rPr lang="en-US" dirty="0"/>
              <a:t> z </a:t>
            </a:r>
            <a:r>
              <a:rPr lang="en-US" dirty="0" err="1"/>
              <a:t>modelem</a:t>
            </a:r>
            <a:r>
              <a:rPr lang="en-US" dirty="0"/>
              <a:t> V: </a:t>
            </a:r>
            <a:r>
              <a:rPr lang="en-US" dirty="0" err="1"/>
              <a:t>Poziom</a:t>
            </a:r>
            <a:r>
              <a:rPr lang="en-US" dirty="0"/>
              <a:t> </a:t>
            </a:r>
            <a:r>
              <a:rPr lang="en-US" dirty="0" err="1"/>
              <a:t>systemowy</a:t>
            </a:r>
            <a:r>
              <a:rPr lang="en-US" dirty="0"/>
              <a:t>: </a:t>
            </a:r>
            <a:r>
              <a:rPr lang="en-US" dirty="0" err="1"/>
              <a:t>Tworzenie</a:t>
            </a:r>
            <a:r>
              <a:rPr lang="en-US" dirty="0"/>
              <a:t> </a:t>
            </a:r>
            <a:r>
              <a:rPr lang="en-US" dirty="0" err="1"/>
              <a:t>architektury</a:t>
            </a:r>
            <a:r>
              <a:rPr lang="en-US" dirty="0"/>
              <a:t> </a:t>
            </a:r>
            <a:r>
              <a:rPr lang="en-US" dirty="0" err="1"/>
              <a:t>systemu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określanie</a:t>
            </a:r>
            <a:r>
              <a:rPr lang="en-US" dirty="0"/>
              <a:t> </a:t>
            </a:r>
            <a:r>
              <a:rPr lang="en-US" dirty="0" err="1"/>
              <a:t>technicznych</a:t>
            </a:r>
            <a:r>
              <a:rPr lang="en-US" dirty="0"/>
              <a:t> </a:t>
            </a:r>
            <a:r>
              <a:rPr lang="en-US" dirty="0" err="1"/>
              <a:t>wymagań</a:t>
            </a:r>
            <a:r>
              <a:rPr lang="en-US" dirty="0"/>
              <a:t> </a:t>
            </a:r>
            <a:r>
              <a:rPr lang="en-US" dirty="0" err="1"/>
              <a:t>bezpieczeństwa.Poziom</a:t>
            </a:r>
            <a:r>
              <a:rPr lang="en-US" dirty="0"/>
              <a:t> </a:t>
            </a:r>
            <a:r>
              <a:rPr lang="en-US" dirty="0" err="1"/>
              <a:t>sprzętowy</a:t>
            </a:r>
            <a:r>
              <a:rPr lang="en-US" dirty="0"/>
              <a:t> (Hardware): </a:t>
            </a:r>
            <a:r>
              <a:rPr lang="en-US" dirty="0" err="1"/>
              <a:t>Projektowanie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testowanie</a:t>
            </a:r>
            <a:r>
              <a:rPr lang="en-US" dirty="0"/>
              <a:t> </a:t>
            </a:r>
            <a:r>
              <a:rPr lang="en-US" dirty="0" err="1"/>
              <a:t>podzespołów</a:t>
            </a:r>
            <a:r>
              <a:rPr lang="en-US" dirty="0"/>
              <a:t> (np. </a:t>
            </a:r>
            <a:r>
              <a:rPr lang="en-US" dirty="0" err="1"/>
              <a:t>procesorów</a:t>
            </a:r>
            <a:r>
              <a:rPr lang="en-US" dirty="0"/>
              <a:t>, </a:t>
            </a:r>
            <a:r>
              <a:rPr lang="en-US" dirty="0" err="1"/>
              <a:t>czujników</a:t>
            </a:r>
            <a:r>
              <a:rPr lang="en-US" dirty="0"/>
              <a:t>) pod </a:t>
            </a:r>
            <a:r>
              <a:rPr lang="en-US" dirty="0" err="1"/>
              <a:t>kątem</a:t>
            </a:r>
            <a:r>
              <a:rPr lang="en-US" dirty="0"/>
              <a:t> </a:t>
            </a:r>
            <a:r>
              <a:rPr lang="en-US" dirty="0" err="1"/>
              <a:t>awarii</a:t>
            </a:r>
            <a:r>
              <a:rPr lang="en-US" dirty="0"/>
              <a:t> </a:t>
            </a:r>
            <a:r>
              <a:rPr lang="en-US" dirty="0" err="1"/>
              <a:t>losowych.Poziom</a:t>
            </a:r>
            <a:r>
              <a:rPr lang="en-US" dirty="0"/>
              <a:t> </a:t>
            </a:r>
            <a:r>
              <a:rPr lang="en-US" dirty="0" err="1"/>
              <a:t>programowy</a:t>
            </a:r>
            <a:r>
              <a:rPr lang="en-US" dirty="0"/>
              <a:t> (Software): </a:t>
            </a:r>
            <a:r>
              <a:rPr lang="en-US" dirty="0" err="1"/>
              <a:t>Pisanie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zgodnie</a:t>
            </a:r>
            <a:r>
              <a:rPr lang="en-US" dirty="0"/>
              <a:t> z </a:t>
            </a:r>
            <a:r>
              <a:rPr lang="en-US" dirty="0" err="1"/>
              <a:t>rygorystycznymi</a:t>
            </a:r>
            <a:r>
              <a:rPr lang="en-US" dirty="0"/>
              <a:t> </a:t>
            </a:r>
            <a:r>
              <a:rPr lang="en-US" dirty="0" err="1"/>
              <a:t>standardami</a:t>
            </a:r>
            <a:r>
              <a:rPr lang="en-US" dirty="0"/>
              <a:t>, aby </a:t>
            </a:r>
            <a:r>
              <a:rPr lang="en-US" dirty="0" err="1"/>
              <a:t>uniknąć</a:t>
            </a:r>
            <a:r>
              <a:rPr lang="en-US" dirty="0"/>
              <a:t> </a:t>
            </a:r>
            <a:r>
              <a:rPr lang="en-US" dirty="0" err="1"/>
              <a:t>błędów</a:t>
            </a:r>
            <a:r>
              <a:rPr lang="en-US" dirty="0"/>
              <a:t> </a:t>
            </a:r>
            <a:r>
              <a:rPr lang="en-US" dirty="0" err="1"/>
              <a:t>projektowych.Integracja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walidacja</a:t>
            </a:r>
            <a:r>
              <a:rPr lang="en-US" dirty="0"/>
              <a:t>: </a:t>
            </a:r>
            <a:r>
              <a:rPr lang="en-US" dirty="0" err="1"/>
              <a:t>Sprawdzenie</a:t>
            </a:r>
            <a:r>
              <a:rPr lang="en-US" dirty="0"/>
              <a:t>, </a:t>
            </a:r>
            <a:r>
              <a:rPr lang="en-US" dirty="0" err="1"/>
              <a:t>czy</a:t>
            </a:r>
            <a:r>
              <a:rPr lang="en-US" dirty="0"/>
              <a:t> </a:t>
            </a:r>
            <a:r>
              <a:rPr lang="en-US" dirty="0" err="1"/>
              <a:t>gotowy</a:t>
            </a:r>
            <a:r>
              <a:rPr lang="en-US" dirty="0"/>
              <a:t> </a:t>
            </a:r>
            <a:r>
              <a:rPr lang="en-US" dirty="0" err="1"/>
              <a:t>produkt</a:t>
            </a:r>
            <a:r>
              <a:rPr lang="en-US" dirty="0"/>
              <a:t> </a:t>
            </a:r>
            <a:r>
              <a:rPr lang="en-US" dirty="0" err="1"/>
              <a:t>rzeczywiście</a:t>
            </a:r>
            <a:r>
              <a:rPr lang="en-US" dirty="0"/>
              <a:t> </a:t>
            </a:r>
            <a:r>
              <a:rPr lang="en-US" dirty="0" err="1"/>
              <a:t>spełnia</a:t>
            </a:r>
            <a:r>
              <a:rPr lang="en-US" dirty="0"/>
              <a:t> </a:t>
            </a:r>
            <a:r>
              <a:rPr lang="en-US" dirty="0" err="1"/>
              <a:t>założone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bezpieczeństwa</a:t>
            </a:r>
            <a:r>
              <a:rPr lang="en-US" dirty="0"/>
              <a:t> w </a:t>
            </a:r>
            <a:r>
              <a:rPr lang="en-US" dirty="0" err="1"/>
              <a:t>rzeczywistych</a:t>
            </a:r>
            <a:r>
              <a:rPr lang="en-US" dirty="0"/>
              <a:t> </a:t>
            </a:r>
            <a:r>
              <a:rPr lang="en-US" dirty="0" err="1"/>
              <a:t>warunkach</a:t>
            </a:r>
            <a:r>
              <a:rPr lang="en-US" dirty="0" smtClean="0"/>
              <a:t>.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3. </a:t>
            </a:r>
            <a:r>
              <a:rPr lang="en-US" dirty="0" err="1" smtClean="0"/>
              <a:t>Produkcja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eksploatacja</a:t>
            </a:r>
            <a:r>
              <a:rPr lang="en-US" dirty="0"/>
              <a:t> (Production &amp; Operation)</a:t>
            </a:r>
            <a:r>
              <a:rPr lang="en-US" dirty="0" err="1"/>
              <a:t>Bezpieczeństwo</a:t>
            </a:r>
            <a:r>
              <a:rPr lang="en-US" dirty="0"/>
              <a:t> </a:t>
            </a:r>
            <a:r>
              <a:rPr lang="en-US" dirty="0" err="1"/>
              <a:t>musi</a:t>
            </a:r>
            <a:r>
              <a:rPr lang="en-US" dirty="0"/>
              <a:t> </a:t>
            </a:r>
            <a:r>
              <a:rPr lang="en-US" dirty="0" err="1"/>
              <a:t>być</a:t>
            </a:r>
            <a:r>
              <a:rPr lang="en-US" dirty="0"/>
              <a:t> </a:t>
            </a:r>
            <a:r>
              <a:rPr lang="en-US" dirty="0" err="1"/>
              <a:t>zachowane</a:t>
            </a:r>
            <a:r>
              <a:rPr lang="en-US" dirty="0"/>
              <a:t> </a:t>
            </a:r>
            <a:r>
              <a:rPr lang="en-US" dirty="0" err="1"/>
              <a:t>również</a:t>
            </a:r>
            <a:r>
              <a:rPr lang="en-US" dirty="0"/>
              <a:t>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opuszczeniu</a:t>
            </a:r>
            <a:r>
              <a:rPr lang="en-US" dirty="0"/>
              <a:t> </a:t>
            </a:r>
            <a:r>
              <a:rPr lang="en-US" dirty="0" err="1"/>
              <a:t>fabryki:Produkcja</a:t>
            </a:r>
            <a:r>
              <a:rPr lang="en-US" dirty="0"/>
              <a:t>: </a:t>
            </a:r>
            <a:r>
              <a:rPr lang="en-US" dirty="0" err="1"/>
              <a:t>Zapewnienie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każdy</a:t>
            </a:r>
            <a:r>
              <a:rPr lang="en-US" dirty="0"/>
              <a:t> </a:t>
            </a:r>
            <a:r>
              <a:rPr lang="en-US" dirty="0" err="1"/>
              <a:t>egzemplarz</a:t>
            </a:r>
            <a:r>
              <a:rPr lang="en-US" dirty="0"/>
              <a:t> jest </a:t>
            </a:r>
            <a:r>
              <a:rPr lang="en-US" dirty="0" err="1"/>
              <a:t>wykonany</a:t>
            </a:r>
            <a:r>
              <a:rPr lang="en-US" dirty="0"/>
              <a:t> </a:t>
            </a:r>
            <a:r>
              <a:rPr lang="en-US" dirty="0" err="1"/>
              <a:t>poprawnie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bez wad </a:t>
            </a:r>
            <a:r>
              <a:rPr lang="en-US" dirty="0" err="1"/>
              <a:t>zagrażających</a:t>
            </a:r>
            <a:r>
              <a:rPr lang="en-US" dirty="0"/>
              <a:t> </a:t>
            </a:r>
            <a:r>
              <a:rPr lang="en-US" dirty="0" err="1"/>
              <a:t>bezpieczeństwu.Obsługa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serwis</a:t>
            </a:r>
            <a:r>
              <a:rPr lang="en-US" dirty="0"/>
              <a:t>: </a:t>
            </a:r>
            <a:r>
              <a:rPr lang="en-US" dirty="0" err="1"/>
              <a:t>Procedury</a:t>
            </a:r>
            <a:r>
              <a:rPr lang="en-US" dirty="0"/>
              <a:t> </a:t>
            </a:r>
            <a:r>
              <a:rPr lang="en-US" dirty="0" err="1"/>
              <a:t>napraw</a:t>
            </a:r>
            <a:r>
              <a:rPr lang="en-US" dirty="0"/>
              <a:t>, aby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naruszyć</a:t>
            </a:r>
            <a:r>
              <a:rPr lang="en-US" dirty="0"/>
              <a:t> </a:t>
            </a:r>
            <a:r>
              <a:rPr lang="en-US" dirty="0" err="1"/>
              <a:t>integralności</a:t>
            </a:r>
            <a:r>
              <a:rPr lang="en-US" dirty="0"/>
              <a:t> </a:t>
            </a:r>
            <a:r>
              <a:rPr lang="en-US" dirty="0" err="1"/>
              <a:t>systemów</a:t>
            </a:r>
            <a:r>
              <a:rPr lang="en-US" dirty="0"/>
              <a:t> </a:t>
            </a:r>
            <a:r>
              <a:rPr lang="en-US" dirty="0" err="1"/>
              <a:t>bezpieczeństwa.Wycofanie</a:t>
            </a:r>
            <a:r>
              <a:rPr lang="en-US" dirty="0"/>
              <a:t> z </a:t>
            </a:r>
            <a:r>
              <a:rPr lang="en-US" dirty="0" err="1"/>
              <a:t>eksploatacji</a:t>
            </a:r>
            <a:r>
              <a:rPr lang="en-US" dirty="0"/>
              <a:t> (Decommissioning): </a:t>
            </a:r>
            <a:r>
              <a:rPr lang="en-US" dirty="0" err="1"/>
              <a:t>Bezpieczne</a:t>
            </a:r>
            <a:r>
              <a:rPr lang="en-US" dirty="0"/>
              <a:t> </a:t>
            </a:r>
            <a:r>
              <a:rPr lang="en-US" dirty="0" err="1"/>
              <a:t>usunięcie</a:t>
            </a:r>
            <a:r>
              <a:rPr lang="en-US" dirty="0"/>
              <a:t> </a:t>
            </a:r>
            <a:r>
              <a:rPr lang="en-US" dirty="0" err="1"/>
              <a:t>produktu</a:t>
            </a:r>
            <a:r>
              <a:rPr lang="en-US" dirty="0"/>
              <a:t> z </a:t>
            </a:r>
            <a:r>
              <a:rPr lang="en-US" dirty="0" err="1"/>
              <a:t>rynku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9283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9032" y="245525"/>
            <a:ext cx="9144000" cy="468157"/>
          </a:xfrm>
        </p:spPr>
        <p:txBody>
          <a:bodyPr>
            <a:normAutofit/>
          </a:bodyPr>
          <a:lstStyle/>
          <a:p>
            <a:r>
              <a:rPr lang="en-US" b="1" dirty="0" smtClean="0"/>
              <a:t>ADAS – Advanced Driver Assistance Systems</a:t>
            </a:r>
          </a:p>
          <a:p>
            <a:endParaRPr lang="en-US" dirty="0"/>
          </a:p>
        </p:txBody>
      </p:sp>
      <p:pic>
        <p:nvPicPr>
          <p:cNvPr id="1026" name="Picture 2" descr="Types of ADAS Sensors in Use Today | Dewesof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41" y="597249"/>
            <a:ext cx="10374896" cy="597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61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pl-PL" sz="1800" b="1" dirty="0" smtClean="0"/>
              <a:t>ADAS to zbiór systemów elektronicznych w pojazdach, które wspierają kierowcę w prowadzeniu samochodu z myślą o poprawie bezpieczeństwa i komfortu. To technologie, które pomagają wykrywać potencjalne zagrożenia, ostrzegać kierowcę, a w niektórych przypadkach interweniować (hamowanie, korekta toru) zanim kierowca zareaguje.</a:t>
            </a:r>
            <a:endParaRPr lang="en-US" sz="18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l-PL" sz="1800" b="1" dirty="0" smtClean="0"/>
              <a:t>Z czego składa się ADAS – podstawowe komponenty</a:t>
            </a:r>
          </a:p>
          <a:p>
            <a:r>
              <a:rPr lang="pl-PL" sz="1800" dirty="0" smtClean="0"/>
              <a:t>Czujniki i urządzenia wejściowe: kamery, radary, </a:t>
            </a:r>
            <a:r>
              <a:rPr lang="pl-PL" sz="1800" dirty="0" err="1" smtClean="0"/>
              <a:t>lidar</a:t>
            </a:r>
            <a:r>
              <a:rPr lang="pl-PL" sz="1800" dirty="0" smtClean="0"/>
              <a:t>, ultradźwięki – służą do wykrywania otoczenia pojazdu. </a:t>
            </a:r>
          </a:p>
          <a:p>
            <a:r>
              <a:rPr lang="pl-PL" sz="1800" dirty="0" smtClean="0"/>
              <a:t>Jednostka przetwarzająca / sterownik (ECU): zbiera dane z czujników, analizuje je algorytmami, decyduje o ewentualnej akcji.</a:t>
            </a:r>
          </a:p>
          <a:p>
            <a:r>
              <a:rPr lang="pl-PL" sz="1800" dirty="0" err="1" smtClean="0"/>
              <a:t>Aktuatory</a:t>
            </a:r>
            <a:r>
              <a:rPr lang="pl-PL" sz="1800" dirty="0" smtClean="0"/>
              <a:t> / mechanizmy wykonawcze: systemy pojazdu (hamulce, kierownica, systemy wspomagania) które mogą podjąć działanie lub wspomóc kierowcę.</a:t>
            </a:r>
          </a:p>
          <a:p>
            <a:r>
              <a:rPr lang="pl-PL" sz="1800" dirty="0" smtClean="0"/>
              <a:t>Interfejs z kierowcą: ostrzeżenia dźwiękowe, wizualne albo haptyczne (np. wibracje) – informujące kierowcę lub proszące o interwencję.</a:t>
            </a:r>
          </a:p>
          <a:p>
            <a:pPr marL="0" indent="0">
              <a:buNone/>
            </a:pPr>
            <a:r>
              <a:rPr lang="pl-PL" sz="1800" b="1" dirty="0" smtClean="0"/>
              <a:t>Przykłady typowych funkcji wchodzących w zakres ADAS</a:t>
            </a:r>
          </a:p>
          <a:p>
            <a:r>
              <a:rPr lang="pl-PL" sz="1800" dirty="0" smtClean="0"/>
              <a:t>Ostrzeganie o niezamierzonej zmianie pasa ruchu (LDW – Lane </a:t>
            </a:r>
            <a:r>
              <a:rPr lang="pl-PL" sz="1800" dirty="0" err="1" smtClean="0"/>
              <a:t>Departure</a:t>
            </a:r>
            <a:r>
              <a:rPr lang="pl-PL" sz="1800" dirty="0" smtClean="0"/>
              <a:t> </a:t>
            </a:r>
            <a:r>
              <a:rPr lang="pl-PL" sz="1800" dirty="0" err="1" smtClean="0"/>
              <a:t>Warning</a:t>
            </a:r>
            <a:r>
              <a:rPr lang="pl-PL" sz="1800" dirty="0" smtClean="0"/>
              <a:t>) i/lub wspomaganie utrzymania pasa (Lane </a:t>
            </a:r>
            <a:r>
              <a:rPr lang="pl-PL" sz="1800" dirty="0" err="1" smtClean="0"/>
              <a:t>Keep</a:t>
            </a:r>
            <a:r>
              <a:rPr lang="pl-PL" sz="1800" dirty="0" smtClean="0"/>
              <a:t> </a:t>
            </a:r>
            <a:r>
              <a:rPr lang="pl-PL" sz="1800" dirty="0" err="1" smtClean="0"/>
              <a:t>Assist</a:t>
            </a:r>
            <a:r>
              <a:rPr lang="pl-PL" sz="1800" dirty="0" smtClean="0"/>
              <a:t>).</a:t>
            </a:r>
          </a:p>
          <a:p>
            <a:r>
              <a:rPr lang="pl-PL" sz="1800" dirty="0" smtClean="0"/>
              <a:t>Adaptacyjny tempomat (ACC – </a:t>
            </a:r>
            <a:r>
              <a:rPr lang="pl-PL" sz="1800" dirty="0" err="1" smtClean="0"/>
              <a:t>Adaptive</a:t>
            </a:r>
            <a:r>
              <a:rPr lang="pl-PL" sz="1800" dirty="0" smtClean="0"/>
              <a:t> </a:t>
            </a:r>
            <a:r>
              <a:rPr lang="pl-PL" sz="1800" dirty="0" err="1" smtClean="0"/>
              <a:t>Cruise</a:t>
            </a:r>
            <a:r>
              <a:rPr lang="pl-PL" sz="1800" dirty="0" smtClean="0"/>
              <a:t> Control) – utrzymuje bezpieczny odstęp od pojazdu poprzedzającego.</a:t>
            </a:r>
          </a:p>
          <a:p>
            <a:r>
              <a:rPr lang="pl-PL" sz="1800" dirty="0" smtClean="0"/>
              <a:t>Automatyczne hamowanie awaryjne (AEB – </a:t>
            </a:r>
            <a:r>
              <a:rPr lang="pl-PL" sz="1800" dirty="0" err="1" smtClean="0"/>
              <a:t>Autonomous</a:t>
            </a:r>
            <a:r>
              <a:rPr lang="pl-PL" sz="1800" dirty="0" smtClean="0"/>
              <a:t> </a:t>
            </a:r>
            <a:r>
              <a:rPr lang="pl-PL" sz="1800" dirty="0" err="1" smtClean="0"/>
              <a:t>Emergency</a:t>
            </a:r>
            <a:r>
              <a:rPr lang="pl-PL" sz="1800" dirty="0" smtClean="0"/>
              <a:t> </a:t>
            </a:r>
            <a:r>
              <a:rPr lang="pl-PL" sz="1800" dirty="0" err="1" smtClean="0"/>
              <a:t>Braking</a:t>
            </a:r>
            <a:r>
              <a:rPr lang="pl-PL" sz="1800" dirty="0" smtClean="0"/>
              <a:t>) – w sytuacji potencjalnej kolizji system sam hamuje lub wspomaga hamowanie.</a:t>
            </a:r>
          </a:p>
          <a:p>
            <a:r>
              <a:rPr lang="pl-PL" sz="1800" dirty="0" smtClean="0"/>
              <a:t>Wykrywanie pojazdu w martwym polu (Blind Spot </a:t>
            </a:r>
            <a:r>
              <a:rPr lang="pl-PL" sz="1800" dirty="0" err="1" smtClean="0"/>
              <a:t>Detection</a:t>
            </a:r>
            <a:r>
              <a:rPr lang="pl-PL" sz="1800" dirty="0" smtClean="0"/>
              <a:t>), ostrzeganie przy cofaniu lub przy skręcie w tył drogi (Cross-</a:t>
            </a:r>
            <a:r>
              <a:rPr lang="pl-PL" sz="1800" dirty="0" err="1" smtClean="0"/>
              <a:t>Traffic</a:t>
            </a:r>
            <a:r>
              <a:rPr lang="pl-PL" sz="1800" dirty="0" smtClean="0"/>
              <a:t> Alert).</a:t>
            </a:r>
          </a:p>
          <a:p>
            <a:r>
              <a:rPr lang="pl-PL" sz="1800" dirty="0" smtClean="0"/>
              <a:t>Systemy wspomagania parkowania, sterowania światłami (adaptacyjne światła), rozpoznawania znaków drogowych.</a:t>
            </a:r>
          </a:p>
          <a:p>
            <a:endParaRPr lang="pl-PL" sz="1800" dirty="0" smtClean="0"/>
          </a:p>
        </p:txBody>
      </p:sp>
    </p:spTree>
    <p:extLst>
      <p:ext uri="{BB962C8B-B14F-4D97-AF65-F5344CB8AC3E}">
        <p14:creationId xmlns:p14="http://schemas.microsoft.com/office/powerpoint/2010/main" val="409947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utomotive Ethernet: The In-Vehicle Networking of the Futur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637" y="375058"/>
            <a:ext cx="9601743" cy="606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28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735589"/>
              </p:ext>
            </p:extLst>
          </p:nvPr>
        </p:nvGraphicFramePr>
        <p:xfrm>
          <a:off x="390293" y="213865"/>
          <a:ext cx="11363092" cy="62649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63092">
                  <a:extLst>
                    <a:ext uri="{9D8B030D-6E8A-4147-A177-3AD203B41FA5}">
                      <a16:colId xmlns:a16="http://schemas.microsoft.com/office/drawing/2014/main" val="892735418"/>
                    </a:ext>
                  </a:extLst>
                </a:gridCol>
              </a:tblGrid>
              <a:tr h="6264993">
                <a:tc>
                  <a:txBody>
                    <a:bodyPr/>
                    <a:lstStyle/>
                    <a:p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Sensor Fusion (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Fuzja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czujników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pl-PL" dirty="0" smtClean="0">
                          <a:solidFill>
                            <a:schemeClr val="bg1"/>
                          </a:solidFill>
                        </a:rPr>
                        <a:t> - t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o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proces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łączenia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danych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z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różnych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typów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czujników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radarów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kamer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, LiDAR-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ów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czujników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ultradźwiękowych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), aby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uzyskać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obraz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otoczenia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bardziej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wiarygodny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dokładny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niż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byłoby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to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możliwe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przy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użyciu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tylko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jednego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z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nich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Dlaczego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jest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konieczna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? </a:t>
                      </a:r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Każdy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czujnik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ma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swoje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słabości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Kamera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świetnie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rozpoznaje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kolory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znaki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, ale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gubi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się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w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gęstej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mgle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. Radar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doskonale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mierzy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odległość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prędkość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nawet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w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nocy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, ale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nie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„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widzi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”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linii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asfalcie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Jak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to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działa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? </a:t>
                      </a:r>
                      <a:endParaRPr lang="pl-PL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Algorytmy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(np.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Filtr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Kalmana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nakładają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siebie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dane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eliminując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szumy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niepewności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Wynikiem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jest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tzw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. World Model (model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świata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) –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cyfrowa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mapa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wszystkiego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, co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dzieje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się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wokół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auta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endParaRPr lang="pl-PL" dirty="0" smtClean="0"/>
                    </a:p>
                    <a:p>
                      <a:endParaRPr lang="pl-PL" dirty="0" smtClean="0"/>
                    </a:p>
                    <a:p>
                      <a:endParaRPr lang="pl-PL" dirty="0" smtClean="0"/>
                    </a:p>
                    <a:p>
                      <a:endParaRPr lang="pl-PL" dirty="0" smtClean="0"/>
                    </a:p>
                    <a:p>
                      <a:endParaRPr lang="pl-PL" dirty="0" smtClean="0"/>
                    </a:p>
                    <a:p>
                      <a:endParaRPr lang="pl-PL" dirty="0" smtClean="0"/>
                    </a:p>
                    <a:p>
                      <a:endParaRPr lang="pl-PL" dirty="0" smtClean="0"/>
                    </a:p>
                    <a:p>
                      <a:endParaRPr lang="pl-PL" dirty="0" smtClean="0"/>
                    </a:p>
                    <a:p>
                      <a:endParaRPr lang="pl-PL" dirty="0" smtClean="0"/>
                    </a:p>
                    <a:p>
                      <a:pPr algn="ctr"/>
                      <a:r>
                        <a:rPr lang="pl-PL" dirty="0" smtClean="0"/>
                        <a:t>Ten łańcuch musi dziać się w czasie rzeczywistym (często w milisekundach).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022618"/>
                  </a:ext>
                </a:extLst>
              </a:tr>
            </a:tbl>
          </a:graphicData>
        </a:graphic>
      </p:graphicFrame>
      <p:graphicFrame>
        <p:nvGraphicFramePr>
          <p:cNvPr id="6" name="Obi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890052"/>
              </p:ext>
            </p:extLst>
          </p:nvPr>
        </p:nvGraphicFramePr>
        <p:xfrm>
          <a:off x="885476" y="4290238"/>
          <a:ext cx="1037272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Arkusz" r:id="rId3" imgW="10372571" imgH="1485900" progId="Excel.Sheet.12">
                  <p:embed/>
                </p:oleObj>
              </mc:Choice>
              <mc:Fallback>
                <p:oleObj name="Arkusz" r:id="rId3" imgW="10372571" imgH="1485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476" y="4290238"/>
                        <a:ext cx="10372725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ymbol zastępczy zawartości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03650"/>
              </p:ext>
            </p:extLst>
          </p:nvPr>
        </p:nvGraphicFramePr>
        <p:xfrm>
          <a:off x="0" y="0"/>
          <a:ext cx="12191999" cy="6858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1574139125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8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8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Architektura: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Perception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 →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Decision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 →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ControlTo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 klasyczny rurociąg (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pipeline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) przetwarzania danych w systemach ADAS. Można go porównać do działania ludzkiego organizmu.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8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8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400050" marR="0" lvl="0" indent="-4000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romanUcPeriod"/>
                        <a:tabLst/>
                        <a:defRPr/>
                      </a:pP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Perception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 (Percepcja – „Widzę”) - To etap, w którym surowe dane z czujników (po fuzji) są interpretowane. System musi odpowiedzieć na pytanie: Co znajduje się wokół mnie? Wykrywanie obiektów: Czy to, co widzę, to inny samochód, pieszy czy barierka? Klasyfikacja i śledzenie: Ten pieszy porusza się w stronę jezdni z prędkością 5 km/h. Lokalizacja: Gdzie dokładnie na pasie ruchu znajduje się mój samochód?</a:t>
                      </a:r>
                    </a:p>
                    <a:p>
                      <a:pPr marL="400050" marR="0" lvl="0" indent="-4000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romanUcPeriod"/>
                        <a:tabLst/>
                        <a:defRPr/>
                      </a:pPr>
                      <a:endParaRPr lang="pl-PL" sz="18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400050" marR="0" lvl="0" indent="-4000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romanUcPeriod"/>
                        <a:tabLst/>
                        <a:defRPr/>
                      </a:pP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Decision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 / Planning (Decyzja i Planowanie – „Myślę”) - Na podstawie modelu świata z etapu percepcji, system musi podjąć decyzję o dalszym działaniu. Musi odpowiedzieć na pytanie: Co powinienem zrobić?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Prediction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 (Przewidywanie): Czy ten samochód z lewej zajedzie mi drogę?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Path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 Planning (Planowanie ścieżki): Wyznaczenie bezpiecznej trasy ominięcia przeszkody lub utrzymania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pasa.Behaviors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 (Zachowania): Podjęcie decyzji: „Hamuj awaryjnie”, „Zwolnij”, „Zmień pas”.</a:t>
                      </a:r>
                    </a:p>
                    <a:p>
                      <a:pPr marL="400050" marR="0" lvl="0" indent="-4000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romanUcPeriod"/>
                        <a:tabLst/>
                        <a:defRPr/>
                      </a:pPr>
                      <a:endParaRPr lang="pl-PL" sz="18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400050" marR="0" lvl="0" indent="-4000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romanUcPeriod"/>
                        <a:tabLst/>
                        <a:defRPr/>
                      </a:pP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Control (Sterowanie – „Robię”) - To ostatni etap, w którym decyzja zostaje zamieniona na konkretne sygnały elektryczne wysyłane do elementów wykonawczych pojazdu (tzw.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actuators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). Musi odpowiedzieć na pytanie: Jak fizycznie wykonać manewr?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Steering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: Skręcenie kierownicy o odpowiedni kąt. Acceleration/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Braking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: Zwiększenie ciśnienia w układzie hamulcowym lub zmiana momentu obrotowego silnika. Feedback </a:t>
                      </a:r>
                      <a:r>
                        <a:rPr lang="pl-PL" sz="1800" b="1" dirty="0" err="1" smtClean="0">
                          <a:solidFill>
                            <a:schemeClr val="bg1"/>
                          </a:solidFill>
                        </a:rPr>
                        <a:t>loop</a:t>
                      </a:r>
                      <a:r>
                        <a:rPr lang="pl-PL" sz="1800" b="1" dirty="0" smtClean="0">
                          <a:solidFill>
                            <a:schemeClr val="bg1"/>
                          </a:solidFill>
                        </a:rPr>
                        <a:t>: System stale sprawdza, czy wykonany ruch przyniósł zamierzony efekt (np. czy auto faktycznie zwolniło).</a:t>
                      </a:r>
                      <a:endParaRPr lang="en-US" sz="18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29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94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89" y="89208"/>
            <a:ext cx="9768469" cy="667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368313"/>
              </p:ext>
            </p:extLst>
          </p:nvPr>
        </p:nvGraphicFramePr>
        <p:xfrm>
          <a:off x="379140" y="318223"/>
          <a:ext cx="1144115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1151">
                  <a:extLst>
                    <a:ext uri="{9D8B030D-6E8A-4147-A177-3AD203B41FA5}">
                      <a16:colId xmlns:a16="http://schemas.microsoft.com/office/drawing/2014/main" val="1747282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b="1" dirty="0" smtClean="0"/>
                        <a:t>Co to jest ECU? -  </a:t>
                      </a:r>
                      <a:r>
                        <a:rPr lang="en-US" dirty="0" smtClean="0"/>
                        <a:t>Electronic Control Unit</a:t>
                      </a:r>
                      <a:r>
                        <a:rPr lang="pl-PL" dirty="0" smtClean="0"/>
                        <a:t> (Elektroniczny sterownik)</a:t>
                      </a:r>
                    </a:p>
                    <a:p>
                      <a:endParaRPr lang="pl-PL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dirty="0" smtClean="0"/>
                        <a:t>zbiera dane z czujników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dirty="0" smtClean="0"/>
                        <a:t>przetwarza je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dirty="0" smtClean="0"/>
                        <a:t>steruje elementami wykonawczymi</a:t>
                      </a:r>
                    </a:p>
                    <a:p>
                      <a:r>
                        <a:rPr lang="pl-PL" dirty="0" smtClean="0"/>
                        <a:t>W nowoczesnym aucie jest </a:t>
                      </a:r>
                      <a:r>
                        <a:rPr lang="pl-PL" b="1" dirty="0" smtClean="0"/>
                        <a:t>od kilkunastu do nawet kilkudziesięciu ECU</a:t>
                      </a:r>
                      <a:r>
                        <a:rPr lang="pl-PL" dirty="0" smtClean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233502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232815"/>
              </p:ext>
            </p:extLst>
          </p:nvPr>
        </p:nvGraphicFramePr>
        <p:xfrm>
          <a:off x="379140" y="2213929"/>
          <a:ext cx="114411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0576">
                  <a:extLst>
                    <a:ext uri="{9D8B030D-6E8A-4147-A177-3AD203B41FA5}">
                      <a16:colId xmlns:a16="http://schemas.microsoft.com/office/drawing/2014/main" val="1540541527"/>
                    </a:ext>
                  </a:extLst>
                </a:gridCol>
                <a:gridCol w="5720576">
                  <a:extLst>
                    <a:ext uri="{9D8B030D-6E8A-4147-A177-3AD203B41FA5}">
                      <a16:colId xmlns:a16="http://schemas.microsoft.com/office/drawing/2014/main" val="2087498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err="1" smtClean="0"/>
                        <a:t>Przykłady</a:t>
                      </a:r>
                      <a:r>
                        <a:rPr lang="en-US" b="1" dirty="0" smtClean="0"/>
                        <a:t> ECU w </a:t>
                      </a:r>
                      <a:r>
                        <a:rPr lang="en-US" b="1" dirty="0" err="1" smtClean="0"/>
                        <a:t>samochodzie</a:t>
                      </a:r>
                      <a:endParaRPr lang="en-US" b="1" dirty="0" smtClean="0"/>
                    </a:p>
                    <a:p>
                      <a:r>
                        <a:rPr lang="en-US" b="1" dirty="0" smtClean="0"/>
                        <a:t>ECM / PCM</a:t>
                      </a:r>
                      <a:r>
                        <a:rPr lang="en-US" dirty="0" smtClean="0"/>
                        <a:t> – </a:t>
                      </a:r>
                      <a:r>
                        <a:rPr lang="en-US" dirty="0" err="1" smtClean="0"/>
                        <a:t>sterownik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silnika</a:t>
                      </a:r>
                      <a:endParaRPr lang="en-US" dirty="0" smtClean="0"/>
                    </a:p>
                    <a:p>
                      <a:r>
                        <a:rPr lang="en-US" b="1" dirty="0" smtClean="0"/>
                        <a:t>TCU</a:t>
                      </a:r>
                      <a:r>
                        <a:rPr lang="en-US" dirty="0" smtClean="0"/>
                        <a:t> – </a:t>
                      </a:r>
                      <a:r>
                        <a:rPr lang="en-US" dirty="0" err="1" smtClean="0"/>
                        <a:t>sterownik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skrzyni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biegów</a:t>
                      </a:r>
                      <a:endParaRPr lang="en-US" dirty="0" smtClean="0"/>
                    </a:p>
                    <a:p>
                      <a:r>
                        <a:rPr lang="en-US" b="1" dirty="0" smtClean="0"/>
                        <a:t>ABS / ESP ECU</a:t>
                      </a:r>
                      <a:r>
                        <a:rPr lang="en-US" dirty="0" smtClean="0"/>
                        <a:t> – </a:t>
                      </a:r>
                      <a:r>
                        <a:rPr lang="en-US" dirty="0" err="1" smtClean="0"/>
                        <a:t>układ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hamulcowy</a:t>
                      </a:r>
                      <a:endParaRPr lang="en-US" dirty="0" smtClean="0"/>
                    </a:p>
                    <a:p>
                      <a:r>
                        <a:rPr lang="en-US" b="1" dirty="0" smtClean="0"/>
                        <a:t>BCM</a:t>
                      </a:r>
                      <a:r>
                        <a:rPr lang="en-US" dirty="0" smtClean="0"/>
                        <a:t> – </a:t>
                      </a:r>
                      <a:r>
                        <a:rPr lang="en-US" dirty="0" err="1" smtClean="0"/>
                        <a:t>nadwozie</a:t>
                      </a:r>
                      <a:r>
                        <a:rPr lang="en-US" dirty="0" smtClean="0"/>
                        <a:t> (</a:t>
                      </a:r>
                      <a:r>
                        <a:rPr lang="en-US" dirty="0" err="1" smtClean="0"/>
                        <a:t>światła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zamki</a:t>
                      </a:r>
                      <a:r>
                        <a:rPr lang="en-US" dirty="0" smtClean="0"/>
                        <a:t>)</a:t>
                      </a:r>
                    </a:p>
                    <a:p>
                      <a:r>
                        <a:rPr lang="en-US" b="1" dirty="0" smtClean="0"/>
                        <a:t>ADAS ECU</a:t>
                      </a:r>
                      <a:r>
                        <a:rPr lang="en-US" dirty="0" smtClean="0"/>
                        <a:t> – </a:t>
                      </a:r>
                      <a:r>
                        <a:rPr lang="en-US" dirty="0" err="1" smtClean="0"/>
                        <a:t>kamery</a:t>
                      </a:r>
                      <a:r>
                        <a:rPr lang="en-US" dirty="0" smtClean="0"/>
                        <a:t>, radar</a:t>
                      </a:r>
                    </a:p>
                    <a:p>
                      <a:r>
                        <a:rPr lang="en-US" b="1" dirty="0" smtClean="0"/>
                        <a:t>Infotainment ECU</a:t>
                      </a:r>
                      <a:r>
                        <a:rPr lang="en-US" dirty="0" smtClean="0"/>
                        <a:t> – multimedia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 </a:t>
                      </a:r>
                      <a:r>
                        <a:rPr lang="en-US" dirty="0" err="1" smtClean="0"/>
                        <a:t>środku</a:t>
                      </a:r>
                      <a:r>
                        <a:rPr lang="en-US" dirty="0" smtClean="0"/>
                        <a:t>:</a:t>
                      </a:r>
                    </a:p>
                    <a:p>
                      <a:r>
                        <a:rPr lang="en-US" dirty="0" err="1" smtClean="0"/>
                        <a:t>mikrokontroler</a:t>
                      </a:r>
                      <a:r>
                        <a:rPr lang="en-US" dirty="0" smtClean="0"/>
                        <a:t> / </a:t>
                      </a:r>
                      <a:r>
                        <a:rPr lang="en-US" dirty="0" err="1" smtClean="0"/>
                        <a:t>SoC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pamięć</a:t>
                      </a:r>
                      <a:r>
                        <a:rPr lang="en-US" dirty="0" smtClean="0"/>
                        <a:t> </a:t>
                      </a:r>
                      <a:r>
                        <a:rPr lang="en-US" b="1" dirty="0" smtClean="0"/>
                        <a:t>Flash, RAM, EEPROM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interfejsy</a:t>
                      </a:r>
                      <a:r>
                        <a:rPr lang="en-US" dirty="0" smtClean="0"/>
                        <a:t>: </a:t>
                      </a:r>
                      <a:r>
                        <a:rPr lang="en-US" b="1" dirty="0" smtClean="0"/>
                        <a:t>CAN, LIN, </a:t>
                      </a:r>
                      <a:r>
                        <a:rPr lang="en-US" b="1" dirty="0" err="1" smtClean="0"/>
                        <a:t>FlexRay</a:t>
                      </a:r>
                      <a:r>
                        <a:rPr lang="en-US" b="1" dirty="0" smtClean="0"/>
                        <a:t>, Ethernet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ECU:</a:t>
                      </a:r>
                    </a:p>
                    <a:p>
                      <a:r>
                        <a:rPr lang="en-US" dirty="0" err="1" smtClean="0"/>
                        <a:t>wykonuje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algorytmy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sterowania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komunikuje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się</a:t>
                      </a:r>
                      <a:r>
                        <a:rPr lang="en-US" dirty="0" smtClean="0"/>
                        <a:t> z </a:t>
                      </a:r>
                      <a:r>
                        <a:rPr lang="en-US" dirty="0" err="1" smtClean="0"/>
                        <a:t>innymi</a:t>
                      </a:r>
                      <a:r>
                        <a:rPr lang="en-US" dirty="0" smtClean="0"/>
                        <a:t> ECU</a:t>
                      </a:r>
                    </a:p>
                    <a:p>
                      <a:r>
                        <a:rPr lang="en-US" dirty="0" err="1" smtClean="0"/>
                        <a:t>obsługuje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diagnostykę</a:t>
                      </a:r>
                      <a:r>
                        <a:rPr lang="en-US" dirty="0" smtClean="0"/>
                        <a:t> (np. </a:t>
                      </a:r>
                      <a:r>
                        <a:rPr lang="en-US" b="1" dirty="0" smtClean="0"/>
                        <a:t>UDS</a:t>
                      </a:r>
                      <a:r>
                        <a:rPr lang="en-US" dirty="0" smtClean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783582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53677"/>
              </p:ext>
            </p:extLst>
          </p:nvPr>
        </p:nvGraphicFramePr>
        <p:xfrm>
          <a:off x="379138" y="4658274"/>
          <a:ext cx="11441152" cy="1854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0576">
                  <a:extLst>
                    <a:ext uri="{9D8B030D-6E8A-4147-A177-3AD203B41FA5}">
                      <a16:colId xmlns:a16="http://schemas.microsoft.com/office/drawing/2014/main" val="3974507077"/>
                    </a:ext>
                  </a:extLst>
                </a:gridCol>
                <a:gridCol w="5720576">
                  <a:extLst>
                    <a:ext uri="{9D8B030D-6E8A-4147-A177-3AD203B41FA5}">
                      <a16:colId xmlns:a16="http://schemas.microsoft.com/office/drawing/2014/main" val="1142319712"/>
                    </a:ext>
                  </a:extLst>
                </a:gridCol>
              </a:tblGrid>
              <a:tr h="1854037">
                <a:tc>
                  <a:txBody>
                    <a:bodyPr/>
                    <a:lstStyle/>
                    <a:p>
                      <a:r>
                        <a:rPr lang="pl-PL" b="1" dirty="0" smtClean="0"/>
                        <a:t>ECU a diagnostyka</a:t>
                      </a:r>
                    </a:p>
                    <a:p>
                      <a:r>
                        <a:rPr lang="pl-PL" dirty="0" smtClean="0"/>
                        <a:t>Z poziomu diagnostyki możesz:</a:t>
                      </a:r>
                    </a:p>
                    <a:p>
                      <a:r>
                        <a:rPr lang="pl-PL" dirty="0" smtClean="0"/>
                        <a:t>odczytać </a:t>
                      </a:r>
                      <a:r>
                        <a:rPr lang="pl-PL" b="1" dirty="0" smtClean="0"/>
                        <a:t>DTC (błędy)</a:t>
                      </a:r>
                      <a:endParaRPr lang="pl-PL" dirty="0" smtClean="0"/>
                    </a:p>
                    <a:p>
                      <a:r>
                        <a:rPr lang="pl-PL" dirty="0" smtClean="0"/>
                        <a:t>podejrzeć </a:t>
                      </a:r>
                      <a:r>
                        <a:rPr lang="pl-PL" b="1" dirty="0" smtClean="0"/>
                        <a:t>dane bieżące</a:t>
                      </a:r>
                      <a:endParaRPr lang="pl-PL" dirty="0" smtClean="0"/>
                    </a:p>
                    <a:p>
                      <a:r>
                        <a:rPr lang="pl-PL" dirty="0" smtClean="0"/>
                        <a:t>wykonać </a:t>
                      </a:r>
                      <a:r>
                        <a:rPr lang="pl-PL" b="1" dirty="0" smtClean="0"/>
                        <a:t>testy i adaptacje</a:t>
                      </a:r>
                      <a:endParaRPr lang="pl-PL" dirty="0" smtClean="0"/>
                    </a:p>
                    <a:p>
                      <a:r>
                        <a:rPr lang="pl-PL" b="1" dirty="0" smtClean="0"/>
                        <a:t>programować / kodować ECU</a:t>
                      </a:r>
                      <a:endParaRPr lang="pl-PL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 smtClean="0">
                          <a:solidFill>
                            <a:srgbClr val="C00000"/>
                          </a:solidFill>
                        </a:rPr>
                        <a:t>ECU = mózg jednego systemu w aucie</a:t>
                      </a:r>
                      <a:br>
                        <a:rPr lang="pl-PL" b="1" dirty="0" smtClean="0">
                          <a:solidFill>
                            <a:srgbClr val="C00000"/>
                          </a:solidFill>
                        </a:rPr>
                      </a:br>
                      <a:r>
                        <a:rPr lang="pl-PL" b="1" dirty="0" smtClean="0">
                          <a:solidFill>
                            <a:srgbClr val="C00000"/>
                          </a:solidFill>
                        </a:rPr>
                        <a:t>a całe auto to sieć wielu ECU gadających ze sobą.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176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3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/>
          <p:cNvSpPr/>
          <p:nvPr/>
        </p:nvSpPr>
        <p:spPr>
          <a:xfrm>
            <a:off x="572430" y="293066"/>
            <a:ext cx="10961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 smtClean="0">
                <a:solidFill>
                  <a:schemeClr val="accent5"/>
                </a:solidFill>
              </a:rPr>
              <a:t>UDS </a:t>
            </a:r>
            <a:r>
              <a:rPr lang="en-US" dirty="0">
                <a:solidFill>
                  <a:schemeClr val="accent5"/>
                </a:solidFill>
              </a:rPr>
              <a:t>Unified Diagnostic Services</a:t>
            </a:r>
            <a:r>
              <a:rPr lang="pl-PL" dirty="0" smtClean="0">
                <a:solidFill>
                  <a:schemeClr val="accent5"/>
                </a:solidFill>
              </a:rPr>
              <a:t> </a:t>
            </a:r>
            <a:r>
              <a:rPr lang="pl-PL" dirty="0">
                <a:solidFill>
                  <a:schemeClr val="accent5"/>
                </a:solidFill>
              </a:rPr>
              <a:t>to protokół diagnostyczny, którym tester diagnostyczny </a:t>
            </a:r>
            <a:r>
              <a:rPr lang="pl-PL" dirty="0" smtClean="0">
                <a:solidFill>
                  <a:schemeClr val="accent5"/>
                </a:solidFill>
              </a:rPr>
              <a:t>(OBD)komunikuje </a:t>
            </a:r>
            <a:r>
              <a:rPr lang="pl-PL" dirty="0">
                <a:solidFill>
                  <a:schemeClr val="accent5"/>
                </a:solidFill>
              </a:rPr>
              <a:t>się z </a:t>
            </a:r>
            <a:r>
              <a:rPr lang="pl-PL" dirty="0" smtClean="0">
                <a:solidFill>
                  <a:schemeClr val="accent5"/>
                </a:solidFill>
              </a:rPr>
              <a:t>ECU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071530"/>
              </p:ext>
            </p:extLst>
          </p:nvPr>
        </p:nvGraphicFramePr>
        <p:xfrm>
          <a:off x="572429" y="775426"/>
          <a:ext cx="1096164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1532">
                  <a:extLst>
                    <a:ext uri="{9D8B030D-6E8A-4147-A177-3AD203B41FA5}">
                      <a16:colId xmlns:a16="http://schemas.microsoft.com/office/drawing/2014/main" val="1340781204"/>
                    </a:ext>
                  </a:extLst>
                </a:gridCol>
                <a:gridCol w="5490117">
                  <a:extLst>
                    <a:ext uri="{9D8B030D-6E8A-4147-A177-3AD203B41FA5}">
                      <a16:colId xmlns:a16="http://schemas.microsoft.com/office/drawing/2014/main" val="769298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Odczytuje błędy DTC –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Diagnostic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Trouble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Code</a:t>
                      </a:r>
                      <a:r>
                        <a:rPr lang="pl-PL" baseline="0" dirty="0" smtClean="0"/>
                        <a:t>.</a:t>
                      </a:r>
                      <a:endParaRPr lang="pl-PL" dirty="0" smtClean="0"/>
                    </a:p>
                    <a:p>
                      <a:r>
                        <a:rPr lang="pl-PL" dirty="0" smtClean="0"/>
                        <a:t>Odczytuje dane bieżące</a:t>
                      </a:r>
                    </a:p>
                    <a:p>
                      <a:r>
                        <a:rPr lang="pl-PL" dirty="0" smtClean="0"/>
                        <a:t>Wykonuje testy i adaptacje</a:t>
                      </a:r>
                    </a:p>
                    <a:p>
                      <a:r>
                        <a:rPr lang="pl-PL" dirty="0" smtClean="0"/>
                        <a:t>Programuje </a:t>
                      </a:r>
                      <a:r>
                        <a:rPr lang="pl-PL" dirty="0" err="1" smtClean="0"/>
                        <a:t>flash</a:t>
                      </a:r>
                      <a:r>
                        <a:rPr lang="pl-PL" dirty="0" smtClean="0"/>
                        <a:t> ECU (</a:t>
                      </a:r>
                      <a:r>
                        <a:rPr lang="en-US" dirty="0" smtClean="0"/>
                        <a:t>Electronic Control Unit</a:t>
                      </a:r>
                      <a:r>
                        <a:rPr lang="pl-PL" dirty="0" smtClean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Client – Server</a:t>
                      </a:r>
                      <a:endParaRPr lang="en-US" dirty="0" smtClean="0"/>
                    </a:p>
                    <a:p>
                      <a:r>
                        <a:rPr lang="en-US" b="1" dirty="0" smtClean="0"/>
                        <a:t>Client</a:t>
                      </a:r>
                      <a:r>
                        <a:rPr lang="en-US" dirty="0" smtClean="0"/>
                        <a:t> → tester </a:t>
                      </a:r>
                      <a:r>
                        <a:rPr lang="en-US" dirty="0" err="1" smtClean="0"/>
                        <a:t>diagnostyczny</a:t>
                      </a:r>
                      <a:endParaRPr lang="en-US" dirty="0" smtClean="0"/>
                    </a:p>
                    <a:p>
                      <a:r>
                        <a:rPr lang="en-US" b="1" dirty="0" smtClean="0"/>
                        <a:t>Server</a:t>
                      </a:r>
                      <a:r>
                        <a:rPr lang="en-US" dirty="0" smtClean="0"/>
                        <a:t> → ECU</a:t>
                      </a:r>
                    </a:p>
                    <a:p>
                      <a:r>
                        <a:rPr lang="en-US" dirty="0" smtClean="0"/>
                        <a:t>Client </a:t>
                      </a:r>
                      <a:r>
                        <a:rPr lang="en-US" b="1" dirty="0" err="1" smtClean="0"/>
                        <a:t>zawsze</a:t>
                      </a:r>
                      <a:r>
                        <a:rPr lang="en-US" b="1" dirty="0" smtClean="0"/>
                        <a:t> </a:t>
                      </a:r>
                      <a:r>
                        <a:rPr lang="en-US" b="1" dirty="0" err="1" smtClean="0"/>
                        <a:t>inicjuje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komunikację</a:t>
                      </a:r>
                      <a:r>
                        <a:rPr lang="en-US" dirty="0" smtClean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284576"/>
                  </a:ext>
                </a:extLst>
              </a:tr>
            </a:tbl>
          </a:graphicData>
        </a:graphic>
      </p:graphicFrame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16270"/>
              </p:ext>
            </p:extLst>
          </p:nvPr>
        </p:nvGraphicFramePr>
        <p:xfrm>
          <a:off x="572428" y="2077174"/>
          <a:ext cx="10961650" cy="1279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825">
                  <a:extLst>
                    <a:ext uri="{9D8B030D-6E8A-4147-A177-3AD203B41FA5}">
                      <a16:colId xmlns:a16="http://schemas.microsoft.com/office/drawing/2014/main" val="4061757377"/>
                    </a:ext>
                  </a:extLst>
                </a:gridCol>
                <a:gridCol w="5480825">
                  <a:extLst>
                    <a:ext uri="{9D8B030D-6E8A-4147-A177-3AD203B41FA5}">
                      <a16:colId xmlns:a16="http://schemas.microsoft.com/office/drawing/2014/main" val="3526203008"/>
                    </a:ext>
                  </a:extLst>
                </a:gridCol>
              </a:tblGrid>
              <a:tr h="12793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0x10 – Diagnostic Session Control</a:t>
                      </a:r>
                      <a:endParaRPr lang="pl-PL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Default </a:t>
                      </a:r>
                      <a:r>
                        <a:rPr lang="en-US" b="1" dirty="0"/>
                        <a:t>(0x01</a:t>
                      </a:r>
                      <a:r>
                        <a:rPr lang="en-US" b="1" dirty="0" smtClean="0"/>
                        <a:t>)</a:t>
                      </a:r>
                      <a:r>
                        <a:rPr lang="pl-PL" b="1" dirty="0" smtClean="0"/>
                        <a:t> - </a:t>
                      </a:r>
                      <a:r>
                        <a:rPr lang="en-US" b="1" dirty="0" err="1" smtClean="0"/>
                        <a:t>normalna</a:t>
                      </a:r>
                      <a:r>
                        <a:rPr lang="en-US" b="1" dirty="0" smtClean="0"/>
                        <a:t> </a:t>
                      </a:r>
                      <a:r>
                        <a:rPr lang="en-US" b="1" dirty="0" err="1" smtClean="0"/>
                        <a:t>jazda</a:t>
                      </a:r>
                      <a:endParaRPr lang="en-US" b="1" dirty="0" smtClean="0"/>
                    </a:p>
                    <a:p>
                      <a:r>
                        <a:rPr lang="en-US" b="1" dirty="0" smtClean="0"/>
                        <a:t>Extended (0x03)</a:t>
                      </a:r>
                      <a:r>
                        <a:rPr lang="pl-PL" b="1" dirty="0" smtClean="0"/>
                        <a:t> - diagnostyka</a:t>
                      </a:r>
                    </a:p>
                    <a:p>
                      <a:r>
                        <a:rPr lang="pl-PL" b="1" dirty="0" smtClean="0"/>
                        <a:t>Programming (0x02) – </a:t>
                      </a:r>
                      <a:r>
                        <a:rPr lang="pl-PL" b="1" dirty="0" err="1" smtClean="0"/>
                        <a:t>flashowanie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0x11 – ECU Reset</a:t>
                      </a:r>
                      <a:r>
                        <a:rPr lang="pl-PL" dirty="0" smtClean="0"/>
                        <a:t> (Restart Sterownika)</a:t>
                      </a:r>
                    </a:p>
                    <a:p>
                      <a:r>
                        <a:rPr lang="en-US" b="1" dirty="0" smtClean="0"/>
                        <a:t>hard reset</a:t>
                      </a:r>
                    </a:p>
                    <a:p>
                      <a:r>
                        <a:rPr lang="en-US" b="1" dirty="0" smtClean="0"/>
                        <a:t>key off/on reset</a:t>
                      </a:r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123529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056589"/>
              </p:ext>
            </p:extLst>
          </p:nvPr>
        </p:nvGraphicFramePr>
        <p:xfrm>
          <a:off x="572428" y="3469545"/>
          <a:ext cx="1096165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825">
                  <a:extLst>
                    <a:ext uri="{9D8B030D-6E8A-4147-A177-3AD203B41FA5}">
                      <a16:colId xmlns:a16="http://schemas.microsoft.com/office/drawing/2014/main" val="3379227947"/>
                    </a:ext>
                  </a:extLst>
                </a:gridCol>
                <a:gridCol w="5480825">
                  <a:extLst>
                    <a:ext uri="{9D8B030D-6E8A-4147-A177-3AD203B41FA5}">
                      <a16:colId xmlns:a16="http://schemas.microsoft.com/office/drawing/2014/main" val="1909149038"/>
                    </a:ext>
                  </a:extLst>
                </a:gridCol>
              </a:tblGrid>
              <a:tr h="857128">
                <a:tc>
                  <a:txBody>
                    <a:bodyPr/>
                    <a:lstStyle/>
                    <a:p>
                      <a:r>
                        <a:rPr lang="en-US" dirty="0" smtClean="0"/>
                        <a:t>0x22 – Read Data By Identifier (DID)</a:t>
                      </a:r>
                      <a:endParaRPr lang="pl-PL" dirty="0" smtClean="0"/>
                    </a:p>
                    <a:p>
                      <a:r>
                        <a:rPr lang="pl-PL" dirty="0" smtClean="0"/>
                        <a:t>Odczyt numeru VIN (DID: 0xF1 90)</a:t>
                      </a:r>
                    </a:p>
                    <a:p>
                      <a:r>
                        <a:rPr lang="pl-PL" dirty="0" smtClean="0"/>
                        <a:t>Odczyt parametrów silnika (np. DID: 0x01 05)</a:t>
                      </a:r>
                    </a:p>
                    <a:p>
                      <a:r>
                        <a:rPr lang="pl-PL" dirty="0" smtClean="0"/>
                        <a:t>Odczyt wersji oprogramowania (DID: 0xF1 95)</a:t>
                      </a:r>
                    </a:p>
                    <a:p>
                      <a:r>
                        <a:rPr lang="pl-PL" dirty="0" smtClean="0"/>
                        <a:t>Odczyt stanu naładowania akumulatora (SOC)</a:t>
                      </a:r>
                    </a:p>
                    <a:p>
                      <a:endParaRPr lang="pl-PL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0x19 – Read DTC Information</a:t>
                      </a:r>
                      <a:endParaRPr lang="pl-PL" dirty="0" smtClean="0"/>
                    </a:p>
                    <a:p>
                      <a:r>
                        <a:rPr lang="pl-PL" dirty="0" smtClean="0"/>
                        <a:t>01 Odczyt ilości błędów DTC</a:t>
                      </a:r>
                    </a:p>
                    <a:p>
                      <a:r>
                        <a:rPr lang="pl-PL" dirty="0" smtClean="0"/>
                        <a:t>02 Odczyt</a:t>
                      </a:r>
                      <a:r>
                        <a:rPr lang="pl-PL" baseline="0" dirty="0" smtClean="0"/>
                        <a:t> błędów wraz z opisem</a:t>
                      </a:r>
                      <a:endParaRPr lang="pl-PL" dirty="0" smtClean="0"/>
                    </a:p>
                    <a:p>
                      <a:r>
                        <a:rPr lang="pl-PL" dirty="0" smtClean="0"/>
                        <a:t>04</a:t>
                      </a:r>
                      <a:r>
                        <a:rPr lang="pl-PL" baseline="0" dirty="0" smtClean="0"/>
                        <a:t> O</a:t>
                      </a:r>
                      <a:r>
                        <a:rPr lang="pl-PL" dirty="0" smtClean="0"/>
                        <a:t>dczytać </a:t>
                      </a:r>
                      <a:r>
                        <a:rPr lang="pl-PL" dirty="0" err="1" smtClean="0"/>
                        <a:t>Freeze</a:t>
                      </a:r>
                      <a:r>
                        <a:rPr lang="pl-PL" dirty="0" smtClean="0"/>
                        <a:t> </a:t>
                      </a:r>
                      <a:r>
                        <a:rPr lang="pl-PL" dirty="0" err="1" smtClean="0"/>
                        <a:t>Frame</a:t>
                      </a:r>
                      <a:r>
                        <a:rPr lang="pl-PL" dirty="0" smtClean="0"/>
                        <a:t> – parametrów pojazdu</a:t>
                      </a:r>
                      <a:r>
                        <a:rPr lang="pl-PL" baseline="0" dirty="0" smtClean="0"/>
                        <a:t> w chwili wystąpienia błędu.</a:t>
                      </a:r>
                    </a:p>
                    <a:p>
                      <a:endParaRPr lang="pl-PL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35635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153521"/>
              </p:ext>
            </p:extLst>
          </p:nvPr>
        </p:nvGraphicFramePr>
        <p:xfrm>
          <a:off x="572428" y="5045612"/>
          <a:ext cx="10961650" cy="1589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825">
                  <a:extLst>
                    <a:ext uri="{9D8B030D-6E8A-4147-A177-3AD203B41FA5}">
                      <a16:colId xmlns:a16="http://schemas.microsoft.com/office/drawing/2014/main" val="4069774629"/>
                    </a:ext>
                  </a:extLst>
                </a:gridCol>
                <a:gridCol w="5480825">
                  <a:extLst>
                    <a:ext uri="{9D8B030D-6E8A-4147-A177-3AD203B41FA5}">
                      <a16:colId xmlns:a16="http://schemas.microsoft.com/office/drawing/2014/main" val="4227241059"/>
                    </a:ext>
                  </a:extLst>
                </a:gridCol>
              </a:tblGrid>
              <a:tr h="158936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0x34 / 0x36 / 0x37 – </a:t>
                      </a:r>
                      <a:r>
                        <a:rPr lang="en-US" b="1" dirty="0" err="1" smtClean="0"/>
                        <a:t>Flashowanie</a:t>
                      </a:r>
                      <a:r>
                        <a:rPr lang="en-US" b="1" dirty="0" smtClean="0"/>
                        <a:t> ECU</a:t>
                      </a:r>
                    </a:p>
                    <a:p>
                      <a:r>
                        <a:rPr lang="en-US" dirty="0" err="1" smtClean="0"/>
                        <a:t>Sekwencja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programowania</a:t>
                      </a:r>
                      <a:r>
                        <a:rPr lang="en-US" dirty="0" smtClean="0"/>
                        <a:t>:</a:t>
                      </a:r>
                    </a:p>
                    <a:p>
                      <a:r>
                        <a:rPr lang="en-US" dirty="0" smtClean="0"/>
                        <a:t>Request Download (0x34)</a:t>
                      </a:r>
                    </a:p>
                    <a:p>
                      <a:r>
                        <a:rPr lang="en-US" dirty="0" smtClean="0"/>
                        <a:t>Transfer Data (0x36)</a:t>
                      </a:r>
                    </a:p>
                    <a:p>
                      <a:r>
                        <a:rPr lang="en-US" dirty="0" smtClean="0"/>
                        <a:t>Transfer Exit (0x37)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Odpowiedzi Negatywne (NRC)</a:t>
                      </a:r>
                    </a:p>
                    <a:p>
                      <a:r>
                        <a:rPr lang="pl-PL" b="0" dirty="0" smtClean="0"/>
                        <a:t>0x10 </a:t>
                      </a:r>
                      <a:r>
                        <a:rPr lang="en-US" b="0" dirty="0" smtClean="0"/>
                        <a:t>General Reject</a:t>
                      </a:r>
                      <a:endParaRPr lang="pl-PL" b="0" dirty="0" smtClean="0"/>
                    </a:p>
                    <a:p>
                      <a:r>
                        <a:rPr lang="pl-PL" b="0" dirty="0" smtClean="0"/>
                        <a:t>0x11 </a:t>
                      </a:r>
                      <a:r>
                        <a:rPr lang="en-US" b="0" dirty="0" smtClean="0"/>
                        <a:t>Service Not Supported</a:t>
                      </a:r>
                      <a:endParaRPr lang="pl-PL" b="0" dirty="0" smtClean="0"/>
                    </a:p>
                    <a:p>
                      <a:r>
                        <a:rPr lang="pl-PL" b="0" dirty="0" smtClean="0"/>
                        <a:t>0x13 </a:t>
                      </a:r>
                      <a:r>
                        <a:rPr lang="en-US" b="0" dirty="0" smtClean="0"/>
                        <a:t>Incorrect Message Length</a:t>
                      </a:r>
                      <a:endParaRPr lang="pl-PL" b="0" dirty="0" smtClean="0"/>
                    </a:p>
                    <a:p>
                      <a:r>
                        <a:rPr lang="pl-PL" b="0" dirty="0" smtClean="0"/>
                        <a:t>0x33 </a:t>
                      </a:r>
                      <a:r>
                        <a:rPr lang="en-US" b="0" dirty="0" smtClean="0"/>
                        <a:t>Security Access Denied</a:t>
                      </a:r>
                      <a:endParaRPr lang="pl-PL" b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373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7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D6E6F5"/>
            </a:gs>
            <a:gs pos="0">
              <a:schemeClr val="accent1">
                <a:lumMod val="5000"/>
                <a:lumOff val="95000"/>
              </a:schemeClr>
            </a:gs>
            <a:gs pos="2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905292"/>
              </p:ext>
            </p:extLst>
          </p:nvPr>
        </p:nvGraphicFramePr>
        <p:xfrm>
          <a:off x="838200" y="901255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105046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96858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63211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i="1" dirty="0" err="1"/>
                        <a:t>Czynność</a:t>
                      </a:r>
                      <a:endParaRPr lang="en-US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Co </a:t>
                      </a:r>
                      <a:r>
                        <a:rPr lang="en-US" i="1" dirty="0" err="1"/>
                        <a:t>robi</a:t>
                      </a:r>
                      <a:endParaRPr lang="en-US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 err="1"/>
                        <a:t>Przykład</a:t>
                      </a:r>
                      <a:endParaRPr lang="en-US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86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Programowanie ECU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Wgrywa</a:t>
                      </a:r>
                      <a:r>
                        <a:rPr lang="en-US" dirty="0"/>
                        <a:t> </a:t>
                      </a:r>
                      <a:r>
                        <a:rPr lang="pl-PL" dirty="0" err="1" smtClean="0"/>
                        <a:t>firmware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nowa wersja sterownika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77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Kodowanie ECU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Zmienia konfigurację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halogeny vs 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834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Adaptacja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Uczy ECU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adaptacja skrzyni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382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Diagnostyka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Odczyt DTC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błąd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czujnika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432195"/>
                  </a:ext>
                </a:extLst>
              </a:tr>
            </a:tbl>
          </a:graphicData>
        </a:graphic>
      </p:graphicFrame>
      <p:sp>
        <p:nvSpPr>
          <p:cNvPr id="5" name="Prostokąt 4"/>
          <p:cNvSpPr/>
          <p:nvPr/>
        </p:nvSpPr>
        <p:spPr>
          <a:xfrm>
            <a:off x="838200" y="356168"/>
            <a:ext cx="93540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/>
              <a:t>Czym różni się programowanie od </a:t>
            </a:r>
            <a:r>
              <a:rPr lang="pl-PL" b="1" dirty="0" smtClean="0"/>
              <a:t>kodowania ECU?</a:t>
            </a:r>
            <a:endParaRPr lang="en-US" b="1" dirty="0"/>
          </a:p>
        </p:txBody>
      </p:sp>
      <p:sp>
        <p:nvSpPr>
          <p:cNvPr id="6" name="Prostokąt 5"/>
          <p:cNvSpPr/>
          <p:nvPr/>
        </p:nvSpPr>
        <p:spPr>
          <a:xfrm>
            <a:off x="838200" y="2905810"/>
            <a:ext cx="9097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/>
              <a:t>Wszystko to zwykle idzie przez </a:t>
            </a:r>
            <a:r>
              <a:rPr lang="pl-PL" b="1" dirty="0" smtClean="0"/>
              <a:t>UDS </a:t>
            </a:r>
            <a:r>
              <a:rPr lang="pl-PL" dirty="0"/>
              <a:t>→ protokół do diagnostyki i programowania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45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301083" y="278779"/>
            <a:ext cx="7560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/>
              <a:t>LIN (</a:t>
            </a:r>
            <a:r>
              <a:rPr lang="pl-PL" b="1" dirty="0" err="1"/>
              <a:t>Local</a:t>
            </a:r>
            <a:r>
              <a:rPr lang="pl-PL" b="1" dirty="0"/>
              <a:t> </a:t>
            </a:r>
            <a:r>
              <a:rPr lang="pl-PL" b="1" dirty="0" err="1"/>
              <a:t>Interconnect</a:t>
            </a:r>
            <a:r>
              <a:rPr lang="pl-PL" b="1" dirty="0"/>
              <a:t> </a:t>
            </a:r>
            <a:r>
              <a:rPr lang="pl-PL" b="1" dirty="0" smtClean="0"/>
              <a:t>Network) - Najprostsza </a:t>
            </a:r>
            <a:r>
              <a:rPr lang="pl-PL" b="1" dirty="0"/>
              <a:t>i najtańsza magistrala w </a:t>
            </a:r>
            <a:r>
              <a:rPr lang="pl-PL" b="1" dirty="0" smtClean="0"/>
              <a:t>aucie</a:t>
            </a:r>
            <a:endParaRPr lang="pl-PL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681628"/>
              </p:ext>
            </p:extLst>
          </p:nvPr>
        </p:nvGraphicFramePr>
        <p:xfrm>
          <a:off x="403920" y="725055"/>
          <a:ext cx="1111529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0743">
                  <a:extLst>
                    <a:ext uri="{9D8B030D-6E8A-4147-A177-3AD203B41FA5}">
                      <a16:colId xmlns:a16="http://schemas.microsoft.com/office/drawing/2014/main" val="3853021258"/>
                    </a:ext>
                  </a:extLst>
                </a:gridCol>
                <a:gridCol w="6824547">
                  <a:extLst>
                    <a:ext uri="{9D8B030D-6E8A-4147-A177-3AD203B41FA5}">
                      <a16:colId xmlns:a16="http://schemas.microsoft.com/office/drawing/2014/main" val="421032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800" dirty="0" smtClean="0"/>
                        <a:t>sterowanie szybami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800" dirty="0" smtClean="0"/>
                        <a:t>lusterka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800" dirty="0" smtClean="0"/>
                        <a:t>czujniki deszczu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800" dirty="0" smtClean="0"/>
                        <a:t>klimatyzacja (elementy wykonawcze)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dirty="0" smtClean="0"/>
                        <a:t>Działanie: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800" b="1" dirty="0" smtClean="0"/>
                        <a:t>Master–</a:t>
                      </a:r>
                      <a:r>
                        <a:rPr lang="pl-PL" sz="1800" b="1" dirty="0" err="1" smtClean="0"/>
                        <a:t>Slave</a:t>
                      </a:r>
                      <a:r>
                        <a:rPr lang="pl-PL" sz="1800" dirty="0" smtClean="0"/>
                        <a:t> (jeden sterownik rządzi, reszta odpowiada)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800" dirty="0" smtClean="0"/>
                        <a:t>prędkość: </a:t>
                      </a:r>
                      <a:r>
                        <a:rPr lang="pl-PL" sz="1800" b="1" dirty="0" smtClean="0"/>
                        <a:t>do ~20 </a:t>
                      </a:r>
                      <a:r>
                        <a:rPr lang="pl-PL" sz="1800" b="1" dirty="0" err="1" smtClean="0"/>
                        <a:t>kb</a:t>
                      </a:r>
                      <a:r>
                        <a:rPr lang="pl-PL" sz="1800" b="1" dirty="0" smtClean="0"/>
                        <a:t>/s</a:t>
                      </a:r>
                      <a:endParaRPr lang="pl-PL" sz="1800" dirty="0" smtClean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pl-PL" sz="1800" dirty="0" smtClean="0"/>
                        <a:t>komunikacja po </a:t>
                      </a:r>
                      <a:r>
                        <a:rPr lang="pl-PL" sz="1800" b="1" dirty="0" smtClean="0"/>
                        <a:t>jednym przewodzie</a:t>
                      </a:r>
                      <a:endParaRPr lang="pl-PL" sz="1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61020"/>
                  </a:ext>
                </a:extLst>
              </a:tr>
            </a:tbl>
          </a:graphicData>
        </a:graphic>
      </p:graphicFrame>
      <p:sp>
        <p:nvSpPr>
          <p:cNvPr id="5" name="pole tekstowe 4"/>
          <p:cNvSpPr txBox="1"/>
          <p:nvPr/>
        </p:nvSpPr>
        <p:spPr>
          <a:xfrm>
            <a:off x="403920" y="3540605"/>
            <a:ext cx="1111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 smtClean="0"/>
              <a:t>FlexRay</a:t>
            </a:r>
            <a:r>
              <a:rPr lang="pl-PL" b="1" dirty="0" smtClean="0"/>
              <a:t> </a:t>
            </a:r>
            <a:r>
              <a:rPr lang="pl-PL" dirty="0" smtClean="0"/>
              <a:t>- </a:t>
            </a:r>
            <a:r>
              <a:rPr lang="en-US" dirty="0" err="1"/>
              <a:t>Szybka</a:t>
            </a:r>
            <a:r>
              <a:rPr lang="en-US" dirty="0"/>
              <a:t>, </a:t>
            </a:r>
            <a:r>
              <a:rPr lang="en-US" dirty="0" err="1"/>
              <a:t>deterministyczna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„</a:t>
            </a:r>
            <a:r>
              <a:rPr lang="en-US" dirty="0" err="1"/>
              <a:t>bezpieczna</a:t>
            </a:r>
            <a:r>
              <a:rPr lang="en-US" dirty="0" smtClean="0"/>
              <a:t>”</a:t>
            </a:r>
            <a:r>
              <a:rPr lang="pl-PL" dirty="0" smtClean="0"/>
              <a:t> - </a:t>
            </a:r>
            <a:r>
              <a:rPr lang="pl-PL" dirty="0"/>
              <a:t>Systemy wymagające </a:t>
            </a:r>
            <a:r>
              <a:rPr lang="pl-PL" b="1" dirty="0"/>
              <a:t>precyzyjnego czasu</a:t>
            </a:r>
            <a:r>
              <a:rPr lang="pl-PL" dirty="0"/>
              <a:t> i </a:t>
            </a:r>
            <a:r>
              <a:rPr lang="pl-PL" dirty="0" smtClean="0"/>
              <a:t>niezawodności.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885366"/>
              </p:ext>
            </p:extLst>
          </p:nvPr>
        </p:nvGraphicFramePr>
        <p:xfrm>
          <a:off x="403920" y="4002173"/>
          <a:ext cx="110149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465">
                  <a:extLst>
                    <a:ext uri="{9D8B030D-6E8A-4147-A177-3AD203B41FA5}">
                      <a16:colId xmlns:a16="http://schemas.microsoft.com/office/drawing/2014/main" val="3067581634"/>
                    </a:ext>
                  </a:extLst>
                </a:gridCol>
                <a:gridCol w="5507465">
                  <a:extLst>
                    <a:ext uri="{9D8B030D-6E8A-4147-A177-3AD203B41FA5}">
                      <a16:colId xmlns:a16="http://schemas.microsoft.com/office/drawing/2014/main" val="292912751"/>
                    </a:ext>
                  </a:extLst>
                </a:gridCol>
              </a:tblGrid>
              <a:tr h="1153738"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steering</a:t>
                      </a:r>
                      <a:r>
                        <a:rPr lang="pl-PL" dirty="0" smtClean="0"/>
                        <a:t>-by-</a:t>
                      </a:r>
                      <a:r>
                        <a:rPr lang="pl-PL" dirty="0" err="1" smtClean="0"/>
                        <a:t>wire</a:t>
                      </a:r>
                      <a:endParaRPr lang="pl-PL" dirty="0" smtClean="0"/>
                    </a:p>
                    <a:p>
                      <a:r>
                        <a:rPr lang="pl-PL" dirty="0" err="1" smtClean="0"/>
                        <a:t>brake</a:t>
                      </a:r>
                      <a:r>
                        <a:rPr lang="pl-PL" dirty="0" smtClean="0"/>
                        <a:t>-by-</a:t>
                      </a:r>
                      <a:r>
                        <a:rPr lang="pl-PL" dirty="0" err="1" smtClean="0"/>
                        <a:t>wire</a:t>
                      </a:r>
                      <a:endParaRPr lang="pl-PL" dirty="0" smtClean="0"/>
                    </a:p>
                    <a:p>
                      <a:r>
                        <a:rPr lang="pl-PL" dirty="0" smtClean="0"/>
                        <a:t>aktywne zawieszenie</a:t>
                      </a:r>
                    </a:p>
                    <a:p>
                      <a:r>
                        <a:rPr lang="pl-PL" dirty="0" smtClean="0"/>
                        <a:t>ADAS (starsze generacje)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b="1" dirty="0" smtClean="0"/>
                        <a:t>Time-</a:t>
                      </a:r>
                      <a:r>
                        <a:rPr lang="pl-PL" b="1" dirty="0" err="1" smtClean="0"/>
                        <a:t>triggered</a:t>
                      </a:r>
                      <a:r>
                        <a:rPr lang="pl-PL" dirty="0" smtClean="0"/>
                        <a:t> (komunikacja w slotach czasowych)</a:t>
                      </a:r>
                    </a:p>
                    <a:p>
                      <a:r>
                        <a:rPr lang="pl-PL" b="1" dirty="0" smtClean="0"/>
                        <a:t>2 kanały</a:t>
                      </a:r>
                      <a:r>
                        <a:rPr lang="pl-PL" dirty="0" smtClean="0"/>
                        <a:t> → redundancja</a:t>
                      </a:r>
                    </a:p>
                    <a:p>
                      <a:r>
                        <a:rPr lang="pl-PL" dirty="0" smtClean="0"/>
                        <a:t>prędkość: </a:t>
                      </a:r>
                      <a:r>
                        <a:rPr lang="pl-PL" b="1" dirty="0" smtClean="0"/>
                        <a:t>do 10 </a:t>
                      </a:r>
                      <a:r>
                        <a:rPr lang="pl-PL" b="1" dirty="0" err="1" smtClean="0"/>
                        <a:t>Mb</a:t>
                      </a:r>
                      <a:r>
                        <a:rPr lang="pl-PL" b="1" dirty="0" smtClean="0"/>
                        <a:t>/s</a:t>
                      </a:r>
                      <a:endParaRPr lang="pl-PL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56196"/>
                  </a:ext>
                </a:extLst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200069"/>
              </p:ext>
            </p:extLst>
          </p:nvPr>
        </p:nvGraphicFramePr>
        <p:xfrm>
          <a:off x="403920" y="5262448"/>
          <a:ext cx="110149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465">
                  <a:extLst>
                    <a:ext uri="{9D8B030D-6E8A-4147-A177-3AD203B41FA5}">
                      <a16:colId xmlns:a16="http://schemas.microsoft.com/office/drawing/2014/main" val="2833125132"/>
                    </a:ext>
                  </a:extLst>
                </a:gridCol>
                <a:gridCol w="5507465">
                  <a:extLst>
                    <a:ext uri="{9D8B030D-6E8A-4147-A177-3AD203B41FA5}">
                      <a16:colId xmlns:a16="http://schemas.microsoft.com/office/drawing/2014/main" val="1222564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PLUSY</a:t>
                      </a:r>
                    </a:p>
                    <a:p>
                      <a:r>
                        <a:rPr lang="pl-PL" dirty="0" smtClean="0"/>
                        <a:t>✅ deterministyczna (wiemy </a:t>
                      </a:r>
                      <a:r>
                        <a:rPr lang="pl-PL" i="1" dirty="0" smtClean="0"/>
                        <a:t>dokładnie</a:t>
                      </a:r>
                      <a:r>
                        <a:rPr lang="pl-PL" dirty="0" smtClean="0"/>
                        <a:t>, kiedy co przyjdzie)</a:t>
                      </a:r>
                      <a:br>
                        <a:rPr lang="pl-PL" dirty="0" smtClean="0"/>
                      </a:br>
                      <a:r>
                        <a:rPr lang="pl-PL" dirty="0" smtClean="0"/>
                        <a:t>✅ bardzo niezawodna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MINUSY</a:t>
                      </a:r>
                    </a:p>
                    <a:p>
                      <a:r>
                        <a:rPr lang="en-US" dirty="0" smtClean="0"/>
                        <a:t>❌ </a:t>
                      </a:r>
                      <a:r>
                        <a:rPr lang="en-US" dirty="0" err="1" smtClean="0"/>
                        <a:t>droga</a:t>
                      </a:r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❌ </a:t>
                      </a:r>
                      <a:r>
                        <a:rPr lang="en-US" dirty="0" err="1" smtClean="0"/>
                        <a:t>skomplikowana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konfiguracja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126828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236920"/>
              </p:ext>
            </p:extLst>
          </p:nvPr>
        </p:nvGraphicFramePr>
        <p:xfrm>
          <a:off x="403920" y="2280331"/>
          <a:ext cx="1111529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1091">
                  <a:extLst>
                    <a:ext uri="{9D8B030D-6E8A-4147-A177-3AD203B41FA5}">
                      <a16:colId xmlns:a16="http://schemas.microsoft.com/office/drawing/2014/main" val="2833125132"/>
                    </a:ext>
                  </a:extLst>
                </a:gridCol>
                <a:gridCol w="6774199">
                  <a:extLst>
                    <a:ext uri="{9D8B030D-6E8A-4147-A177-3AD203B41FA5}">
                      <a16:colId xmlns:a16="http://schemas.microsoft.com/office/drawing/2014/main" val="1222564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PLUSY</a:t>
                      </a:r>
                    </a:p>
                    <a:p>
                      <a:r>
                        <a:rPr lang="en-US" dirty="0" smtClean="0"/>
                        <a:t>✅ </a:t>
                      </a:r>
                      <a:r>
                        <a:rPr lang="en-US" dirty="0" err="1" smtClean="0"/>
                        <a:t>tania</a:t>
                      </a:r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✅ </a:t>
                      </a:r>
                      <a:r>
                        <a:rPr lang="en-US" dirty="0" err="1" smtClean="0"/>
                        <a:t>prosta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MINUSY</a:t>
                      </a:r>
                    </a:p>
                    <a:p>
                      <a:r>
                        <a:rPr lang="en-US" dirty="0" smtClean="0"/>
                        <a:t>❌ </a:t>
                      </a:r>
                      <a:r>
                        <a:rPr lang="pl-PL" dirty="0" smtClean="0"/>
                        <a:t>bardzo </a:t>
                      </a:r>
                      <a:r>
                        <a:rPr lang="en-US" dirty="0" err="1" smtClean="0"/>
                        <a:t>wolna</a:t>
                      </a:r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❌ </a:t>
                      </a:r>
                      <a:r>
                        <a:rPr lang="en-US" dirty="0" err="1" smtClean="0"/>
                        <a:t>brak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redundancji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12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09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446046" y="345685"/>
            <a:ext cx="7560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/>
              <a:t>Automotive </a:t>
            </a:r>
            <a:r>
              <a:rPr lang="pl-PL" b="1" dirty="0" smtClean="0"/>
              <a:t>Ethernet - Nowoczesna </a:t>
            </a:r>
            <a:r>
              <a:rPr lang="pl-PL" b="1" dirty="0"/>
              <a:t>sieć „jak w IT”, ale do </a:t>
            </a:r>
            <a:r>
              <a:rPr lang="pl-PL" b="1" dirty="0" smtClean="0"/>
              <a:t>Auta</a:t>
            </a:r>
            <a:endParaRPr lang="pl-PL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321323"/>
              </p:ext>
            </p:extLst>
          </p:nvPr>
        </p:nvGraphicFramePr>
        <p:xfrm>
          <a:off x="403920" y="803112"/>
          <a:ext cx="1111529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0743">
                  <a:extLst>
                    <a:ext uri="{9D8B030D-6E8A-4147-A177-3AD203B41FA5}">
                      <a16:colId xmlns:a16="http://schemas.microsoft.com/office/drawing/2014/main" val="3853021258"/>
                    </a:ext>
                  </a:extLst>
                </a:gridCol>
                <a:gridCol w="6824547">
                  <a:extLst>
                    <a:ext uri="{9D8B030D-6E8A-4147-A177-3AD203B41FA5}">
                      <a16:colId xmlns:a16="http://schemas.microsoft.com/office/drawing/2014/main" val="421032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kamery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radar / </a:t>
                      </a:r>
                      <a:r>
                        <a:rPr lang="en-US" dirty="0" err="1" smtClean="0"/>
                        <a:t>lidar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infotainment</a:t>
                      </a:r>
                    </a:p>
                    <a:p>
                      <a:r>
                        <a:rPr lang="en-US" dirty="0" smtClean="0"/>
                        <a:t>ADAS / autonomous driving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dirty="0" smtClean="0"/>
                        <a:t>Działanie:</a:t>
                      </a:r>
                    </a:p>
                    <a:p>
                      <a:r>
                        <a:rPr lang="pl-PL" dirty="0" smtClean="0"/>
                        <a:t>pakiety (jak TCP/IP, UDP)</a:t>
                      </a:r>
                    </a:p>
                    <a:p>
                      <a:r>
                        <a:rPr lang="pl-PL" dirty="0" smtClean="0"/>
                        <a:t>100 </a:t>
                      </a:r>
                      <a:r>
                        <a:rPr lang="pl-PL" dirty="0" err="1" smtClean="0"/>
                        <a:t>Mb</a:t>
                      </a:r>
                      <a:r>
                        <a:rPr lang="pl-PL" dirty="0" smtClean="0"/>
                        <a:t>/s</a:t>
                      </a:r>
                    </a:p>
                    <a:p>
                      <a:r>
                        <a:rPr lang="pl-PL" dirty="0" smtClean="0"/>
                        <a:t>1 </a:t>
                      </a:r>
                      <a:r>
                        <a:rPr lang="pl-PL" dirty="0" err="1" smtClean="0"/>
                        <a:t>Gb</a:t>
                      </a:r>
                      <a:r>
                        <a:rPr lang="pl-PL" dirty="0" smtClean="0"/>
                        <a:t>/s</a:t>
                      </a:r>
                    </a:p>
                    <a:p>
                      <a:r>
                        <a:rPr lang="pl-PL" dirty="0" smtClean="0"/>
                        <a:t>nawet 10 </a:t>
                      </a:r>
                      <a:r>
                        <a:rPr lang="pl-PL" dirty="0" err="1" smtClean="0"/>
                        <a:t>Gb</a:t>
                      </a:r>
                      <a:r>
                        <a:rPr lang="pl-PL" dirty="0" smtClean="0"/>
                        <a:t>/s</a:t>
                      </a:r>
                    </a:p>
                    <a:p>
                      <a:r>
                        <a:rPr lang="pl-PL" dirty="0" smtClean="0"/>
                        <a:t>topologia </a:t>
                      </a:r>
                      <a:r>
                        <a:rPr lang="pl-PL" b="1" dirty="0" smtClean="0"/>
                        <a:t>gwiazdy / </a:t>
                      </a:r>
                      <a:r>
                        <a:rPr lang="pl-PL" b="1" dirty="0" err="1" smtClean="0"/>
                        <a:t>switche</a:t>
                      </a:r>
                      <a:endParaRPr lang="pl-PL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61020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239467"/>
              </p:ext>
            </p:extLst>
          </p:nvPr>
        </p:nvGraphicFramePr>
        <p:xfrm>
          <a:off x="403920" y="2616797"/>
          <a:ext cx="1111529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0743">
                  <a:extLst>
                    <a:ext uri="{9D8B030D-6E8A-4147-A177-3AD203B41FA5}">
                      <a16:colId xmlns:a16="http://schemas.microsoft.com/office/drawing/2014/main" val="2833125132"/>
                    </a:ext>
                  </a:extLst>
                </a:gridCol>
                <a:gridCol w="6824547">
                  <a:extLst>
                    <a:ext uri="{9D8B030D-6E8A-4147-A177-3AD203B41FA5}">
                      <a16:colId xmlns:a16="http://schemas.microsoft.com/office/drawing/2014/main" val="1222564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PLUSY</a:t>
                      </a:r>
                    </a:p>
                    <a:p>
                      <a:r>
                        <a:rPr lang="pl-PL" dirty="0" smtClean="0"/>
                        <a:t>✅ bardzo szybki</a:t>
                      </a:r>
                      <a:br>
                        <a:rPr lang="pl-PL" dirty="0" smtClean="0"/>
                      </a:br>
                      <a:r>
                        <a:rPr lang="pl-PL" dirty="0" smtClean="0"/>
                        <a:t>✅ skalowalny</a:t>
                      </a:r>
                      <a:br>
                        <a:rPr lang="pl-PL" dirty="0" smtClean="0"/>
                      </a:br>
                      <a:r>
                        <a:rPr lang="pl-PL" dirty="0" smtClean="0"/>
                        <a:t>✅ jeden standard na wszystko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MINUSY</a:t>
                      </a:r>
                    </a:p>
                    <a:p>
                      <a:r>
                        <a:rPr lang="pl-PL" dirty="0" smtClean="0"/>
                        <a:t>❌ większa złożoność</a:t>
                      </a:r>
                      <a:br>
                        <a:rPr lang="pl-PL" dirty="0" smtClean="0"/>
                      </a:br>
                      <a:r>
                        <a:rPr lang="pl-PL" dirty="0" smtClean="0"/>
                        <a:t>❌ trzeba ogarniać bezpieczeństwo (</a:t>
                      </a:r>
                      <a:r>
                        <a:rPr lang="pl-PL" dirty="0" err="1" smtClean="0"/>
                        <a:t>cybersecurity</a:t>
                      </a:r>
                      <a:r>
                        <a:rPr lang="pl-PL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126828"/>
                  </a:ext>
                </a:extLst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617006"/>
              </p:ext>
            </p:extLst>
          </p:nvPr>
        </p:nvGraphicFramePr>
        <p:xfrm>
          <a:off x="403921" y="4563312"/>
          <a:ext cx="11115288" cy="1463040"/>
        </p:xfrm>
        <a:graphic>
          <a:graphicData uri="http://schemas.openxmlformats.org/drawingml/2006/table">
            <a:tbl>
              <a:tblPr/>
              <a:tblGrid>
                <a:gridCol w="2778822">
                  <a:extLst>
                    <a:ext uri="{9D8B030D-6E8A-4147-A177-3AD203B41FA5}">
                      <a16:colId xmlns:a16="http://schemas.microsoft.com/office/drawing/2014/main" val="537493593"/>
                    </a:ext>
                  </a:extLst>
                </a:gridCol>
                <a:gridCol w="2778822">
                  <a:extLst>
                    <a:ext uri="{9D8B030D-6E8A-4147-A177-3AD203B41FA5}">
                      <a16:colId xmlns:a16="http://schemas.microsoft.com/office/drawing/2014/main" val="1554138666"/>
                    </a:ext>
                  </a:extLst>
                </a:gridCol>
                <a:gridCol w="2778822">
                  <a:extLst>
                    <a:ext uri="{9D8B030D-6E8A-4147-A177-3AD203B41FA5}">
                      <a16:colId xmlns:a16="http://schemas.microsoft.com/office/drawing/2014/main" val="3809263883"/>
                    </a:ext>
                  </a:extLst>
                </a:gridCol>
                <a:gridCol w="2778822">
                  <a:extLst>
                    <a:ext uri="{9D8B030D-6E8A-4147-A177-3AD203B41FA5}">
                      <a16:colId xmlns:a16="http://schemas.microsoft.com/office/drawing/2014/main" val="11775966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Magistrala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Szybkość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Zastosowanie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Styl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735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LIN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~20 kb/s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Proste elementy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tania &amp; wolna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14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FlexRay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 Mb/s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Safety-critical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deterministyczna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07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 Mb/s –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Kamery, ADAS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nowoczesna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511054"/>
                  </a:ext>
                </a:extLst>
              </a:tr>
            </a:tbl>
          </a:graphicData>
        </a:graphic>
      </p:graphicFrame>
      <p:sp>
        <p:nvSpPr>
          <p:cNvPr id="9" name="Prostokąt 8"/>
          <p:cNvSpPr/>
          <p:nvPr/>
        </p:nvSpPr>
        <p:spPr>
          <a:xfrm>
            <a:off x="587295" y="4044174"/>
            <a:ext cx="18436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 smtClean="0"/>
              <a:t>Porównanie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2967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1216"/>
          </a:xfrm>
        </p:spPr>
        <p:txBody>
          <a:bodyPr>
            <a:normAutofit/>
          </a:bodyPr>
          <a:lstStyle/>
          <a:p>
            <a:r>
              <a:rPr lang="pl-PL" sz="2400" b="1" dirty="0" smtClean="0"/>
              <a:t>C	A	N</a:t>
            </a:r>
            <a:endParaRPr lang="en-US" sz="24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836342"/>
            <a:ext cx="10515600" cy="5340621"/>
          </a:xfrm>
          <a:solidFill>
            <a:schemeClr val="accent4"/>
          </a:solidFill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Controller </a:t>
            </a:r>
            <a:r>
              <a:rPr lang="en-US" altLang="en-US" sz="1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 </a:t>
            </a:r>
            <a:r>
              <a:rPr lang="en-US" altLang="en-US" sz="1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pl-PL" altLang="en-US" sz="18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en-US" sz="1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l-PL" altLang="en-US" sz="1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Najpopularniejszy </a:t>
            </a:r>
            <a:r>
              <a:rPr lang="pl-PL" altLang="en-US" sz="1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(od lat 90.), stosowany m.in. w </a:t>
            </a:r>
            <a:r>
              <a:rPr lang="pl-PL" altLang="en-US" sz="1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ECU (</a:t>
            </a:r>
            <a:r>
              <a:rPr lang="pl-PL" altLang="en-US" sz="18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elctronic</a:t>
            </a:r>
            <a:r>
              <a:rPr lang="pl-PL" altLang="en-US" sz="1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altLang="en-US" sz="18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pl-PL" altLang="en-US" sz="1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unit), </a:t>
            </a:r>
            <a:r>
              <a:rPr lang="pl-PL" altLang="en-US" sz="1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ABS, poduszkach powietrznych, </a:t>
            </a:r>
            <a:r>
              <a:rPr lang="pl-PL" altLang="en-US" sz="1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silniku.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/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Classical CAN</a:t>
            </a:r>
            <a:r>
              <a:rPr lang="en-US" altLang="en-US" sz="1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(do 1 Mbps),</a:t>
            </a:r>
            <a:endParaRPr lang="pl-PL" alt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FD (Flexible Data Rate)</a:t>
            </a:r>
            <a:r>
              <a:rPr lang="en-US" altLang="en-US" sz="1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(do 8 Mbps).</a:t>
            </a:r>
            <a:endParaRPr lang="en-US" alt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en-US" sz="1800" dirty="0" smtClean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en-US" sz="18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en-US" sz="1800" dirty="0" smtClean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025" name="Picture 1" descr="Poziomy Napięć C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5" y="3055431"/>
            <a:ext cx="5114925" cy="326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3048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pole tekstowe 6"/>
          <p:cNvSpPr txBox="1"/>
          <p:nvPr/>
        </p:nvSpPr>
        <p:spPr>
          <a:xfrm>
            <a:off x="838199" y="2787804"/>
            <a:ext cx="52392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en-US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en-US" dirty="0" smtClean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Sieć </a:t>
            </a:r>
            <a:r>
              <a:rPr lang="pl-PL" alt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informatyczna, kt</a:t>
            </a:r>
            <a:r>
              <a:rPr lang="pl-PL" altLang="en-US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ó</a:t>
            </a:r>
            <a:r>
              <a:rPr lang="pl-PL" alt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 pozwala na szybką wymianę pakiet</a:t>
            </a:r>
            <a:r>
              <a:rPr lang="pl-PL" altLang="en-US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ó</a:t>
            </a:r>
            <a:r>
              <a:rPr lang="pl-PL" alt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 danych w czasie rzeczywistym. </a:t>
            </a:r>
            <a:endParaRPr lang="pl-PL" altLang="en-US" dirty="0" smtClean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en-US" dirty="0" smtClean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en-US" dirty="0" smtClean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Szyna </a:t>
            </a:r>
            <a:r>
              <a:rPr lang="pl-PL" alt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CAN to dwa przewody (pin 2 oraz pin 7) przesyłające te same, ale odwr</a:t>
            </a:r>
            <a:r>
              <a:rPr lang="pl-PL" altLang="en-US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ó</a:t>
            </a:r>
            <a:r>
              <a:rPr lang="pl-PL" alt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cone w fazie o 180 stopni pakiety danych. </a:t>
            </a:r>
            <a:endParaRPr lang="pl-PL" altLang="en-US" dirty="0" smtClean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en-US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en-US" dirty="0" smtClean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 </a:t>
            </a:r>
            <a:r>
              <a:rPr lang="pl-PL" alt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przypadku CAN poziomy napięć dla HIGH to 3.5V, a LOW to 1.5V. Jak widać </a:t>
            </a:r>
            <a:r>
              <a:rPr lang="pl-PL" altLang="en-US" dirty="0" smtClean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na wykresie </a:t>
            </a:r>
            <a:r>
              <a:rPr lang="pl-PL" alt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skok dla pojedynczej linii to 1V</a:t>
            </a:r>
            <a:r>
              <a:rPr lang="pl-PL" altLang="en-US" dirty="0" smtClean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.</a:t>
            </a:r>
            <a:endParaRPr lang="en-US" altLang="en-US" dirty="0"/>
          </a:p>
        </p:txBody>
      </p:sp>
      <p:sp>
        <p:nvSpPr>
          <p:cNvPr id="4" name="Prostokąt 3"/>
          <p:cNvSpPr/>
          <p:nvPr/>
        </p:nvSpPr>
        <p:spPr>
          <a:xfrm>
            <a:off x="780651" y="6229513"/>
            <a:ext cx="90715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liczy</a:t>
            </a:r>
            <a:r>
              <a:rPr lang="en-US" b="1" dirty="0"/>
              <a:t> </a:t>
            </a:r>
            <a:r>
              <a:rPr lang="en-US" b="1" dirty="0" err="1"/>
              <a:t>się</a:t>
            </a:r>
            <a:r>
              <a:rPr lang="en-US" b="1" dirty="0"/>
              <a:t> </a:t>
            </a:r>
            <a:r>
              <a:rPr lang="en-US" b="1" dirty="0" err="1"/>
              <a:t>różnica</a:t>
            </a:r>
            <a:r>
              <a:rPr lang="en-US" b="1" dirty="0"/>
              <a:t> </a:t>
            </a:r>
            <a:r>
              <a:rPr lang="en-US" b="1" dirty="0" err="1"/>
              <a:t>napięć</a:t>
            </a:r>
            <a:r>
              <a:rPr lang="en-US" b="1" dirty="0"/>
              <a:t> (~2 V) - </a:t>
            </a:r>
            <a:r>
              <a:rPr lang="en-US" b="1" dirty="0" err="1"/>
              <a:t>absolutne</a:t>
            </a:r>
            <a:r>
              <a:rPr lang="en-US" b="1" dirty="0"/>
              <a:t> </a:t>
            </a:r>
            <a:r>
              <a:rPr lang="en-US" b="1" dirty="0" err="1"/>
              <a:t>poziomy</a:t>
            </a:r>
            <a:r>
              <a:rPr lang="en-US" b="1" dirty="0"/>
              <a:t> </a:t>
            </a:r>
            <a:r>
              <a:rPr lang="en-US" b="1" dirty="0" err="1"/>
              <a:t>mogą</a:t>
            </a:r>
            <a:r>
              <a:rPr lang="en-US" b="1" dirty="0"/>
              <a:t> </a:t>
            </a:r>
            <a:r>
              <a:rPr lang="en-US" b="1" dirty="0" err="1"/>
              <a:t>się</a:t>
            </a:r>
            <a:r>
              <a:rPr lang="en-US" b="1" dirty="0"/>
              <a:t> </a:t>
            </a:r>
            <a:r>
              <a:rPr lang="en-US" b="1" dirty="0" err="1"/>
              <a:t>różnić</a:t>
            </a:r>
            <a:r>
              <a:rPr lang="en-US" b="1" dirty="0"/>
              <a:t> </a:t>
            </a:r>
            <a:r>
              <a:rPr lang="en-US" b="1" dirty="0" err="1"/>
              <a:t>zależnie</a:t>
            </a:r>
            <a:r>
              <a:rPr lang="en-US" b="1" dirty="0"/>
              <a:t> od </a:t>
            </a:r>
            <a:r>
              <a:rPr lang="en-US" b="1" dirty="0" err="1"/>
              <a:t>transceivera</a:t>
            </a:r>
            <a:r>
              <a:rPr lang="en-US" b="1" dirty="0"/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35266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/>
          <p:cNvSpPr txBox="1"/>
          <p:nvPr/>
        </p:nvSpPr>
        <p:spPr>
          <a:xfrm>
            <a:off x="838200" y="903246"/>
            <a:ext cx="108148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u="sng" dirty="0" smtClean="0">
                <a:solidFill>
                  <a:srgbClr val="7030A0"/>
                </a:solidFill>
              </a:rPr>
              <a:t>CAN 2.0</a:t>
            </a:r>
            <a:r>
              <a:rPr lang="pl-PL" b="1" dirty="0"/>
              <a:t> </a:t>
            </a:r>
            <a:r>
              <a:rPr lang="pl-PL" b="1" dirty="0" smtClean="0"/>
              <a:t>jest </a:t>
            </a:r>
            <a:r>
              <a:rPr lang="pl-PL" b="1" dirty="0"/>
              <a:t>to podstawowa wersja protokołu CAN, określona przez standard ISO 11898-1. Obejmuje dwie główne wersje: CAN 2.0A i CAN 2.0B. Wersja 2.0A używa identyfikatorów 11-bitowych, podczas gdy wersja 2.0B wykorzystuje identyfikatory 29-bitowe. Obie wersje działają w prędkościach transmisji od 10 </a:t>
            </a:r>
            <a:r>
              <a:rPr lang="pl-PL" b="1" dirty="0" err="1"/>
              <a:t>kbit</a:t>
            </a:r>
            <a:r>
              <a:rPr lang="pl-PL" b="1" dirty="0"/>
              <a:t>/s do 1 </a:t>
            </a:r>
            <a:r>
              <a:rPr lang="pl-PL" b="1" dirty="0" err="1"/>
              <a:t>Mbit</a:t>
            </a:r>
            <a:r>
              <a:rPr lang="pl-PL" b="1" dirty="0"/>
              <a:t>/s.</a:t>
            </a:r>
            <a:endParaRPr lang="en-US" b="1" dirty="0"/>
          </a:p>
          <a:p>
            <a:r>
              <a:rPr lang="pl-PL" b="1" dirty="0"/>
              <a:t> </a:t>
            </a:r>
            <a:endParaRPr lang="en-US" b="1" dirty="0"/>
          </a:p>
          <a:p>
            <a:r>
              <a:rPr lang="pl-PL" b="1" i="1" u="sng" dirty="0" smtClean="0">
                <a:solidFill>
                  <a:schemeClr val="bg1"/>
                </a:solidFill>
              </a:rPr>
              <a:t>CAN </a:t>
            </a:r>
            <a:r>
              <a:rPr lang="pl-PL" b="1" i="1" u="sng" dirty="0">
                <a:solidFill>
                  <a:schemeClr val="bg1"/>
                </a:solidFill>
              </a:rPr>
              <a:t>FD (</a:t>
            </a:r>
            <a:r>
              <a:rPr lang="pl-PL" b="1" i="1" u="sng" dirty="0" err="1">
                <a:solidFill>
                  <a:schemeClr val="bg1"/>
                </a:solidFill>
              </a:rPr>
              <a:t>Flexible</a:t>
            </a:r>
            <a:r>
              <a:rPr lang="pl-PL" b="1" i="1" u="sng" dirty="0">
                <a:solidFill>
                  <a:schemeClr val="bg1"/>
                </a:solidFill>
              </a:rPr>
              <a:t> Data-</a:t>
            </a:r>
            <a:r>
              <a:rPr lang="pl-PL" b="1" i="1" u="sng" dirty="0" err="1">
                <a:solidFill>
                  <a:schemeClr val="bg1"/>
                </a:solidFill>
              </a:rPr>
              <a:t>Rate</a:t>
            </a:r>
            <a:r>
              <a:rPr lang="pl-PL" b="1" i="1" u="sng" dirty="0" smtClean="0">
                <a:solidFill>
                  <a:schemeClr val="bg1"/>
                </a:solidFill>
              </a:rPr>
              <a:t>)</a:t>
            </a:r>
            <a:r>
              <a:rPr lang="pl-PL" b="1" dirty="0" smtClean="0">
                <a:solidFill>
                  <a:schemeClr val="bg1"/>
                </a:solidFill>
              </a:rPr>
              <a:t>, </a:t>
            </a:r>
            <a:r>
              <a:rPr lang="pl-PL" b="1" dirty="0" smtClean="0"/>
              <a:t>jest </a:t>
            </a:r>
            <a:r>
              <a:rPr lang="pl-PL" b="1" dirty="0"/>
              <a:t>rozwinięciem standardu CAN, który wprowadza możliwość transmisji danych w wyższych prędkościach. CAN FD pozwala na większe szybkości transmisji danych, co jest szczególnie korzystne w aplikacjach o dużym obciążeniu sieci lub w sytuacjach, gdy wymagane jest szybsze przesyłanie danych.</a:t>
            </a:r>
            <a:endParaRPr lang="en-US" b="1" dirty="0"/>
          </a:p>
          <a:p>
            <a:r>
              <a:rPr lang="pl-PL" b="1" dirty="0"/>
              <a:t> </a:t>
            </a:r>
            <a:endParaRPr lang="en-US" b="1" dirty="0"/>
          </a:p>
          <a:p>
            <a:r>
              <a:rPr lang="pl-PL" b="1" dirty="0" err="1" smtClean="0">
                <a:solidFill>
                  <a:srgbClr val="FFFF00"/>
                </a:solidFill>
              </a:rPr>
              <a:t>CANopen</a:t>
            </a:r>
            <a:r>
              <a:rPr lang="pl-PL" b="1" dirty="0"/>
              <a:t> </a:t>
            </a:r>
            <a:r>
              <a:rPr lang="pl-PL" b="1" dirty="0" smtClean="0"/>
              <a:t>jest </a:t>
            </a:r>
            <a:r>
              <a:rPr lang="pl-PL" b="1" dirty="0"/>
              <a:t>t</a:t>
            </a:r>
            <a:r>
              <a:rPr lang="pl-PL" b="1" dirty="0" smtClean="0"/>
              <a:t>o </a:t>
            </a:r>
            <a:r>
              <a:rPr lang="pl-PL" b="1" dirty="0"/>
              <a:t>protokół warstwy aplikacyjnej oparty na standardzie CAN, stosowany głównie w przemyśle, w tym w sterowaniu maszynami i urządzeniami. </a:t>
            </a:r>
            <a:r>
              <a:rPr lang="pl-PL" b="1" dirty="0" err="1"/>
              <a:t>CANopen</a:t>
            </a:r>
            <a:r>
              <a:rPr lang="pl-PL" b="1" dirty="0"/>
              <a:t> definiuje zestaw standardowych wiadomości i usług, które umożliwiają komunikację między różnymi urządzeniami w sieci CAN.</a:t>
            </a:r>
            <a:endParaRPr lang="en-US" b="1" dirty="0"/>
          </a:p>
          <a:p>
            <a:r>
              <a:rPr lang="pl-PL" b="1" dirty="0"/>
              <a:t> </a:t>
            </a:r>
            <a:endParaRPr lang="en-US" b="1" dirty="0"/>
          </a:p>
          <a:p>
            <a:r>
              <a:rPr lang="pl-PL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DeviceNet</a:t>
            </a:r>
            <a:r>
              <a:rPr lang="pl-PL" b="1" dirty="0" smtClean="0"/>
              <a:t> jest </a:t>
            </a:r>
            <a:r>
              <a:rPr lang="pl-PL" b="1" dirty="0"/>
              <a:t>to inny protokół warstwy aplikacyjnej oparty na standardzie CAN. Został zaprojektowany z myślą o przemyśle, zwłaszcza w zastosowaniach związanych z automatyką przemysłową, sensorami i aktywatorami.</a:t>
            </a:r>
            <a:endParaRPr lang="en-US" b="1" dirty="0"/>
          </a:p>
          <a:p>
            <a:r>
              <a:rPr lang="pl-PL" b="1" dirty="0"/>
              <a:t> </a:t>
            </a:r>
            <a:endParaRPr lang="en-US" b="1" dirty="0"/>
          </a:p>
          <a:p>
            <a:r>
              <a:rPr lang="pl-PL" b="1" dirty="0" smtClean="0">
                <a:solidFill>
                  <a:srgbClr val="FF0000"/>
                </a:solidFill>
              </a:rPr>
              <a:t>J1939</a:t>
            </a:r>
            <a:r>
              <a:rPr lang="pl-PL" b="1" dirty="0"/>
              <a:t> </a:t>
            </a:r>
            <a:r>
              <a:rPr lang="pl-PL" b="1" dirty="0" smtClean="0"/>
              <a:t>jest to </a:t>
            </a:r>
            <a:r>
              <a:rPr lang="pl-PL" b="1" dirty="0"/>
              <a:t>protokół wykorzystywany w przemyśle motoryzacyjnym, szczególnie w ciężarówkach i pojazdach ciężkich. J1939 definiuje komunikację między różnymi komponentami pojazdu, takimi jak silniki, skrzynie biegów, układy hamulcowe itp</a:t>
            </a:r>
            <a:r>
              <a:rPr lang="pl-PL" b="1" dirty="0" smtClean="0"/>
              <a:t>.</a:t>
            </a:r>
            <a:endParaRPr lang="en-US" b="1" dirty="0"/>
          </a:p>
        </p:txBody>
      </p:sp>
      <p:sp>
        <p:nvSpPr>
          <p:cNvPr id="2" name="pole tekstowe 1"/>
          <p:cNvSpPr txBox="1"/>
          <p:nvPr/>
        </p:nvSpPr>
        <p:spPr>
          <a:xfrm>
            <a:off x="992459" y="401444"/>
            <a:ext cx="4583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smtClean="0"/>
              <a:t>Pochodne CAN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030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658121"/>
            <a:ext cx="9144000" cy="546216"/>
          </a:xfrm>
        </p:spPr>
        <p:txBody>
          <a:bodyPr/>
          <a:lstStyle/>
          <a:p>
            <a:r>
              <a:rPr lang="en-US" dirty="0" smtClean="0"/>
              <a:t>UART – Universal Asynchronous Receiver/Transmitter</a:t>
            </a:r>
            <a:endParaRPr lang="en-US" dirty="0"/>
          </a:p>
        </p:txBody>
      </p:sp>
      <p:sp>
        <p:nvSpPr>
          <p:cNvPr id="4" name="Prostokąt 3"/>
          <p:cNvSpPr/>
          <p:nvPr/>
        </p:nvSpPr>
        <p:spPr>
          <a:xfrm>
            <a:off x="949712" y="1508967"/>
            <a:ext cx="102925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 smtClean="0"/>
              <a:t>Definicja i zasada działania</a:t>
            </a:r>
          </a:p>
          <a:p>
            <a:r>
              <a:rPr lang="pl-PL" dirty="0" smtClean="0"/>
              <a:t>UART to sprzętowy mechanizm/protokół służący do </a:t>
            </a:r>
            <a:r>
              <a:rPr lang="pl-PL" b="1" dirty="0" smtClean="0"/>
              <a:t>asynchronicznej komunikacji szeregowej</a:t>
            </a:r>
            <a:r>
              <a:rPr lang="pl-PL" dirty="0" smtClean="0"/>
              <a:t> pomiędzy dwoma urządzeniami — nadajnikiem (TX) i odbiornikiem (RX).</a:t>
            </a:r>
            <a:br>
              <a:rPr lang="pl-PL" dirty="0" smtClean="0"/>
            </a:br>
            <a:r>
              <a:rPr lang="pl-PL" dirty="0" smtClean="0"/>
              <a:t>„Asynchroniczna” oznacza tutaj, że </a:t>
            </a:r>
            <a:r>
              <a:rPr lang="pl-PL" b="1" dirty="0" smtClean="0"/>
              <a:t>nie ma dodatkowej linii zegara</a:t>
            </a:r>
            <a:r>
              <a:rPr lang="pl-PL" dirty="0" smtClean="0"/>
              <a:t> przesyłającej sygnał synchronizacji między nadajnikiem a odbiornikiem. Oba urządzenia muszą być ustawione na ten sam </a:t>
            </a:r>
            <a:r>
              <a:rPr lang="pl-PL" b="1" dirty="0" err="1" smtClean="0"/>
              <a:t>baud</a:t>
            </a:r>
            <a:r>
              <a:rPr lang="pl-PL" b="1" dirty="0" smtClean="0"/>
              <a:t> </a:t>
            </a:r>
            <a:r>
              <a:rPr lang="pl-PL" b="1" dirty="0" err="1" smtClean="0"/>
              <a:t>rate</a:t>
            </a:r>
            <a:r>
              <a:rPr lang="pl-PL" dirty="0" smtClean="0"/>
              <a:t> (liczba bitów na sekundę).</a:t>
            </a:r>
            <a:br>
              <a:rPr lang="pl-PL" dirty="0" smtClean="0"/>
            </a:br>
            <a:r>
              <a:rPr lang="pl-PL" dirty="0" smtClean="0"/>
              <a:t>W skrócie: nadajnik przekształca dane równoległe (np. bajt) na strumień bitów, przesyła je po jednej linii (lub dwóch – TX i RX), a odbiornik ponownie rekonstruuje bajt z przesłanych bitów.</a:t>
            </a:r>
          </a:p>
          <a:p>
            <a:endParaRPr lang="pl-PL" b="1" dirty="0" smtClean="0"/>
          </a:p>
          <a:p>
            <a:r>
              <a:rPr lang="pl-PL" b="1" dirty="0" smtClean="0"/>
              <a:t>Główne cechy i właściwości protokołu</a:t>
            </a:r>
          </a:p>
          <a:p>
            <a:r>
              <a:rPr lang="pl-PL" dirty="0" smtClean="0"/>
              <a:t>Minimalna liczba przewodów: typowo dwa sygnały — TX i RX (plus wspólna masa).</a:t>
            </a:r>
          </a:p>
          <a:p>
            <a:r>
              <a:rPr lang="pl-PL" dirty="0" smtClean="0"/>
              <a:t>Brak zegara przesyłanego: synchronizacja odbywa się na podstawie bitu startowego i ustalonego </a:t>
            </a:r>
            <a:r>
              <a:rPr lang="pl-PL" dirty="0" err="1" smtClean="0"/>
              <a:t>baud</a:t>
            </a:r>
            <a:r>
              <a:rPr lang="pl-PL" dirty="0" smtClean="0"/>
              <a:t> </a:t>
            </a:r>
            <a:r>
              <a:rPr lang="pl-PL" dirty="0" err="1" smtClean="0"/>
              <a:t>rate</a:t>
            </a:r>
            <a:r>
              <a:rPr lang="pl-PL" dirty="0" smtClean="0"/>
              <a:t>. </a:t>
            </a:r>
          </a:p>
          <a:p>
            <a:endParaRPr lang="pl-PL" b="1" dirty="0"/>
          </a:p>
          <a:p>
            <a:r>
              <a:rPr lang="pl-PL" dirty="0" smtClean="0"/>
              <a:t>Format ramki danych, przykładowo:</a:t>
            </a:r>
          </a:p>
          <a:p>
            <a:pPr lvl="1"/>
            <a:r>
              <a:rPr lang="pl-PL" dirty="0" smtClean="0"/>
              <a:t>Bit startu: linia przechodzi z poziomu „</a:t>
            </a:r>
            <a:r>
              <a:rPr lang="pl-PL" dirty="0" err="1" smtClean="0"/>
              <a:t>idle</a:t>
            </a:r>
            <a:r>
              <a:rPr lang="pl-PL" dirty="0" smtClean="0"/>
              <a:t>” (zwykle wysoki) na niski, co sygnalizuje początek transmisji.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3289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developer.electricimp.com/sites/default/files/attachments/images/uart/uart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394" y="578431"/>
            <a:ext cx="9095756" cy="575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12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Basics of UART Commun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54116"/>
            <a:ext cx="6082083" cy="262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85" y="2748648"/>
            <a:ext cx="8065991" cy="3937225"/>
          </a:xfrm>
          <a:prstGeom prst="rect">
            <a:avLst/>
          </a:prstGeom>
        </p:spPr>
      </p:pic>
      <p:pic>
        <p:nvPicPr>
          <p:cNvPr id="2062" name="Picture 14" descr="What is UART? | How to wire UART? | RX TX - YouTub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103" y="333374"/>
            <a:ext cx="5088467" cy="286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All you have to learn about serial connector pinout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3963146"/>
            <a:ext cx="3625850" cy="213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86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199" y="587374"/>
            <a:ext cx="11134725" cy="5394325"/>
          </a:xfrm>
        </p:spPr>
        <p:txBody>
          <a:bodyPr>
            <a:normAutofit fontScale="62500" lnSpcReduction="20000"/>
          </a:bodyPr>
          <a:lstStyle/>
          <a:p>
            <a:r>
              <a:rPr lang="pl-PL" b="1" dirty="0" smtClean="0"/>
              <a:t>Typowe zastosowania</a:t>
            </a:r>
          </a:p>
          <a:p>
            <a:r>
              <a:rPr lang="pl-PL" dirty="0" smtClean="0"/>
              <a:t>Komunikacja pomiędzy mikroprocesorem/mikrokontrolerem a komputerem lub układem pomocniczym (debugowanie, logi). </a:t>
            </a:r>
          </a:p>
          <a:p>
            <a:r>
              <a:rPr lang="pl-PL" dirty="0" smtClean="0"/>
              <a:t>Proste połączenia szeregowe w systemach wbudowanych (</a:t>
            </a:r>
            <a:r>
              <a:rPr lang="pl-PL" dirty="0" err="1" smtClean="0"/>
              <a:t>embedded</a:t>
            </a:r>
            <a:r>
              <a:rPr lang="pl-PL" dirty="0" smtClean="0"/>
              <a:t>): czujniki, moduły komunikacyjne, interfejsy konwerterów TTL-RS232 itp.</a:t>
            </a:r>
          </a:p>
          <a:p>
            <a:r>
              <a:rPr lang="pl-PL" dirty="0" smtClean="0"/>
              <a:t>Porty szeregowe w starszych komputerach, terminalach (np. RS-232 bazującym na UART) — choć dziś częściej używane w formie TTL lub USB-to-UART. </a:t>
            </a:r>
            <a:r>
              <a:rPr lang="pl-PL" b="1" dirty="0" smtClean="0"/>
              <a:t> </a:t>
            </a:r>
          </a:p>
          <a:p>
            <a:r>
              <a:rPr lang="pl-PL" b="1" dirty="0" smtClean="0"/>
              <a:t>Wady i zalety w porównaniu do innych protokołów (np. SPI, I²C)</a:t>
            </a:r>
          </a:p>
          <a:p>
            <a:r>
              <a:rPr lang="pl-PL" b="1" dirty="0" smtClean="0"/>
              <a:t>Zalety UART:</a:t>
            </a:r>
            <a:endParaRPr lang="pl-PL" dirty="0" smtClean="0"/>
          </a:p>
          <a:p>
            <a:r>
              <a:rPr lang="pl-PL" dirty="0" smtClean="0"/>
              <a:t>Bardzo prosty do zaimplementowania — tylko kilka parametrów do ustawienia.</a:t>
            </a:r>
          </a:p>
          <a:p>
            <a:r>
              <a:rPr lang="pl-PL" dirty="0" smtClean="0"/>
              <a:t>Niski koszt sprzętowy (niewiele przewodów, zazwyczaj jedna linia TX + RX).</a:t>
            </a:r>
          </a:p>
          <a:p>
            <a:r>
              <a:rPr lang="pl-PL" dirty="0" smtClean="0"/>
              <a:t>Popularność i szerokie wsparcie w mikrokontrolerach i urządzeniach.</a:t>
            </a:r>
          </a:p>
          <a:p>
            <a:r>
              <a:rPr lang="pl-PL" b="1" dirty="0" smtClean="0"/>
              <a:t>Wady UART:</a:t>
            </a:r>
            <a:endParaRPr lang="pl-PL" dirty="0" smtClean="0"/>
          </a:p>
          <a:p>
            <a:r>
              <a:rPr lang="pl-PL" dirty="0" smtClean="0"/>
              <a:t>Brak wspólnego zegara — synchronizacja może być mniej stabilna niż w protokołach synchronicznych.</a:t>
            </a:r>
          </a:p>
          <a:p>
            <a:r>
              <a:rPr lang="pl-PL" dirty="0" smtClean="0"/>
              <a:t>Prędkość </a:t>
            </a:r>
            <a:r>
              <a:rPr lang="pl-PL" dirty="0" err="1" smtClean="0"/>
              <a:t>przesyłu</a:t>
            </a:r>
            <a:r>
              <a:rPr lang="pl-PL" dirty="0" smtClean="0"/>
              <a:t> ograniczona — zazwyczaj mniejsza niż w SPI.</a:t>
            </a:r>
          </a:p>
          <a:p>
            <a:r>
              <a:rPr lang="pl-PL" dirty="0" smtClean="0"/>
              <a:t>Z reguły komunikacja punkt-do-punkt (jeden nadajnik, jeden odbiornik) — trudniej o magistralę wielu urządzeń.</a:t>
            </a:r>
          </a:p>
          <a:p>
            <a:r>
              <a:rPr lang="pl-PL" dirty="0" smtClean="0"/>
              <a:t>Ramkowanie danych i protokół na wyższym poziomie (np. określenie początku i końca wiadomości) częściej trzeba zaimplementować samodzielnie.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46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31597"/>
              </p:ext>
            </p:extLst>
          </p:nvPr>
        </p:nvGraphicFramePr>
        <p:xfrm>
          <a:off x="413357" y="662619"/>
          <a:ext cx="11386160" cy="5090160"/>
        </p:xfrm>
        <a:graphic>
          <a:graphicData uri="http://schemas.openxmlformats.org/drawingml/2006/table">
            <a:tbl>
              <a:tblPr/>
              <a:tblGrid>
                <a:gridCol w="1615140">
                  <a:extLst>
                    <a:ext uri="{9D8B030D-6E8A-4147-A177-3AD203B41FA5}">
                      <a16:colId xmlns:a16="http://schemas.microsoft.com/office/drawing/2014/main" val="2306949278"/>
                    </a:ext>
                  </a:extLst>
                </a:gridCol>
                <a:gridCol w="1355834">
                  <a:extLst>
                    <a:ext uri="{9D8B030D-6E8A-4147-A177-3AD203B41FA5}">
                      <a16:colId xmlns:a16="http://schemas.microsoft.com/office/drawing/2014/main" val="395452114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4102643486"/>
                    </a:ext>
                  </a:extLst>
                </a:gridCol>
                <a:gridCol w="1324304">
                  <a:extLst>
                    <a:ext uri="{9D8B030D-6E8A-4147-A177-3AD203B41FA5}">
                      <a16:colId xmlns:a16="http://schemas.microsoft.com/office/drawing/2014/main" val="4181336957"/>
                    </a:ext>
                  </a:extLst>
                </a:gridCol>
                <a:gridCol w="1261241">
                  <a:extLst>
                    <a:ext uri="{9D8B030D-6E8A-4147-A177-3AD203B41FA5}">
                      <a16:colId xmlns:a16="http://schemas.microsoft.com/office/drawing/2014/main" val="1079637335"/>
                    </a:ext>
                  </a:extLst>
                </a:gridCol>
                <a:gridCol w="1471448">
                  <a:extLst>
                    <a:ext uri="{9D8B030D-6E8A-4147-A177-3AD203B41FA5}">
                      <a16:colId xmlns:a16="http://schemas.microsoft.com/office/drawing/2014/main" val="802477723"/>
                    </a:ext>
                  </a:extLst>
                </a:gridCol>
                <a:gridCol w="1555531">
                  <a:extLst>
                    <a:ext uri="{9D8B030D-6E8A-4147-A177-3AD203B41FA5}">
                      <a16:colId xmlns:a16="http://schemas.microsoft.com/office/drawing/2014/main" val="4261543798"/>
                    </a:ext>
                  </a:extLst>
                </a:gridCol>
                <a:gridCol w="1184069">
                  <a:extLst>
                    <a:ext uri="{9D8B030D-6E8A-4147-A177-3AD203B41FA5}">
                      <a16:colId xmlns:a16="http://schemas.microsoft.com/office/drawing/2014/main" val="249381247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Cecha</a:t>
                      </a:r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PROFINET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EtherNet</a:t>
                      </a:r>
                      <a:r>
                        <a:rPr lang="en-US" sz="2200" b="1" dirty="0"/>
                        <a:t>/IP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Modbus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Profibus</a:t>
                      </a:r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I²C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RS232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RS485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0512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749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Warstwa</a:t>
                      </a:r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Ethernet 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Ethernet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Aplikacja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Fieldbus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Embedded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Fizyczna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Fizyczna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934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/>
                        <a:t>Prędkość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100M–1G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100M–1G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do 115 kb/s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do 12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do 1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do 115 kb/s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do 10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81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/>
                        <a:t>Czas cyklu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&lt; 1 </a:t>
                      </a:r>
                      <a:r>
                        <a:rPr lang="en-US" sz="2200" b="1" dirty="0" err="1"/>
                        <a:t>ms</a:t>
                      </a:r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2–20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&gt; 50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determinist.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brak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brak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zależny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5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/>
                        <a:t>Zasięg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100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100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1200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1200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15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1200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184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/>
                        <a:t>Diagnostyka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Bardzo wysoka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Wysoka</a:t>
                      </a:r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Niska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Średnia</a:t>
                      </a:r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Minimalna</a:t>
                      </a:r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Minimalna</a:t>
                      </a:r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Fizyczna</a:t>
                      </a:r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38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/>
                        <a:t>Typowe użycie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Motion, safety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PLC Rockwell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Liczniki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Starsze</a:t>
                      </a:r>
                      <a:r>
                        <a:rPr lang="en-US" sz="2200" b="1" dirty="0"/>
                        <a:t> </a:t>
                      </a:r>
                      <a:r>
                        <a:rPr lang="en-US" sz="2200" b="1" dirty="0" err="1"/>
                        <a:t>linie</a:t>
                      </a:r>
                      <a:endParaRPr lang="en-US" sz="2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PCB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Serwis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Fieldbus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487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13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3019</Words>
  <Application>Microsoft Office PowerPoint</Application>
  <PresentationFormat>Panoramiczny</PresentationFormat>
  <Paragraphs>508</Paragraphs>
  <Slides>28</Slides>
  <Notes>0</Notes>
  <HiddenSlides>0</HiddenSlides>
  <MMClips>0</MMClips>
  <ScaleCrop>false</ScaleCrop>
  <HeadingPairs>
    <vt:vector size="8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Segoe UI</vt:lpstr>
      <vt:lpstr>Times New Roman</vt:lpstr>
      <vt:lpstr>Wingdings</vt:lpstr>
      <vt:lpstr>Motyw pakietu Office</vt:lpstr>
      <vt:lpstr>Arkusz</vt:lpstr>
      <vt:lpstr>   Engineer.wka@gmail.com   +48 795 738 507 Linkedin  Github  Python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ADAS to zbiór systemów elektronicznych w pojazdach, które wspierają kierowcę w prowadzeniu samochodu z myślą o poprawie bezpieczeństwa i komfortu. To technologie, które pomagają wykrywać potencjalne zagrożenia, ostrzegać kierowcę, a w niektórych przypadkach interweniować (hamowanie, korekta toru) zanim kierowca zareaguje.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C A N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Karol Wiśniewski</dc:creator>
  <cp:lastModifiedBy>Karol Wiśniewski</cp:lastModifiedBy>
  <cp:revision>91</cp:revision>
  <dcterms:created xsi:type="dcterms:W3CDTF">2025-10-22T10:22:32Z</dcterms:created>
  <dcterms:modified xsi:type="dcterms:W3CDTF">2026-04-08T17:11:12Z</dcterms:modified>
</cp:coreProperties>
</file>