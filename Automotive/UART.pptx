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 smtClean="0"/>
              <a:t>Kliknij, aby edytować styl wzorca podtytułu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CFBCD-0C52-4AB4-A095-855112466BA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34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CFBCD-0C52-4AB4-A095-855112466BA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38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CFBCD-0C52-4AB4-A095-855112466BA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39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CFBCD-0C52-4AB4-A095-855112466BA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017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CFBCD-0C52-4AB4-A095-855112466BA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64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CFBCD-0C52-4AB4-A095-855112466BA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25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CFBCD-0C52-4AB4-A095-855112466BA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741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CFBCD-0C52-4AB4-A095-855112466BA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15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CFBCD-0C52-4AB4-A095-855112466BA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522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CFBCD-0C52-4AB4-A095-855112466BA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709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CFBCD-0C52-4AB4-A095-855112466BA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82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CFBCD-0C52-4AB4-A095-855112466BA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7A6B5-F114-4A68-A057-D71158930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6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658121"/>
            <a:ext cx="9144000" cy="546216"/>
          </a:xfrm>
        </p:spPr>
        <p:txBody>
          <a:bodyPr/>
          <a:lstStyle/>
          <a:p>
            <a:r>
              <a:rPr lang="en-US" dirty="0" smtClean="0"/>
              <a:t>UART – Universal Asynchronous Receiver/Transmitter</a:t>
            </a:r>
            <a:endParaRPr lang="en-US" dirty="0"/>
          </a:p>
        </p:txBody>
      </p:sp>
      <p:sp>
        <p:nvSpPr>
          <p:cNvPr id="4" name="Prostokąt 3"/>
          <p:cNvSpPr/>
          <p:nvPr/>
        </p:nvSpPr>
        <p:spPr>
          <a:xfrm>
            <a:off x="949712" y="1508967"/>
            <a:ext cx="1029257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b="1" dirty="0" smtClean="0"/>
              <a:t>Definicja i zasada działania</a:t>
            </a:r>
          </a:p>
          <a:p>
            <a:r>
              <a:rPr lang="pl-PL" dirty="0" smtClean="0"/>
              <a:t>UART to sprzętowy mechanizm/protokół służący do </a:t>
            </a:r>
            <a:r>
              <a:rPr lang="pl-PL" b="1" dirty="0" smtClean="0"/>
              <a:t>asynchronicznej komunikacji szeregowej</a:t>
            </a:r>
            <a:r>
              <a:rPr lang="pl-PL" dirty="0" smtClean="0"/>
              <a:t> pomiędzy dwoma urządzeniami — nadajnikiem (TX) i odbiornikiem (RX).</a:t>
            </a:r>
            <a:br>
              <a:rPr lang="pl-PL" dirty="0" smtClean="0"/>
            </a:br>
            <a:r>
              <a:rPr lang="pl-PL" dirty="0" smtClean="0"/>
              <a:t>„Asynchroniczna” oznacza tutaj, że </a:t>
            </a:r>
            <a:r>
              <a:rPr lang="pl-PL" b="1" dirty="0" smtClean="0"/>
              <a:t>nie ma dodatkowej linii zegara</a:t>
            </a:r>
            <a:r>
              <a:rPr lang="pl-PL" dirty="0" smtClean="0"/>
              <a:t> przesyłającej sygnał synchronizacji między nadajnikiem a odbiornikiem. Oba urządzenia muszą być ustawione na ten sam </a:t>
            </a:r>
            <a:r>
              <a:rPr lang="pl-PL" b="1" dirty="0" err="1" smtClean="0"/>
              <a:t>baud</a:t>
            </a:r>
            <a:r>
              <a:rPr lang="pl-PL" b="1" dirty="0" smtClean="0"/>
              <a:t> </a:t>
            </a:r>
            <a:r>
              <a:rPr lang="pl-PL" b="1" dirty="0" err="1" smtClean="0"/>
              <a:t>rate</a:t>
            </a:r>
            <a:r>
              <a:rPr lang="pl-PL" dirty="0" smtClean="0"/>
              <a:t> (liczba bitów na sekundę).</a:t>
            </a:r>
            <a:br>
              <a:rPr lang="pl-PL" dirty="0" smtClean="0"/>
            </a:br>
            <a:r>
              <a:rPr lang="pl-PL" dirty="0" smtClean="0"/>
              <a:t>W skrócie: nadajnik przekształca dane równoległe (np. bajt) na strumień bitów, przesyła je po jednej linii (lub dwóch – TX i RX), a odbiornik ponownie rekonstruuje bajt z przesłanych bitów.</a:t>
            </a:r>
          </a:p>
          <a:p>
            <a:endParaRPr lang="pl-PL" b="1" dirty="0" smtClean="0"/>
          </a:p>
          <a:p>
            <a:r>
              <a:rPr lang="pl-PL" b="1" dirty="0" smtClean="0"/>
              <a:t>Główne cechy i właściwości protokołu</a:t>
            </a:r>
          </a:p>
          <a:p>
            <a:r>
              <a:rPr lang="pl-PL" dirty="0" smtClean="0"/>
              <a:t>Minimalna liczba przewodów: typowo dwa sygnały — TX i RX (plus wspólna masa).</a:t>
            </a:r>
          </a:p>
          <a:p>
            <a:r>
              <a:rPr lang="pl-PL" dirty="0" smtClean="0"/>
              <a:t>Brak zegara przesyłanego: synchronizacja odbywa się na podstawie bitu startowego i ustalonego </a:t>
            </a:r>
            <a:r>
              <a:rPr lang="pl-PL" dirty="0" err="1" smtClean="0"/>
              <a:t>baud</a:t>
            </a:r>
            <a:r>
              <a:rPr lang="pl-PL" dirty="0" smtClean="0"/>
              <a:t> </a:t>
            </a:r>
            <a:r>
              <a:rPr lang="pl-PL" dirty="0" err="1" smtClean="0"/>
              <a:t>rate</a:t>
            </a:r>
            <a:r>
              <a:rPr lang="pl-PL" dirty="0" smtClean="0"/>
              <a:t>. </a:t>
            </a:r>
          </a:p>
          <a:p>
            <a:endParaRPr lang="pl-PL" b="1" dirty="0"/>
          </a:p>
          <a:p>
            <a:r>
              <a:rPr lang="pl-PL" dirty="0" smtClean="0"/>
              <a:t>Format ramki danych, przykładowo:</a:t>
            </a:r>
          </a:p>
          <a:p>
            <a:pPr lvl="1"/>
            <a:r>
              <a:rPr lang="pl-PL" dirty="0" smtClean="0"/>
              <a:t>Bit startu: linia przechodzi z poziomu „</a:t>
            </a:r>
            <a:r>
              <a:rPr lang="pl-PL" dirty="0" err="1" smtClean="0"/>
              <a:t>idle</a:t>
            </a:r>
            <a:r>
              <a:rPr lang="pl-PL" dirty="0" smtClean="0"/>
              <a:t>” (zwykle wysoki) na niski, co sygnalizuje początek transmisji.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32894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developer.electricimp.com/sites/default/files/attachments/images/uart/uart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394" y="578431"/>
            <a:ext cx="9095756" cy="5751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712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 descr="Basics of UART Communic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254116"/>
            <a:ext cx="6082083" cy="2622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Obraz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85" y="2748648"/>
            <a:ext cx="8065991" cy="3937225"/>
          </a:xfrm>
          <a:prstGeom prst="rect">
            <a:avLst/>
          </a:prstGeom>
        </p:spPr>
      </p:pic>
      <p:pic>
        <p:nvPicPr>
          <p:cNvPr id="2062" name="Picture 14" descr="What is UART? | How to wire UART? | RX TX - YouTub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6103" y="333374"/>
            <a:ext cx="5088467" cy="286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All you have to learn about serial connector pinout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3963146"/>
            <a:ext cx="3625850" cy="213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3866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7199" y="587374"/>
            <a:ext cx="11134725" cy="5394325"/>
          </a:xfrm>
        </p:spPr>
        <p:txBody>
          <a:bodyPr>
            <a:normAutofit fontScale="62500" lnSpcReduction="20000"/>
          </a:bodyPr>
          <a:lstStyle/>
          <a:p>
            <a:r>
              <a:rPr lang="pl-PL" b="1" dirty="0" smtClean="0"/>
              <a:t>Typowe zastosowania</a:t>
            </a:r>
          </a:p>
          <a:p>
            <a:r>
              <a:rPr lang="pl-PL" dirty="0" smtClean="0"/>
              <a:t>Komunikacja pomiędzy mikroprocesorem/mikrokontrolerem a komputerem lub układem pomocniczym (debugowanie, logi). </a:t>
            </a:r>
          </a:p>
          <a:p>
            <a:r>
              <a:rPr lang="pl-PL" dirty="0" smtClean="0"/>
              <a:t>Proste połączenia szeregowe w systemach wbudowanych (</a:t>
            </a:r>
            <a:r>
              <a:rPr lang="pl-PL" dirty="0" err="1" smtClean="0"/>
              <a:t>embedded</a:t>
            </a:r>
            <a:r>
              <a:rPr lang="pl-PL" dirty="0" smtClean="0"/>
              <a:t>): czujniki, moduły komunikacyjne, interfejsy konwerterów TTL-RS232 itp.</a:t>
            </a:r>
          </a:p>
          <a:p>
            <a:r>
              <a:rPr lang="pl-PL" dirty="0" smtClean="0"/>
              <a:t>Porty szeregowe w starszych komputerach, terminalach (np. RS-232 bazującym na UART) — choć dziś częściej używane w formie TTL lub USB-to-UART. </a:t>
            </a:r>
            <a:r>
              <a:rPr lang="pl-PL" b="1" dirty="0" smtClean="0"/>
              <a:t> </a:t>
            </a:r>
          </a:p>
          <a:p>
            <a:r>
              <a:rPr lang="pl-PL" b="1" dirty="0" smtClean="0"/>
              <a:t>Wady i zalety w porównaniu do innych protokołów (np. SPI, I²C)</a:t>
            </a:r>
          </a:p>
          <a:p>
            <a:r>
              <a:rPr lang="pl-PL" b="1" dirty="0" smtClean="0"/>
              <a:t>Zalety UART:</a:t>
            </a:r>
            <a:endParaRPr lang="pl-PL" dirty="0" smtClean="0"/>
          </a:p>
          <a:p>
            <a:r>
              <a:rPr lang="pl-PL" dirty="0" smtClean="0"/>
              <a:t>Bardzo prosty do zaimplementowania — tylko kilka parametrów do ustawienia.</a:t>
            </a:r>
          </a:p>
          <a:p>
            <a:r>
              <a:rPr lang="pl-PL" dirty="0" smtClean="0"/>
              <a:t>Niski koszt sprzętowy (niewiele przewodów, zazwyczaj jedna linia TX + RX).</a:t>
            </a:r>
          </a:p>
          <a:p>
            <a:r>
              <a:rPr lang="pl-PL" dirty="0" smtClean="0"/>
              <a:t>Popularność i szerokie wsparcie w mikrokontrolerach i urządzeniach.</a:t>
            </a:r>
          </a:p>
          <a:p>
            <a:r>
              <a:rPr lang="pl-PL" b="1" dirty="0" smtClean="0"/>
              <a:t>Wady UART:</a:t>
            </a:r>
            <a:endParaRPr lang="pl-PL" dirty="0" smtClean="0"/>
          </a:p>
          <a:p>
            <a:r>
              <a:rPr lang="pl-PL" dirty="0" smtClean="0"/>
              <a:t>Brak wspólnego zegara — synchronizacja może być mniej stabilna niż w protokołach synchronicznych.</a:t>
            </a:r>
          </a:p>
          <a:p>
            <a:r>
              <a:rPr lang="pl-PL" dirty="0" smtClean="0"/>
              <a:t>Prędkość </a:t>
            </a:r>
            <a:r>
              <a:rPr lang="pl-PL" dirty="0" err="1" smtClean="0"/>
              <a:t>przesyłu</a:t>
            </a:r>
            <a:r>
              <a:rPr lang="pl-PL" dirty="0" smtClean="0"/>
              <a:t> ograniczona — zazwyczaj mniejsza niż w SPI.</a:t>
            </a:r>
          </a:p>
          <a:p>
            <a:r>
              <a:rPr lang="pl-PL" dirty="0" smtClean="0"/>
              <a:t>Z reguły komunikacja punkt-do-punkt (jeden nadajnik, jeden odbiornik) — trudniej o magistralę wielu urządzeń.</a:t>
            </a:r>
          </a:p>
          <a:p>
            <a:r>
              <a:rPr lang="pl-PL" dirty="0" smtClean="0"/>
              <a:t>Ramkowanie danych i protokół na wyższym poziomie (np. określenie początku i końca wiadomości) częściej trzeba zaimplementować samodzielnie.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46837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209</Words>
  <Application>Microsoft Office PowerPoint</Application>
  <PresentationFormat>Panoramiczny</PresentationFormat>
  <Paragraphs>24</Paragraphs>
  <Slides>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Karol Wiśniewski</dc:creator>
  <cp:lastModifiedBy>Karol Wiśniewski</cp:lastModifiedBy>
  <cp:revision>7</cp:revision>
  <dcterms:created xsi:type="dcterms:W3CDTF">2025-10-22T10:22:32Z</dcterms:created>
  <dcterms:modified xsi:type="dcterms:W3CDTF">2025-10-22T11:35:07Z</dcterms:modified>
</cp:coreProperties>
</file>